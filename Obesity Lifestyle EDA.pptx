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x="18288000" cy="10287000"/>
  <p:notesSz cx="6858000" cy="9144000"/>
  <p:embeddedFontLst>
    <p:embeddedFont>
      <p:font typeface="Shree Devanagari 0706 Bold" charset="1" panose="02000800000000000000"/>
      <p:regular r:id="rId28"/>
    </p:embeddedFont>
    <p:embeddedFont>
      <p:font typeface="Barlow SemiCondensed Semi-Bold" charset="1" panose="00000706000000000000"/>
      <p:regular r:id="rId29"/>
    </p:embeddedFont>
    <p:embeddedFont>
      <p:font typeface="IBM Plex Mono Bold" charset="1" panose="020B0809050203000203"/>
      <p:regular r:id="rId30"/>
    </p:embeddedFont>
    <p:embeddedFont>
      <p:font typeface="Brixton Bold" charset="1" panose="00000000000000000000"/>
      <p:regular r:id="rId31"/>
    </p:embeddedFont>
    <p:embeddedFont>
      <p:font typeface="Source Sans 3 Bold" charset="1" panose="020B0303030403020204"/>
      <p:regular r:id="rId32"/>
    </p:embeddedFont>
    <p:embeddedFont>
      <p:font typeface="Source Sans 3" charset="1" panose="020B0303030403020204"/>
      <p:regular r:id="rId33"/>
    </p:embeddedFont>
    <p:embeddedFont>
      <p:font typeface="Montserrat Bold" charset="1" panose="000008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https://github.com/rishigig/project-eda-1.git"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grpSp>
        <p:nvGrpSpPr>
          <p:cNvPr name="Group 2" id="2"/>
          <p:cNvGrpSpPr/>
          <p:nvPr/>
        </p:nvGrpSpPr>
        <p:grpSpPr>
          <a:xfrm rot="0">
            <a:off x="12001500" y="0"/>
            <a:ext cx="6286500" cy="10287000"/>
            <a:chOff x="0" y="0"/>
            <a:chExt cx="8382000" cy="13716000"/>
          </a:xfrm>
        </p:grpSpPr>
        <p:sp>
          <p:nvSpPr>
            <p:cNvPr name="Freeform 3" id="3"/>
            <p:cNvSpPr/>
            <p:nvPr/>
          </p:nvSpPr>
          <p:spPr>
            <a:xfrm flipH="false" flipV="false" rot="0">
              <a:off x="0" y="0"/>
              <a:ext cx="8382000" cy="13716000"/>
            </a:xfrm>
            <a:custGeom>
              <a:avLst/>
              <a:gdLst/>
              <a:ahLst/>
              <a:cxnLst/>
              <a:rect r="r" b="b" t="t" l="l"/>
              <a:pathLst>
                <a:path h="13716000" w="8382000">
                  <a:moveTo>
                    <a:pt x="0" y="0"/>
                  </a:moveTo>
                  <a:lnTo>
                    <a:pt x="8382000" y="0"/>
                  </a:lnTo>
                  <a:lnTo>
                    <a:pt x="8382000" y="13716000"/>
                  </a:lnTo>
                  <a:lnTo>
                    <a:pt x="0" y="13716000"/>
                  </a:lnTo>
                  <a:close/>
                </a:path>
              </a:pathLst>
            </a:custGeom>
            <a:gradFill rotWithShape="true">
              <a:gsLst>
                <a:gs pos="0">
                  <a:srgbClr val="18A999">
                    <a:alpha val="0"/>
                  </a:srgbClr>
                </a:gs>
                <a:gs pos="100000">
                  <a:srgbClr val="0B1F33">
                    <a:alpha val="100000"/>
                  </a:srgbClr>
                </a:gs>
              </a:gsLst>
              <a:lin ang="0"/>
            </a:gradFill>
            <a:ln cap="sq">
              <a:noFill/>
              <a:prstDash val="solid"/>
              <a:miter/>
            </a:ln>
          </p:spPr>
        </p:sp>
        <p:sp>
          <p:nvSpPr>
            <p:cNvPr name="TextBox 4" id="4"/>
            <p:cNvSpPr txBox="true"/>
            <p:nvPr/>
          </p:nvSpPr>
          <p:spPr>
            <a:xfrm>
              <a:off x="0" y="-38100"/>
              <a:ext cx="8382000" cy="13754100"/>
            </a:xfrm>
            <a:prstGeom prst="rect">
              <a:avLst/>
            </a:prstGeom>
          </p:spPr>
          <p:txBody>
            <a:bodyPr anchor="ctr" rtlCol="false" tIns="50800" lIns="50800" bIns="50800" rIns="50800"/>
            <a:lstStyle/>
            <a:p>
              <a:pPr algn="l">
                <a:lnSpc>
                  <a:spcPts val="1679"/>
                </a:lnSpc>
              </a:pPr>
            </a:p>
          </p:txBody>
        </p:sp>
      </p:grpSp>
      <p:grpSp>
        <p:nvGrpSpPr>
          <p:cNvPr name="Group 5" id="5"/>
          <p:cNvGrpSpPr/>
          <p:nvPr/>
        </p:nvGrpSpPr>
        <p:grpSpPr>
          <a:xfrm rot="0">
            <a:off x="8095087" y="284292"/>
            <a:ext cx="2097827" cy="2014595"/>
            <a:chOff x="0" y="0"/>
            <a:chExt cx="2797102" cy="2686127"/>
          </a:xfrm>
        </p:grpSpPr>
        <p:sp>
          <p:nvSpPr>
            <p:cNvPr name="Freeform 6" id="6"/>
            <p:cNvSpPr/>
            <p:nvPr/>
          </p:nvSpPr>
          <p:spPr>
            <a:xfrm flipH="false" flipV="false" rot="0">
              <a:off x="272839" y="175870"/>
              <a:ext cx="2282065" cy="2021514"/>
            </a:xfrm>
            <a:custGeom>
              <a:avLst/>
              <a:gdLst/>
              <a:ahLst/>
              <a:cxnLst/>
              <a:rect r="r" b="b" t="t" l="l"/>
              <a:pathLst>
                <a:path h="2021514" w="2282065">
                  <a:moveTo>
                    <a:pt x="0" y="0"/>
                  </a:moveTo>
                  <a:lnTo>
                    <a:pt x="2282064" y="0"/>
                  </a:lnTo>
                  <a:lnTo>
                    <a:pt x="2282064" y="2021515"/>
                  </a:lnTo>
                  <a:lnTo>
                    <a:pt x="0" y="2021515"/>
                  </a:lnTo>
                  <a:lnTo>
                    <a:pt x="0" y="0"/>
                  </a:lnTo>
                  <a:close/>
                </a:path>
              </a:pathLst>
            </a:custGeom>
            <a:blipFill>
              <a:blip r:embed="rId2"/>
              <a:stretch>
                <a:fillRect l="0" t="0" r="0" b="0"/>
              </a:stretch>
            </a:blipFill>
          </p:spPr>
        </p:sp>
        <p:sp>
          <p:nvSpPr>
            <p:cNvPr name="TextBox 7" id="7"/>
            <p:cNvSpPr txBox="true"/>
            <p:nvPr/>
          </p:nvSpPr>
          <p:spPr>
            <a:xfrm rot="0">
              <a:off x="456632" y="2235485"/>
              <a:ext cx="1914479" cy="450642"/>
            </a:xfrm>
            <a:prstGeom prst="rect">
              <a:avLst/>
            </a:prstGeom>
          </p:spPr>
          <p:txBody>
            <a:bodyPr anchor="t" rtlCol="false" tIns="0" lIns="0" bIns="0" rIns="0">
              <a:spAutoFit/>
            </a:bodyPr>
            <a:lstStyle/>
            <a:p>
              <a:pPr algn="ctr">
                <a:lnSpc>
                  <a:spcPts val="2416"/>
                </a:lnSpc>
              </a:pPr>
              <a:r>
                <a:rPr lang="en-US" b="true" sz="2416" spc="-48">
                  <a:solidFill>
                    <a:srgbClr val="2B2B2B"/>
                  </a:solidFill>
                  <a:latin typeface="Shree Devanagari 0706 Bold"/>
                  <a:ea typeface="Shree Devanagari 0706 Bold"/>
                  <a:cs typeface="Shree Devanagari 0706 Bold"/>
                  <a:sym typeface="Shree Devanagari 0706 Bold"/>
                </a:rPr>
                <a:t>सत्यं शिवं सुन्दरस्</a:t>
              </a:r>
            </a:p>
          </p:txBody>
        </p:sp>
        <p:sp>
          <p:nvSpPr>
            <p:cNvPr name="TextBox 8" id="8"/>
            <p:cNvSpPr txBox="true"/>
            <p:nvPr/>
          </p:nvSpPr>
          <p:spPr>
            <a:xfrm rot="0">
              <a:off x="0" y="19050"/>
              <a:ext cx="2797102" cy="2083238"/>
            </a:xfrm>
            <a:prstGeom prst="rect">
              <a:avLst/>
            </a:prstGeom>
          </p:spPr>
          <p:txBody>
            <a:bodyPr anchor="t" rtlCol="false" tIns="0" lIns="0" bIns="0" rIns="0">
              <a:spAutoFit/>
            </a:bodyPr>
            <a:lstStyle/>
            <a:p>
              <a:pPr algn="ctr" marL="0" indent="0" lvl="0">
                <a:lnSpc>
                  <a:spcPts val="1458"/>
                </a:lnSpc>
              </a:pPr>
              <a:r>
                <a:rPr lang="en-US" b="true" sz="1458" spc="29">
                  <a:solidFill>
                    <a:srgbClr val="2B2B2B"/>
                  </a:solidFill>
                  <a:latin typeface="Barlow SemiCondensed Semi-Bold"/>
                  <a:ea typeface="Barlow SemiCondensed Semi-Bold"/>
                  <a:cs typeface="Barlow SemiCondensed Semi-Bold"/>
                  <a:sym typeface="Barlow SemiCondensed Semi-Bold"/>
                </a:rPr>
                <a:t>THE MAHARAJA SAYAJIRAO UNIVERSITY OF BARODA</a:t>
              </a:r>
            </a:p>
          </p:txBody>
        </p:sp>
      </p:grpSp>
      <p:sp>
        <p:nvSpPr>
          <p:cNvPr name="TextBox 9" id="9"/>
          <p:cNvSpPr txBox="true"/>
          <p:nvPr/>
        </p:nvSpPr>
        <p:spPr>
          <a:xfrm rot="0">
            <a:off x="1066800" y="1009650"/>
            <a:ext cx="7239000" cy="281940"/>
          </a:xfrm>
          <a:prstGeom prst="rect">
            <a:avLst/>
          </a:prstGeom>
        </p:spPr>
        <p:txBody>
          <a:bodyPr anchor="t" rtlCol="false" tIns="0" lIns="0" bIns="0" rIns="0">
            <a:spAutoFit/>
          </a:bodyPr>
          <a:lstStyle/>
          <a:p>
            <a:pPr algn="l">
              <a:lnSpc>
                <a:spcPts val="2310"/>
              </a:lnSpc>
            </a:pPr>
            <a:r>
              <a:rPr lang="en-US" sz="1650" spc="132" b="true">
                <a:solidFill>
                  <a:srgbClr val="18A999"/>
                </a:solidFill>
                <a:latin typeface="IBM Plex Mono Bold"/>
                <a:ea typeface="IBM Plex Mono Bold"/>
                <a:cs typeface="IBM Plex Mono Bold"/>
                <a:sym typeface="IBM Plex Mono Bold"/>
              </a:rPr>
              <a:t>COLLEGE PROJECT EVALUATION</a:t>
            </a:r>
          </a:p>
        </p:txBody>
      </p:sp>
      <p:sp>
        <p:nvSpPr>
          <p:cNvPr name="TextBox 10" id="10"/>
          <p:cNvSpPr txBox="true"/>
          <p:nvPr/>
        </p:nvSpPr>
        <p:spPr>
          <a:xfrm rot="0">
            <a:off x="1066800" y="1885950"/>
            <a:ext cx="9906000" cy="2285238"/>
          </a:xfrm>
          <a:prstGeom prst="rect">
            <a:avLst/>
          </a:prstGeom>
        </p:spPr>
        <p:txBody>
          <a:bodyPr anchor="t" rtlCol="false" tIns="0" lIns="0" bIns="0" rIns="0">
            <a:spAutoFit/>
          </a:bodyPr>
          <a:lstStyle/>
          <a:p>
            <a:pPr algn="l">
              <a:lnSpc>
                <a:spcPts val="8736"/>
              </a:lnSpc>
            </a:pPr>
            <a:r>
              <a:rPr lang="en-US" sz="8400" b="true">
                <a:solidFill>
                  <a:srgbClr val="163047"/>
                </a:solidFill>
                <a:latin typeface="Brixton Bold"/>
                <a:ea typeface="Brixton Bold"/>
                <a:cs typeface="Brixton Bold"/>
                <a:sym typeface="Brixton Bold"/>
              </a:rPr>
              <a:t>Obesity &amp;</a:t>
            </a:r>
          </a:p>
          <a:p>
            <a:pPr algn="l">
              <a:lnSpc>
                <a:spcPts val="8736"/>
              </a:lnSpc>
            </a:pPr>
            <a:r>
              <a:rPr lang="en-US" sz="8400" b="true">
                <a:solidFill>
                  <a:srgbClr val="163047"/>
                </a:solidFill>
                <a:latin typeface="Brixton Bold"/>
                <a:ea typeface="Brixton Bold"/>
                <a:cs typeface="Brixton Bold"/>
                <a:sym typeface="Brixton Bold"/>
              </a:rPr>
              <a:t>Lifestyle EDA</a:t>
            </a:r>
          </a:p>
        </p:txBody>
      </p:sp>
      <p:sp>
        <p:nvSpPr>
          <p:cNvPr name="TextBox 11" id="11"/>
          <p:cNvSpPr txBox="true"/>
          <p:nvPr/>
        </p:nvSpPr>
        <p:spPr>
          <a:xfrm rot="0">
            <a:off x="1066800" y="4399026"/>
            <a:ext cx="6553200" cy="2534222"/>
          </a:xfrm>
          <a:prstGeom prst="rect">
            <a:avLst/>
          </a:prstGeom>
        </p:spPr>
        <p:txBody>
          <a:bodyPr anchor="t" rtlCol="false" tIns="0" lIns="0" bIns="0" rIns="0">
            <a:spAutoFit/>
          </a:bodyPr>
          <a:lstStyle/>
          <a:p>
            <a:pPr algn="l">
              <a:lnSpc>
                <a:spcPts val="4105"/>
              </a:lnSpc>
            </a:pPr>
            <a:r>
              <a:rPr lang="en-US" sz="2550" spc="10" b="true">
                <a:solidFill>
                  <a:srgbClr val="163047"/>
                </a:solidFill>
                <a:latin typeface="Source Sans 3 Bold"/>
                <a:ea typeface="Source Sans 3 Bold"/>
                <a:cs typeface="Source Sans 3 Bold"/>
                <a:sym typeface="Source Sans 3 Bold"/>
              </a:rPr>
              <a:t>Course : F.Y.BCA Semester 1 (Div A)</a:t>
            </a:r>
          </a:p>
          <a:p>
            <a:pPr algn="l">
              <a:lnSpc>
                <a:spcPts val="4105"/>
              </a:lnSpc>
            </a:pPr>
            <a:r>
              <a:rPr lang="en-US" sz="2550" spc="10" b="true">
                <a:solidFill>
                  <a:srgbClr val="163047"/>
                </a:solidFill>
                <a:latin typeface="Source Sans 3 Bold"/>
                <a:ea typeface="Source Sans 3 Bold"/>
                <a:cs typeface="Source Sans 3 Bold"/>
                <a:sym typeface="Source Sans 3 Bold"/>
              </a:rPr>
              <a:t>Group No: 05</a:t>
            </a:r>
          </a:p>
          <a:p>
            <a:pPr algn="l">
              <a:lnSpc>
                <a:spcPts val="4105"/>
              </a:lnSpc>
            </a:pPr>
            <a:r>
              <a:rPr lang="en-US" sz="2550" spc="10" b="true">
                <a:solidFill>
                  <a:srgbClr val="163047"/>
                </a:solidFill>
                <a:latin typeface="Source Sans 3 Bold"/>
                <a:ea typeface="Source Sans 3 Bold"/>
                <a:cs typeface="Source Sans 3 Bold"/>
                <a:sym typeface="Source Sans 3 Bold"/>
              </a:rPr>
              <a:t>Roll No : 36,22,93,24,25,108,113,102 </a:t>
            </a:r>
          </a:p>
          <a:p>
            <a:pPr algn="l">
              <a:lnSpc>
                <a:spcPts val="4105"/>
              </a:lnSpc>
            </a:pPr>
            <a:r>
              <a:rPr lang="en-US" sz="2550" spc="10" b="true">
                <a:solidFill>
                  <a:srgbClr val="163047"/>
                </a:solidFill>
                <a:latin typeface="Source Sans 3 Bold"/>
                <a:ea typeface="Source Sans 3 Bold"/>
                <a:cs typeface="Source Sans 3 Bold"/>
                <a:sym typeface="Source Sans 3 Bold"/>
              </a:rPr>
              <a:t>Dataset : Obesity &amp; Lifestyle EDA</a:t>
            </a:r>
          </a:p>
          <a:p>
            <a:pPr algn="l">
              <a:lnSpc>
                <a:spcPts val="4105"/>
              </a:lnSpc>
            </a:pPr>
            <a:r>
              <a:rPr lang="en-US" sz="2550" spc="10" b="true">
                <a:solidFill>
                  <a:srgbClr val="163047"/>
                </a:solidFill>
                <a:latin typeface="Source Sans 3 Bold"/>
                <a:ea typeface="Source Sans 3 Bold"/>
                <a:cs typeface="Source Sans 3 Bold"/>
                <a:sym typeface="Source Sans 3 Bold"/>
              </a:rPr>
              <a:t>Submission Date: 5</a:t>
            </a:r>
            <a:r>
              <a:rPr lang="en-US" sz="2550" spc="10" b="true">
                <a:solidFill>
                  <a:srgbClr val="163047"/>
                </a:solidFill>
                <a:latin typeface="Source Sans 3 Bold"/>
                <a:ea typeface="Source Sans 3 Bold"/>
                <a:cs typeface="Source Sans 3 Bold"/>
                <a:sym typeface="Source Sans 3 Bold"/>
              </a:rPr>
              <a:t>th</a:t>
            </a:r>
            <a:r>
              <a:rPr lang="en-US" sz="2550" spc="10" b="true">
                <a:solidFill>
                  <a:srgbClr val="163047"/>
                </a:solidFill>
                <a:latin typeface="Source Sans 3 Bold"/>
                <a:ea typeface="Source Sans 3 Bold"/>
                <a:cs typeface="Source Sans 3 Bold"/>
                <a:sym typeface="Source Sans 3 Bold"/>
              </a:rPr>
              <a:t> october 2026</a:t>
            </a:r>
          </a:p>
        </p:txBody>
      </p:sp>
      <p:grpSp>
        <p:nvGrpSpPr>
          <p:cNvPr name="Group 12" id="12"/>
          <p:cNvGrpSpPr/>
          <p:nvPr/>
        </p:nvGrpSpPr>
        <p:grpSpPr>
          <a:xfrm rot="0">
            <a:off x="1066800" y="9458325"/>
            <a:ext cx="16593782" cy="422910"/>
            <a:chOff x="0" y="0"/>
            <a:chExt cx="22125042" cy="563880"/>
          </a:xfrm>
        </p:grpSpPr>
        <p:sp>
          <p:nvSpPr>
            <p:cNvPr name="AutoShape 13" id="13"/>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4" id="14"/>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5" id="15"/>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01/22</a:t>
              </a:r>
            </a:p>
          </p:txBody>
        </p:sp>
      </p:grpSp>
    </p:spTree>
  </p:cSld>
  <p:clrMapOvr>
    <a:masterClrMapping/>
  </p:clrMapOvr>
</p:sld>
</file>

<file path=ppt/slides/slide2.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28700" y="2019412"/>
            <a:ext cx="15239562" cy="2980373"/>
          </a:xfrm>
          <a:prstGeom prst="rect">
            <a:avLst/>
          </a:prstGeom>
        </p:spPr>
        <p:txBody>
          <a:bodyPr anchor="t" rtlCol="false" tIns="0" lIns="0" bIns="0" rIns="0">
            <a:spAutoFit/>
          </a:bodyPr>
          <a:lstStyle/>
          <a:p>
            <a:pPr algn="l">
              <a:lnSpc>
                <a:spcPts val="3442"/>
              </a:lnSpc>
            </a:pPr>
            <a:r>
              <a:rPr lang="en-US" sz="2550">
                <a:solidFill>
                  <a:srgbClr val="163047"/>
                </a:solidFill>
                <a:latin typeface="Source Sans 3"/>
                <a:ea typeface="Source Sans 3"/>
                <a:cs typeface="Source Sans 3"/>
                <a:sym typeface="Source Sans 3"/>
              </a:rPr>
              <a:t>Obesity is a complex, multifactorial chronic disease recognized globally as a major contributor to metabolic syndrome, cardiovascular disease, type 2 diabetes, and shortened life expectancy. While traditional epidemiological models reduce weight gain to an arithmetic imbalance of calories consumed versus calories expended, clinical and behavioral realities demonstrate that weight regulation is mediated by complex interactions between genetics, dietary composition, physical mobility, daily habits, and environmental infrastructure.</a:t>
            </a:r>
          </a:p>
          <a:p>
            <a:pPr algn="l">
              <a:lnSpc>
                <a:spcPts val="3442"/>
              </a:lnSpc>
            </a:pPr>
          </a:p>
        </p:txBody>
      </p:sp>
      <p:sp>
        <p:nvSpPr>
          <p:cNvPr name="TextBox 3" id="3"/>
          <p:cNvSpPr txBox="true"/>
          <p:nvPr/>
        </p:nvSpPr>
        <p:spPr>
          <a:xfrm rot="0">
            <a:off x="1028700" y="10763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Introduction &amp; Objective</a:t>
            </a:r>
          </a:p>
        </p:txBody>
      </p:sp>
      <p:grpSp>
        <p:nvGrpSpPr>
          <p:cNvPr name="Group 4" id="4"/>
          <p:cNvGrpSpPr/>
          <p:nvPr/>
        </p:nvGrpSpPr>
        <p:grpSpPr>
          <a:xfrm rot="0">
            <a:off x="12001500" y="0"/>
            <a:ext cx="6286500" cy="10287000"/>
            <a:chOff x="0" y="0"/>
            <a:chExt cx="8382000" cy="13716000"/>
          </a:xfrm>
        </p:grpSpPr>
        <p:sp>
          <p:nvSpPr>
            <p:cNvPr name="Freeform 5" id="5"/>
            <p:cNvSpPr/>
            <p:nvPr/>
          </p:nvSpPr>
          <p:spPr>
            <a:xfrm flipH="false" flipV="false" rot="0">
              <a:off x="0" y="0"/>
              <a:ext cx="8382000" cy="13716000"/>
            </a:xfrm>
            <a:custGeom>
              <a:avLst/>
              <a:gdLst/>
              <a:ahLst/>
              <a:cxnLst/>
              <a:rect r="r" b="b" t="t" l="l"/>
              <a:pathLst>
                <a:path h="13716000" w="8382000">
                  <a:moveTo>
                    <a:pt x="0" y="0"/>
                  </a:moveTo>
                  <a:lnTo>
                    <a:pt x="8382000" y="0"/>
                  </a:lnTo>
                  <a:lnTo>
                    <a:pt x="8382000" y="13716000"/>
                  </a:lnTo>
                  <a:lnTo>
                    <a:pt x="0" y="13716000"/>
                  </a:lnTo>
                  <a:close/>
                </a:path>
              </a:pathLst>
            </a:custGeom>
            <a:gradFill rotWithShape="true">
              <a:gsLst>
                <a:gs pos="0">
                  <a:srgbClr val="18A999">
                    <a:alpha val="0"/>
                  </a:srgbClr>
                </a:gs>
                <a:gs pos="100000">
                  <a:srgbClr val="0B1F33">
                    <a:alpha val="100000"/>
                  </a:srgbClr>
                </a:gs>
              </a:gsLst>
              <a:lin ang="0"/>
            </a:gradFill>
            <a:ln cap="sq">
              <a:noFill/>
              <a:prstDash val="solid"/>
              <a:miter/>
            </a:ln>
          </p:spPr>
        </p:sp>
        <p:sp>
          <p:nvSpPr>
            <p:cNvPr name="TextBox 6" id="6"/>
            <p:cNvSpPr txBox="true"/>
            <p:nvPr/>
          </p:nvSpPr>
          <p:spPr>
            <a:xfrm>
              <a:off x="0" y="-38100"/>
              <a:ext cx="8382000" cy="13754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1028700" y="5237909"/>
            <a:ext cx="15239562" cy="4266247"/>
          </a:xfrm>
          <a:prstGeom prst="rect">
            <a:avLst/>
          </a:prstGeom>
        </p:spPr>
        <p:txBody>
          <a:bodyPr anchor="t" rtlCol="false" tIns="0" lIns="0" bIns="0" rIns="0">
            <a:spAutoFit/>
          </a:bodyPr>
          <a:lstStyle/>
          <a:p>
            <a:pPr algn="l">
              <a:lnSpc>
                <a:spcPts val="3442"/>
              </a:lnSpc>
            </a:pPr>
            <a:r>
              <a:rPr lang="en-US" sz="2550">
                <a:solidFill>
                  <a:srgbClr val="163047"/>
                </a:solidFill>
                <a:latin typeface="Source Sans 3"/>
                <a:ea typeface="Source Sans 3"/>
                <a:cs typeface="Source Sans 3"/>
                <a:sym typeface="Source Sans 3"/>
              </a:rPr>
              <a:t>The primary objective of this project is to perform an exhaustive **Exploratory Data Analysis (EDA)** on the Obesity and Lifestyle dataset to uncover:</a:t>
            </a:r>
          </a:p>
          <a:p>
            <a:pPr algn="l">
              <a:lnSpc>
                <a:spcPts val="3442"/>
              </a:lnSpc>
            </a:pPr>
            <a:r>
              <a:rPr lang="en-US" sz="2550">
                <a:solidFill>
                  <a:srgbClr val="163047"/>
                </a:solidFill>
                <a:latin typeface="Source Sans 3"/>
                <a:ea typeface="Source Sans 3"/>
                <a:cs typeface="Source Sans 3"/>
                <a:sym typeface="Source Sans 3"/>
              </a:rPr>
              <a:t>1. The structural distributions of eating habits, physical condition, and demographic attributes across weight tiers.</a:t>
            </a:r>
          </a:p>
          <a:p>
            <a:pPr algn="l">
              <a:lnSpc>
                <a:spcPts val="3442"/>
              </a:lnSpc>
            </a:pPr>
            <a:r>
              <a:rPr lang="en-US" sz="2550">
                <a:solidFill>
                  <a:srgbClr val="163047"/>
                </a:solidFill>
                <a:latin typeface="Source Sans 3"/>
                <a:ea typeface="Source Sans 3"/>
                <a:cs typeface="Source Sans 3"/>
                <a:sym typeface="Source Sans 3"/>
              </a:rPr>
              <a:t>2. Direct bivariate and rank-order correlations linking behavioral habits to clinical weight levels (`NObeyesdad`).</a:t>
            </a:r>
          </a:p>
          <a:p>
            <a:pPr algn="l">
              <a:lnSpc>
                <a:spcPts val="3442"/>
              </a:lnSpc>
            </a:pPr>
            <a:r>
              <a:rPr lang="en-US" sz="2550">
                <a:solidFill>
                  <a:srgbClr val="163047"/>
                </a:solidFill>
                <a:latin typeface="Source Sans 3"/>
                <a:ea typeface="Source Sans 3"/>
                <a:cs typeface="Source Sans 3"/>
                <a:sym typeface="Source Sans 3"/>
              </a:rPr>
              <a:t>3. **Hidden relationships, paradoxes, and confounding interactions** (such as the meal-skipping paradox, the family history buffering effect, and commute mode catalysis) that are masked by simple linear models.</a:t>
            </a:r>
          </a:p>
          <a:p>
            <a:pPr algn="l">
              <a:lnSpc>
                <a:spcPts val="3442"/>
              </a:lnSpc>
            </a:pPr>
            <a:r>
              <a:rPr lang="en-US" sz="2550">
                <a:solidFill>
                  <a:srgbClr val="163047"/>
                </a:solidFill>
                <a:latin typeface="Source Sans 3"/>
                <a:ea typeface="Source Sans 3"/>
                <a:cs typeface="Source Sans 3"/>
                <a:sym typeface="Source Sans 3"/>
              </a:rPr>
              <a:t>4. Actionable feature-engineering insights to guide subsequent machine learning classification models.</a:t>
            </a:r>
          </a:p>
          <a:p>
            <a:pPr algn="l">
              <a:lnSpc>
                <a:spcPts val="3442"/>
              </a:lnSpc>
            </a:pPr>
          </a:p>
          <a:p>
            <a:pPr algn="l">
              <a:lnSpc>
                <a:spcPts val="3442"/>
              </a:lnSpc>
            </a:pPr>
          </a:p>
        </p:txBody>
      </p:sp>
      <p:grpSp>
        <p:nvGrpSpPr>
          <p:cNvPr name="Group 8" id="8"/>
          <p:cNvGrpSpPr/>
          <p:nvPr/>
        </p:nvGrpSpPr>
        <p:grpSpPr>
          <a:xfrm rot="0">
            <a:off x="1028700" y="9258300"/>
            <a:ext cx="16593782" cy="422910"/>
            <a:chOff x="0" y="0"/>
            <a:chExt cx="22125042" cy="563880"/>
          </a:xfrm>
        </p:grpSpPr>
        <p:sp>
          <p:nvSpPr>
            <p:cNvPr name="AutoShape 9" id="9"/>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0" id="10"/>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1" id="11"/>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02/22</a:t>
              </a:r>
            </a:p>
          </p:txBody>
        </p:sp>
      </p:grpSp>
    </p:spTree>
  </p:cSld>
  <p:clrMapOvr>
    <a:masterClrMapping/>
  </p:clrMapOvr>
</p:sld>
</file>

<file path=ppt/slides/slide3.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Data types and variables</a:t>
            </a:r>
          </a:p>
        </p:txBody>
      </p:sp>
      <p:grpSp>
        <p:nvGrpSpPr>
          <p:cNvPr name="Group 3" id="3"/>
          <p:cNvGrpSpPr/>
          <p:nvPr/>
        </p:nvGrpSpPr>
        <p:grpSpPr>
          <a:xfrm rot="0">
            <a:off x="7239000" y="2667000"/>
            <a:ext cx="3810000" cy="1047750"/>
            <a:chOff x="0" y="0"/>
            <a:chExt cx="5080000" cy="1397000"/>
          </a:xfrm>
        </p:grpSpPr>
        <p:sp>
          <p:nvSpPr>
            <p:cNvPr name="Freeform 4" id="4"/>
            <p:cNvSpPr/>
            <p:nvPr/>
          </p:nvSpPr>
          <p:spPr>
            <a:xfrm flipH="false" flipV="false" rot="0">
              <a:off x="0" y="0"/>
              <a:ext cx="5080000" cy="1397000"/>
            </a:xfrm>
            <a:custGeom>
              <a:avLst/>
              <a:gdLst/>
              <a:ahLst/>
              <a:cxnLst/>
              <a:rect r="r" b="b" t="t" l="l"/>
              <a:pathLst>
                <a:path h="1397000" w="5080000">
                  <a:moveTo>
                    <a:pt x="50800" y="0"/>
                  </a:moveTo>
                  <a:lnTo>
                    <a:pt x="5029200" y="0"/>
                  </a:lnTo>
                  <a:cubicBezTo>
                    <a:pt x="5057256" y="0"/>
                    <a:pt x="5080000" y="22744"/>
                    <a:pt x="5080000" y="50800"/>
                  </a:cubicBezTo>
                  <a:lnTo>
                    <a:pt x="5080000" y="1346200"/>
                  </a:lnTo>
                  <a:cubicBezTo>
                    <a:pt x="5080000" y="1374256"/>
                    <a:pt x="5057256" y="1397000"/>
                    <a:pt x="5029200" y="1397000"/>
                  </a:cubicBezTo>
                  <a:lnTo>
                    <a:pt x="50800" y="1397000"/>
                  </a:lnTo>
                  <a:cubicBezTo>
                    <a:pt x="22744" y="1397000"/>
                    <a:pt x="0" y="1374256"/>
                    <a:pt x="0" y="1346200"/>
                  </a:cubicBezTo>
                  <a:lnTo>
                    <a:pt x="0" y="50800"/>
                  </a:lnTo>
                  <a:cubicBezTo>
                    <a:pt x="0" y="22744"/>
                    <a:pt x="22744" y="0"/>
                    <a:pt x="50800" y="0"/>
                  </a:cubicBezTo>
                  <a:close/>
                </a:path>
              </a:pathLst>
            </a:custGeom>
            <a:solidFill>
              <a:srgbClr val="0B1F33"/>
            </a:solidFill>
            <a:ln cap="sq">
              <a:noFill/>
              <a:prstDash val="solid"/>
              <a:miter/>
            </a:ln>
          </p:spPr>
        </p:sp>
        <p:sp>
          <p:nvSpPr>
            <p:cNvPr name="TextBox 5" id="5"/>
            <p:cNvSpPr txBox="true"/>
            <p:nvPr/>
          </p:nvSpPr>
          <p:spPr>
            <a:xfrm>
              <a:off x="0" y="0"/>
              <a:ext cx="5080000" cy="1397000"/>
            </a:xfrm>
            <a:prstGeom prst="rect">
              <a:avLst/>
            </a:prstGeom>
          </p:spPr>
          <p:txBody>
            <a:bodyPr anchor="ctr" rtlCol="false" tIns="50800" lIns="50800" bIns="50800" rIns="50800"/>
            <a:lstStyle/>
            <a:p>
              <a:pPr algn="ctr">
                <a:lnSpc>
                  <a:spcPts val="2242"/>
                </a:lnSpc>
              </a:pPr>
              <a:r>
                <a:rPr lang="en-US" sz="1950" b="true">
                  <a:solidFill>
                    <a:srgbClr val="FFFFFF"/>
                  </a:solidFill>
                  <a:latin typeface="Source Sans 3 Bold"/>
                  <a:ea typeface="Source Sans 3 Bold"/>
                  <a:cs typeface="Source Sans 3 Bold"/>
                  <a:sym typeface="Source Sans 3 Bold"/>
                </a:rPr>
                <a:t>ANALYSIS VARIABLES</a:t>
              </a:r>
            </a:p>
          </p:txBody>
        </p:sp>
      </p:grpSp>
      <p:sp>
        <p:nvSpPr>
          <p:cNvPr name="AutoShape 6" id="6"/>
          <p:cNvSpPr/>
          <p:nvPr/>
        </p:nvSpPr>
        <p:spPr>
          <a:xfrm flipH="true">
            <a:off x="3429000" y="3714750"/>
            <a:ext cx="5715000" cy="1047750"/>
          </a:xfrm>
          <a:prstGeom prst="line">
            <a:avLst/>
          </a:prstGeom>
          <a:ln cap="flat" w="28575">
            <a:solidFill>
              <a:srgbClr val="DFE9E7"/>
            </a:solidFill>
            <a:prstDash val="solid"/>
            <a:headEnd type="none" len="sm" w="sm"/>
            <a:tailEnd type="none" len="sm" w="sm"/>
          </a:ln>
        </p:spPr>
      </p:sp>
      <p:grpSp>
        <p:nvGrpSpPr>
          <p:cNvPr name="Group 7" id="7"/>
          <p:cNvGrpSpPr/>
          <p:nvPr/>
        </p:nvGrpSpPr>
        <p:grpSpPr>
          <a:xfrm rot="0">
            <a:off x="1047750" y="4762500"/>
            <a:ext cx="4762500" cy="1333500"/>
            <a:chOff x="0" y="0"/>
            <a:chExt cx="6350000" cy="1778000"/>
          </a:xfrm>
        </p:grpSpPr>
        <p:sp>
          <p:nvSpPr>
            <p:cNvPr name="Freeform 8" id="8"/>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FFFFFF"/>
            </a:solidFill>
            <a:ln cap="sq">
              <a:noFill/>
              <a:prstDash val="solid"/>
              <a:miter/>
            </a:ln>
          </p:spPr>
        </p:sp>
        <p:sp>
          <p:nvSpPr>
            <p:cNvPr name="TextBox 9" id="9"/>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NUMERICAL</a:t>
              </a:r>
            </a:p>
            <a:p>
              <a:pPr algn="ctr">
                <a:lnSpc>
                  <a:spcPts val="2242"/>
                </a:lnSpc>
              </a:pPr>
              <a:r>
                <a:rPr lang="en-US" sz="1950" b="true">
                  <a:solidFill>
                    <a:srgbClr val="163047"/>
                  </a:solidFill>
                  <a:latin typeface="Source Sans 3 Bold"/>
                  <a:ea typeface="Source Sans 3 Bold"/>
                  <a:cs typeface="Source Sans 3 Bold"/>
                  <a:sym typeface="Source Sans 3 Bold"/>
                </a:rPr>
                <a:t>Age · Height · Weight</a:t>
              </a:r>
            </a:p>
          </p:txBody>
        </p:sp>
      </p:grpSp>
      <p:sp>
        <p:nvSpPr>
          <p:cNvPr name="AutoShape 10" id="10"/>
          <p:cNvSpPr/>
          <p:nvPr/>
        </p:nvSpPr>
        <p:spPr>
          <a:xfrm>
            <a:off x="9144000" y="3714750"/>
            <a:ext cx="0" cy="1047750"/>
          </a:xfrm>
          <a:prstGeom prst="line">
            <a:avLst/>
          </a:prstGeom>
          <a:ln cap="flat" w="28575">
            <a:solidFill>
              <a:srgbClr val="DFE9E7"/>
            </a:solidFill>
            <a:prstDash val="solid"/>
            <a:headEnd type="none" len="sm" w="sm"/>
            <a:tailEnd type="none" len="sm" w="sm"/>
          </a:ln>
        </p:spPr>
      </p:sp>
      <p:sp>
        <p:nvSpPr>
          <p:cNvPr name="AutoShape 11" id="11"/>
          <p:cNvSpPr/>
          <p:nvPr/>
        </p:nvSpPr>
        <p:spPr>
          <a:xfrm>
            <a:off x="9144000" y="3714750"/>
            <a:ext cx="0" cy="3048000"/>
          </a:xfrm>
          <a:prstGeom prst="line">
            <a:avLst/>
          </a:prstGeom>
          <a:ln cap="flat" w="28575">
            <a:solidFill>
              <a:srgbClr val="DFE9E7"/>
            </a:solidFill>
            <a:prstDash val="solid"/>
            <a:headEnd type="none" len="sm" w="sm"/>
            <a:tailEnd type="none" len="sm" w="sm"/>
          </a:ln>
        </p:spPr>
      </p:sp>
      <p:grpSp>
        <p:nvGrpSpPr>
          <p:cNvPr name="Group 12" id="12"/>
          <p:cNvGrpSpPr/>
          <p:nvPr/>
        </p:nvGrpSpPr>
        <p:grpSpPr>
          <a:xfrm rot="0">
            <a:off x="6762750" y="4762500"/>
            <a:ext cx="4762500" cy="1333500"/>
            <a:chOff x="0" y="0"/>
            <a:chExt cx="6350000" cy="1778000"/>
          </a:xfrm>
        </p:grpSpPr>
        <p:sp>
          <p:nvSpPr>
            <p:cNvPr name="Freeform 13" id="13"/>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FFFFFF"/>
            </a:solidFill>
            <a:ln cap="sq">
              <a:noFill/>
              <a:prstDash val="solid"/>
              <a:miter/>
            </a:ln>
          </p:spPr>
        </p:sp>
        <p:sp>
          <p:nvSpPr>
            <p:cNvPr name="TextBox 14" id="14"/>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CATEGORICAL</a:t>
              </a:r>
            </a:p>
            <a:p>
              <a:pPr algn="ctr">
                <a:lnSpc>
                  <a:spcPts val="2242"/>
                </a:lnSpc>
              </a:pPr>
              <a:r>
                <a:rPr lang="en-US" sz="1950" b="true">
                  <a:solidFill>
                    <a:srgbClr val="163047"/>
                  </a:solidFill>
                  <a:latin typeface="Source Sans 3 Bold"/>
                  <a:ea typeface="Source Sans 3 Bold"/>
                  <a:cs typeface="Source Sans 3 Bold"/>
                  <a:sym typeface="Source Sans 3 Bold"/>
                </a:rPr>
                <a:t>Transport · meal habits</a:t>
              </a:r>
            </a:p>
          </p:txBody>
        </p:sp>
      </p:grpSp>
      <p:sp>
        <p:nvSpPr>
          <p:cNvPr name="AutoShape 15" id="15"/>
          <p:cNvSpPr/>
          <p:nvPr/>
        </p:nvSpPr>
        <p:spPr>
          <a:xfrm>
            <a:off x="9144000" y="3714750"/>
            <a:ext cx="5715000" cy="1047750"/>
          </a:xfrm>
          <a:prstGeom prst="line">
            <a:avLst/>
          </a:prstGeom>
          <a:ln cap="flat" w="28575">
            <a:solidFill>
              <a:srgbClr val="DFE9E7"/>
            </a:solidFill>
            <a:prstDash val="solid"/>
            <a:headEnd type="none" len="sm" w="sm"/>
            <a:tailEnd type="none" len="sm" w="sm"/>
          </a:ln>
        </p:spPr>
      </p:sp>
      <p:grpSp>
        <p:nvGrpSpPr>
          <p:cNvPr name="Group 16" id="16"/>
          <p:cNvGrpSpPr/>
          <p:nvPr/>
        </p:nvGrpSpPr>
        <p:grpSpPr>
          <a:xfrm rot="0">
            <a:off x="12477750" y="4762500"/>
            <a:ext cx="4762500" cy="1333500"/>
            <a:chOff x="0" y="0"/>
            <a:chExt cx="6350000" cy="1778000"/>
          </a:xfrm>
        </p:grpSpPr>
        <p:sp>
          <p:nvSpPr>
            <p:cNvPr name="Freeform 17" id="17"/>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FFFFFF"/>
            </a:solidFill>
            <a:ln cap="sq">
              <a:noFill/>
              <a:prstDash val="solid"/>
              <a:miter/>
            </a:ln>
          </p:spPr>
        </p:sp>
        <p:sp>
          <p:nvSpPr>
            <p:cNvPr name="TextBox 18" id="18"/>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BEHAVIORAL</a:t>
              </a:r>
            </a:p>
            <a:p>
              <a:pPr algn="ctr">
                <a:lnSpc>
                  <a:spcPts val="2242"/>
                </a:lnSpc>
              </a:pPr>
              <a:r>
                <a:rPr lang="en-US" sz="1950" b="true">
                  <a:solidFill>
                    <a:srgbClr val="163047"/>
                  </a:solidFill>
                  <a:latin typeface="Source Sans 3 Bold"/>
                  <a:ea typeface="Source Sans 3 Bold"/>
                  <a:cs typeface="Source Sans 3 Bold"/>
                  <a:sym typeface="Source Sans 3 Bold"/>
                </a:rPr>
                <a:t>Activity · screen time</a:t>
              </a:r>
            </a:p>
          </p:txBody>
        </p:sp>
      </p:grpSp>
      <p:sp>
        <p:nvSpPr>
          <p:cNvPr name="AutoShape 19" id="19"/>
          <p:cNvSpPr/>
          <p:nvPr/>
        </p:nvSpPr>
        <p:spPr>
          <a:xfrm flipH="true">
            <a:off x="3429000" y="3714750"/>
            <a:ext cx="5715000" cy="3048000"/>
          </a:xfrm>
          <a:prstGeom prst="line">
            <a:avLst/>
          </a:prstGeom>
          <a:ln cap="flat" w="28575">
            <a:solidFill>
              <a:srgbClr val="DFE9E7"/>
            </a:solidFill>
            <a:prstDash val="solid"/>
            <a:headEnd type="none" len="sm" w="sm"/>
            <a:tailEnd type="none" len="sm" w="sm"/>
          </a:ln>
        </p:spPr>
      </p:sp>
      <p:grpSp>
        <p:nvGrpSpPr>
          <p:cNvPr name="Group 20" id="20"/>
          <p:cNvGrpSpPr/>
          <p:nvPr/>
        </p:nvGrpSpPr>
        <p:grpSpPr>
          <a:xfrm rot="0">
            <a:off x="1047750" y="6762750"/>
            <a:ext cx="4762500" cy="1333500"/>
            <a:chOff x="0" y="0"/>
            <a:chExt cx="6350000" cy="1778000"/>
          </a:xfrm>
        </p:grpSpPr>
        <p:sp>
          <p:nvSpPr>
            <p:cNvPr name="Freeform 21" id="21"/>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FFFFFF"/>
            </a:solidFill>
            <a:ln cap="sq">
              <a:noFill/>
              <a:prstDash val="solid"/>
              <a:miter/>
            </a:ln>
          </p:spPr>
        </p:sp>
        <p:sp>
          <p:nvSpPr>
            <p:cNvPr name="TextBox 22" id="22"/>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GENETIC / FAMILY</a:t>
              </a:r>
            </a:p>
            <a:p>
              <a:pPr algn="ctr">
                <a:lnSpc>
                  <a:spcPts val="2242"/>
                </a:lnSpc>
              </a:pPr>
              <a:r>
                <a:rPr lang="en-US" sz="1950" b="true">
                  <a:solidFill>
                    <a:srgbClr val="163047"/>
                  </a:solidFill>
                  <a:latin typeface="Source Sans 3 Bold"/>
                  <a:ea typeface="Source Sans 3 Bold"/>
                  <a:cs typeface="Source Sans 3 Bold"/>
                  <a:sym typeface="Source Sans 3 Bold"/>
                </a:rPr>
                <a:t>Family history</a:t>
              </a:r>
            </a:p>
          </p:txBody>
        </p:sp>
      </p:grpSp>
      <p:grpSp>
        <p:nvGrpSpPr>
          <p:cNvPr name="Group 23" id="23"/>
          <p:cNvGrpSpPr/>
          <p:nvPr/>
        </p:nvGrpSpPr>
        <p:grpSpPr>
          <a:xfrm rot="0">
            <a:off x="6762750" y="6762750"/>
            <a:ext cx="4762500" cy="1333500"/>
            <a:chOff x="0" y="0"/>
            <a:chExt cx="6350000" cy="1778000"/>
          </a:xfrm>
        </p:grpSpPr>
        <p:sp>
          <p:nvSpPr>
            <p:cNvPr name="Freeform 24" id="24"/>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FFFFFF"/>
            </a:solidFill>
            <a:ln cap="sq">
              <a:noFill/>
              <a:prstDash val="solid"/>
              <a:miter/>
            </a:ln>
          </p:spPr>
        </p:sp>
        <p:sp>
          <p:nvSpPr>
            <p:cNvPr name="TextBox 25" id="25"/>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DEMOGRAPHIC</a:t>
              </a:r>
            </a:p>
            <a:p>
              <a:pPr algn="ctr">
                <a:lnSpc>
                  <a:spcPts val="2242"/>
                </a:lnSpc>
              </a:pPr>
              <a:r>
                <a:rPr lang="en-US" sz="1950" b="true">
                  <a:solidFill>
                    <a:srgbClr val="163047"/>
                  </a:solidFill>
                  <a:latin typeface="Source Sans 3 Bold"/>
                  <a:ea typeface="Source Sans 3 Bold"/>
                  <a:cs typeface="Source Sans 3 Bold"/>
                  <a:sym typeface="Source Sans 3 Bold"/>
                </a:rPr>
                <a:t>Sex · age context</a:t>
              </a:r>
            </a:p>
          </p:txBody>
        </p:sp>
      </p:grpSp>
      <p:sp>
        <p:nvSpPr>
          <p:cNvPr name="AutoShape 26" id="26"/>
          <p:cNvSpPr/>
          <p:nvPr/>
        </p:nvSpPr>
        <p:spPr>
          <a:xfrm>
            <a:off x="9144000" y="3714750"/>
            <a:ext cx="5715000" cy="3048000"/>
          </a:xfrm>
          <a:prstGeom prst="line">
            <a:avLst/>
          </a:prstGeom>
          <a:ln cap="flat" w="28575">
            <a:solidFill>
              <a:srgbClr val="DFE9E7"/>
            </a:solidFill>
            <a:prstDash val="solid"/>
            <a:headEnd type="none" len="sm" w="sm"/>
            <a:tailEnd type="none" len="sm" w="sm"/>
          </a:ln>
        </p:spPr>
      </p:sp>
      <p:grpSp>
        <p:nvGrpSpPr>
          <p:cNvPr name="Group 27" id="27"/>
          <p:cNvGrpSpPr/>
          <p:nvPr/>
        </p:nvGrpSpPr>
        <p:grpSpPr>
          <a:xfrm rot="0">
            <a:off x="12477750" y="6762750"/>
            <a:ext cx="4762500" cy="1333500"/>
            <a:chOff x="0" y="0"/>
            <a:chExt cx="6350000" cy="1778000"/>
          </a:xfrm>
        </p:grpSpPr>
        <p:sp>
          <p:nvSpPr>
            <p:cNvPr name="Freeform 28" id="28"/>
            <p:cNvSpPr/>
            <p:nvPr/>
          </p:nvSpPr>
          <p:spPr>
            <a:xfrm flipH="false" flipV="false" rot="0">
              <a:off x="0" y="0"/>
              <a:ext cx="6350000" cy="1778000"/>
            </a:xfrm>
            <a:custGeom>
              <a:avLst/>
              <a:gdLst/>
              <a:ahLst/>
              <a:cxnLst/>
              <a:rect r="r" b="b" t="t" l="l"/>
              <a:pathLst>
                <a:path h="1778000" w="6350000">
                  <a:moveTo>
                    <a:pt x="40640" y="0"/>
                  </a:moveTo>
                  <a:lnTo>
                    <a:pt x="6309360" y="0"/>
                  </a:lnTo>
                  <a:cubicBezTo>
                    <a:pt x="6331805" y="0"/>
                    <a:pt x="6350000" y="18195"/>
                    <a:pt x="6350000" y="40640"/>
                  </a:cubicBezTo>
                  <a:lnTo>
                    <a:pt x="6350000" y="1737360"/>
                  </a:lnTo>
                  <a:cubicBezTo>
                    <a:pt x="6350000" y="1759805"/>
                    <a:pt x="6331805" y="1778000"/>
                    <a:pt x="6309360" y="1778000"/>
                  </a:cubicBezTo>
                  <a:lnTo>
                    <a:pt x="40640" y="1778000"/>
                  </a:lnTo>
                  <a:cubicBezTo>
                    <a:pt x="18195" y="1778000"/>
                    <a:pt x="0" y="1759805"/>
                    <a:pt x="0" y="1737360"/>
                  </a:cubicBezTo>
                  <a:lnTo>
                    <a:pt x="0" y="40640"/>
                  </a:lnTo>
                  <a:cubicBezTo>
                    <a:pt x="0" y="18195"/>
                    <a:pt x="18195" y="0"/>
                    <a:pt x="40640" y="0"/>
                  </a:cubicBezTo>
                  <a:close/>
                </a:path>
              </a:pathLst>
            </a:custGeom>
            <a:solidFill>
              <a:srgbClr val="18A999"/>
            </a:solidFill>
            <a:ln cap="sq">
              <a:noFill/>
              <a:prstDash val="solid"/>
              <a:miter/>
            </a:ln>
          </p:spPr>
        </p:sp>
        <p:sp>
          <p:nvSpPr>
            <p:cNvPr name="TextBox 29" id="29"/>
            <p:cNvSpPr txBox="true"/>
            <p:nvPr/>
          </p:nvSpPr>
          <p:spPr>
            <a:xfrm>
              <a:off x="0" y="0"/>
              <a:ext cx="6350000" cy="1778000"/>
            </a:xfrm>
            <a:prstGeom prst="rect">
              <a:avLst/>
            </a:prstGeom>
          </p:spPr>
          <p:txBody>
            <a:bodyPr anchor="ctr" rtlCol="false" tIns="50800" lIns="50800" bIns="50800" rIns="50800"/>
            <a:lstStyle/>
            <a:p>
              <a:pPr algn="ctr">
                <a:lnSpc>
                  <a:spcPts val="2242"/>
                </a:lnSpc>
              </a:pPr>
              <a:r>
                <a:rPr lang="en-US" sz="1950" b="true">
                  <a:solidFill>
                    <a:srgbClr val="FFFFFF"/>
                  </a:solidFill>
                  <a:latin typeface="Source Sans 3 Bold"/>
                  <a:ea typeface="Source Sans 3 Bold"/>
                  <a:cs typeface="Source Sans 3 Bold"/>
                  <a:sym typeface="Source Sans 3 Bold"/>
                </a:rPr>
                <a:t>TARGET</a:t>
              </a:r>
            </a:p>
            <a:p>
              <a:pPr algn="ctr">
                <a:lnSpc>
                  <a:spcPts val="2242"/>
                </a:lnSpc>
              </a:pPr>
              <a:r>
                <a:rPr lang="en-US" sz="1950" b="true">
                  <a:solidFill>
                    <a:srgbClr val="FFFFFF"/>
                  </a:solidFill>
                  <a:latin typeface="Source Sans 3 Bold"/>
                  <a:ea typeface="Source Sans 3 Bold"/>
                  <a:cs typeface="Source Sans 3 Bold"/>
                  <a:sym typeface="Source Sans 3 Bold"/>
                </a:rPr>
                <a:t>7 obesity classes</a:t>
              </a:r>
            </a:p>
          </p:txBody>
        </p:sp>
      </p:grpSp>
      <p:grpSp>
        <p:nvGrpSpPr>
          <p:cNvPr name="Group 30" id="30"/>
          <p:cNvGrpSpPr/>
          <p:nvPr/>
        </p:nvGrpSpPr>
        <p:grpSpPr>
          <a:xfrm rot="0">
            <a:off x="1028700" y="9258300"/>
            <a:ext cx="16593782" cy="422910"/>
            <a:chOff x="0" y="0"/>
            <a:chExt cx="22125042" cy="563880"/>
          </a:xfrm>
        </p:grpSpPr>
        <p:sp>
          <p:nvSpPr>
            <p:cNvPr name="AutoShape 31" id="31"/>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32" id="32"/>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33" id="33"/>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03/22</a:t>
              </a:r>
            </a:p>
          </p:txBody>
        </p:sp>
      </p:grpSp>
    </p:spTree>
  </p:cSld>
  <p:clrMapOvr>
    <a:masterClrMapping/>
  </p:clrMapOvr>
</p:sld>
</file>

<file path=ppt/slides/slide4.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grpSp>
        <p:nvGrpSpPr>
          <p:cNvPr name="Group 2" id="2"/>
          <p:cNvGrpSpPr/>
          <p:nvPr/>
        </p:nvGrpSpPr>
        <p:grpSpPr>
          <a:xfrm rot="0">
            <a:off x="990600" y="2381250"/>
            <a:ext cx="3524250" cy="2190750"/>
            <a:chOff x="0" y="0"/>
            <a:chExt cx="4699000" cy="2921000"/>
          </a:xfrm>
        </p:grpSpPr>
        <p:grpSp>
          <p:nvGrpSpPr>
            <p:cNvPr name="Group 3" id="3"/>
            <p:cNvGrpSpPr/>
            <p:nvPr/>
          </p:nvGrpSpPr>
          <p:grpSpPr>
            <a:xfrm rot="0">
              <a:off x="0" y="0"/>
              <a:ext cx="4699000" cy="2921000"/>
              <a:chOff x="0" y="0"/>
              <a:chExt cx="4699000" cy="2921000"/>
            </a:xfrm>
          </p:grpSpPr>
          <p:sp>
            <p:nvSpPr>
              <p:cNvPr name="Freeform 4" id="4"/>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5" id="5"/>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6" id="6"/>
            <p:cNvGrpSpPr/>
            <p:nvPr/>
          </p:nvGrpSpPr>
          <p:grpSpPr>
            <a:xfrm rot="0">
              <a:off x="0" y="0"/>
              <a:ext cx="152400" cy="2921000"/>
              <a:chOff x="0" y="0"/>
              <a:chExt cx="152400" cy="2921000"/>
            </a:xfrm>
          </p:grpSpPr>
          <p:sp>
            <p:nvSpPr>
              <p:cNvPr name="Freeform 7" id="7"/>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1D8A85"/>
              </a:solidFill>
              <a:ln cap="sq">
                <a:noFill/>
                <a:prstDash val="solid"/>
                <a:miter/>
              </a:ln>
            </p:spPr>
          </p:sp>
          <p:sp>
            <p:nvSpPr>
              <p:cNvPr name="TextBox 8" id="8"/>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9" id="9"/>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WEIGHT CLASSES</a:t>
              </a:r>
            </a:p>
          </p:txBody>
        </p:sp>
        <p:sp>
          <p:nvSpPr>
            <p:cNvPr name="TextBox 10" id="10"/>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balanced core; severe tail visible</a:t>
              </a:r>
            </a:p>
          </p:txBody>
        </p:sp>
      </p:grpSp>
      <p:grpSp>
        <p:nvGrpSpPr>
          <p:cNvPr name="Group 11" id="11"/>
          <p:cNvGrpSpPr/>
          <p:nvPr/>
        </p:nvGrpSpPr>
        <p:grpSpPr>
          <a:xfrm rot="0">
            <a:off x="5038725" y="2381250"/>
            <a:ext cx="3524250" cy="2190750"/>
            <a:chOff x="0" y="0"/>
            <a:chExt cx="4699000" cy="2921000"/>
          </a:xfrm>
        </p:grpSpPr>
        <p:grpSp>
          <p:nvGrpSpPr>
            <p:cNvPr name="Group 12" id="12"/>
            <p:cNvGrpSpPr/>
            <p:nvPr/>
          </p:nvGrpSpPr>
          <p:grpSpPr>
            <a:xfrm rot="0">
              <a:off x="0" y="0"/>
              <a:ext cx="4699000" cy="2921000"/>
              <a:chOff x="0" y="0"/>
              <a:chExt cx="4699000" cy="2921000"/>
            </a:xfrm>
          </p:grpSpPr>
          <p:sp>
            <p:nvSpPr>
              <p:cNvPr name="Freeform 13" id="13"/>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14" id="14"/>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15" id="15"/>
            <p:cNvGrpSpPr/>
            <p:nvPr/>
          </p:nvGrpSpPr>
          <p:grpSpPr>
            <a:xfrm rot="0">
              <a:off x="0" y="0"/>
              <a:ext cx="152400" cy="2921000"/>
              <a:chOff x="0" y="0"/>
              <a:chExt cx="152400" cy="2921000"/>
            </a:xfrm>
          </p:grpSpPr>
          <p:sp>
            <p:nvSpPr>
              <p:cNvPr name="Freeform 16" id="16"/>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17313B"/>
              </a:solidFill>
              <a:ln cap="sq">
                <a:noFill/>
                <a:prstDash val="solid"/>
                <a:miter/>
              </a:ln>
            </p:spPr>
          </p:sp>
          <p:sp>
            <p:nvSpPr>
              <p:cNvPr name="TextBox 17" id="17"/>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18" id="18"/>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GENDER</a:t>
              </a:r>
            </a:p>
          </p:txBody>
        </p:sp>
        <p:sp>
          <p:nvSpPr>
            <p:cNvPr name="TextBox 19" id="19"/>
            <p:cNvSpPr txBox="true"/>
            <p:nvPr/>
          </p:nvSpPr>
          <p:spPr>
            <a:xfrm rot="0">
              <a:off x="355600" y="1244600"/>
              <a:ext cx="4064000" cy="4419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near-even split</a:t>
              </a:r>
            </a:p>
          </p:txBody>
        </p:sp>
      </p:grpSp>
      <p:grpSp>
        <p:nvGrpSpPr>
          <p:cNvPr name="Group 20" id="20"/>
          <p:cNvGrpSpPr/>
          <p:nvPr/>
        </p:nvGrpSpPr>
        <p:grpSpPr>
          <a:xfrm rot="0">
            <a:off x="9086850" y="2381250"/>
            <a:ext cx="3524250" cy="2190750"/>
            <a:chOff x="0" y="0"/>
            <a:chExt cx="4699000" cy="2921000"/>
          </a:xfrm>
        </p:grpSpPr>
        <p:grpSp>
          <p:nvGrpSpPr>
            <p:cNvPr name="Group 21" id="21"/>
            <p:cNvGrpSpPr/>
            <p:nvPr/>
          </p:nvGrpSpPr>
          <p:grpSpPr>
            <a:xfrm rot="0">
              <a:off x="0" y="0"/>
              <a:ext cx="4699000" cy="2921000"/>
              <a:chOff x="0" y="0"/>
              <a:chExt cx="4699000" cy="2921000"/>
            </a:xfrm>
          </p:grpSpPr>
          <p:sp>
            <p:nvSpPr>
              <p:cNvPr name="Freeform 22" id="22"/>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23" id="23"/>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24" id="24"/>
            <p:cNvGrpSpPr/>
            <p:nvPr/>
          </p:nvGrpSpPr>
          <p:grpSpPr>
            <a:xfrm rot="0">
              <a:off x="0" y="0"/>
              <a:ext cx="152400" cy="2921000"/>
              <a:chOff x="0" y="0"/>
              <a:chExt cx="152400" cy="2921000"/>
            </a:xfrm>
          </p:grpSpPr>
          <p:sp>
            <p:nvSpPr>
              <p:cNvPr name="Freeform 25" id="25"/>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EF6B5B"/>
              </a:solidFill>
              <a:ln cap="sq">
                <a:noFill/>
                <a:prstDash val="solid"/>
                <a:miter/>
              </a:ln>
            </p:spPr>
          </p:sp>
          <p:sp>
            <p:nvSpPr>
              <p:cNvPr name="TextBox 26" id="26"/>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27" id="27"/>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FAMILY HISTORY</a:t>
              </a:r>
            </a:p>
          </p:txBody>
        </p:sp>
        <p:sp>
          <p:nvSpPr>
            <p:cNvPr name="TextBox 28" id="28"/>
            <p:cNvSpPr txBox="true"/>
            <p:nvPr/>
          </p:nvSpPr>
          <p:spPr>
            <a:xfrm rot="0">
              <a:off x="355600" y="1244600"/>
              <a:ext cx="4064000" cy="4419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yes dominates</a:t>
              </a:r>
            </a:p>
          </p:txBody>
        </p:sp>
      </p:grpSp>
      <p:grpSp>
        <p:nvGrpSpPr>
          <p:cNvPr name="Group 29" id="29"/>
          <p:cNvGrpSpPr/>
          <p:nvPr/>
        </p:nvGrpSpPr>
        <p:grpSpPr>
          <a:xfrm rot="0">
            <a:off x="13134975" y="2381250"/>
            <a:ext cx="3524250" cy="2190750"/>
            <a:chOff x="0" y="0"/>
            <a:chExt cx="4699000" cy="2921000"/>
          </a:xfrm>
        </p:grpSpPr>
        <p:grpSp>
          <p:nvGrpSpPr>
            <p:cNvPr name="Group 30" id="30"/>
            <p:cNvGrpSpPr/>
            <p:nvPr/>
          </p:nvGrpSpPr>
          <p:grpSpPr>
            <a:xfrm rot="0">
              <a:off x="0" y="0"/>
              <a:ext cx="4699000" cy="2921000"/>
              <a:chOff x="0" y="0"/>
              <a:chExt cx="4699000" cy="2921000"/>
            </a:xfrm>
          </p:grpSpPr>
          <p:sp>
            <p:nvSpPr>
              <p:cNvPr name="Freeform 31" id="31"/>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32" id="32"/>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33" id="33"/>
            <p:cNvGrpSpPr/>
            <p:nvPr/>
          </p:nvGrpSpPr>
          <p:grpSpPr>
            <a:xfrm rot="0">
              <a:off x="0" y="0"/>
              <a:ext cx="152400" cy="2921000"/>
              <a:chOff x="0" y="0"/>
              <a:chExt cx="152400" cy="2921000"/>
            </a:xfrm>
          </p:grpSpPr>
          <p:sp>
            <p:nvSpPr>
              <p:cNvPr name="Freeform 34" id="34"/>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D9A441"/>
              </a:solidFill>
              <a:ln cap="sq">
                <a:noFill/>
                <a:prstDash val="solid"/>
                <a:miter/>
              </a:ln>
            </p:spPr>
          </p:sp>
          <p:sp>
            <p:nvSpPr>
              <p:cNvPr name="TextBox 35" id="35"/>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36" id="36"/>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HIGH-CAL FOOD</a:t>
              </a:r>
            </a:p>
          </p:txBody>
        </p:sp>
        <p:sp>
          <p:nvSpPr>
            <p:cNvPr name="TextBox 37" id="37"/>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frequent is common</a:t>
              </a:r>
            </a:p>
          </p:txBody>
        </p:sp>
      </p:grpSp>
      <p:grpSp>
        <p:nvGrpSpPr>
          <p:cNvPr name="Group 38" id="38"/>
          <p:cNvGrpSpPr/>
          <p:nvPr/>
        </p:nvGrpSpPr>
        <p:grpSpPr>
          <a:xfrm rot="0">
            <a:off x="990600" y="5334000"/>
            <a:ext cx="3524250" cy="2190750"/>
            <a:chOff x="0" y="0"/>
            <a:chExt cx="4699000" cy="2921000"/>
          </a:xfrm>
        </p:grpSpPr>
        <p:grpSp>
          <p:nvGrpSpPr>
            <p:cNvPr name="Group 39" id="39"/>
            <p:cNvGrpSpPr/>
            <p:nvPr/>
          </p:nvGrpSpPr>
          <p:grpSpPr>
            <a:xfrm rot="0">
              <a:off x="0" y="0"/>
              <a:ext cx="4699000" cy="2921000"/>
              <a:chOff x="0" y="0"/>
              <a:chExt cx="4699000" cy="2921000"/>
            </a:xfrm>
          </p:grpSpPr>
          <p:sp>
            <p:nvSpPr>
              <p:cNvPr name="Freeform 40" id="40"/>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41" id="41"/>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42" id="42"/>
            <p:cNvGrpSpPr/>
            <p:nvPr/>
          </p:nvGrpSpPr>
          <p:grpSpPr>
            <a:xfrm rot="0">
              <a:off x="0" y="0"/>
              <a:ext cx="152400" cy="2921000"/>
              <a:chOff x="0" y="0"/>
              <a:chExt cx="152400" cy="2921000"/>
            </a:xfrm>
          </p:grpSpPr>
          <p:sp>
            <p:nvSpPr>
              <p:cNvPr name="Freeform 43" id="43"/>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1D8A85"/>
              </a:solidFill>
              <a:ln cap="sq">
                <a:noFill/>
                <a:prstDash val="solid"/>
                <a:miter/>
              </a:ln>
            </p:spPr>
          </p:sp>
          <p:sp>
            <p:nvSpPr>
              <p:cNvPr name="TextBox 44" id="44"/>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45" id="45"/>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SNACKING</a:t>
              </a:r>
            </a:p>
          </p:txBody>
        </p:sp>
        <p:sp>
          <p:nvSpPr>
            <p:cNvPr name="TextBox 46" id="46"/>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sometimes dominates</a:t>
              </a:r>
            </a:p>
          </p:txBody>
        </p:sp>
      </p:grpSp>
      <p:grpSp>
        <p:nvGrpSpPr>
          <p:cNvPr name="Group 47" id="47"/>
          <p:cNvGrpSpPr/>
          <p:nvPr/>
        </p:nvGrpSpPr>
        <p:grpSpPr>
          <a:xfrm rot="0">
            <a:off x="5038725" y="5334000"/>
            <a:ext cx="3524250" cy="2190750"/>
            <a:chOff x="0" y="0"/>
            <a:chExt cx="4699000" cy="2921000"/>
          </a:xfrm>
        </p:grpSpPr>
        <p:grpSp>
          <p:nvGrpSpPr>
            <p:cNvPr name="Group 48" id="48"/>
            <p:cNvGrpSpPr/>
            <p:nvPr/>
          </p:nvGrpSpPr>
          <p:grpSpPr>
            <a:xfrm rot="0">
              <a:off x="0" y="0"/>
              <a:ext cx="4699000" cy="2921000"/>
              <a:chOff x="0" y="0"/>
              <a:chExt cx="4699000" cy="2921000"/>
            </a:xfrm>
          </p:grpSpPr>
          <p:sp>
            <p:nvSpPr>
              <p:cNvPr name="Freeform 49" id="49"/>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50" id="50"/>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51" id="51"/>
            <p:cNvGrpSpPr/>
            <p:nvPr/>
          </p:nvGrpSpPr>
          <p:grpSpPr>
            <a:xfrm rot="0">
              <a:off x="0" y="0"/>
              <a:ext cx="152400" cy="2921000"/>
              <a:chOff x="0" y="0"/>
              <a:chExt cx="152400" cy="2921000"/>
            </a:xfrm>
          </p:grpSpPr>
          <p:sp>
            <p:nvSpPr>
              <p:cNvPr name="Freeform 52" id="52"/>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17313B"/>
              </a:solidFill>
              <a:ln cap="sq">
                <a:noFill/>
                <a:prstDash val="solid"/>
                <a:miter/>
              </a:ln>
            </p:spPr>
          </p:sp>
          <p:sp>
            <p:nvSpPr>
              <p:cNvPr name="TextBox 53" id="53"/>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54" id="54"/>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ACTIVITY</a:t>
              </a:r>
            </a:p>
          </p:txBody>
        </p:sp>
        <p:sp>
          <p:nvSpPr>
            <p:cNvPr name="TextBox 55" id="55"/>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low-to-moderate center</a:t>
              </a:r>
            </a:p>
          </p:txBody>
        </p:sp>
      </p:grpSp>
      <p:grpSp>
        <p:nvGrpSpPr>
          <p:cNvPr name="Group 56" id="56"/>
          <p:cNvGrpSpPr/>
          <p:nvPr/>
        </p:nvGrpSpPr>
        <p:grpSpPr>
          <a:xfrm rot="0">
            <a:off x="9086850" y="5334000"/>
            <a:ext cx="3524250" cy="2190750"/>
            <a:chOff x="0" y="0"/>
            <a:chExt cx="4699000" cy="2921000"/>
          </a:xfrm>
        </p:grpSpPr>
        <p:grpSp>
          <p:nvGrpSpPr>
            <p:cNvPr name="Group 57" id="57"/>
            <p:cNvGrpSpPr/>
            <p:nvPr/>
          </p:nvGrpSpPr>
          <p:grpSpPr>
            <a:xfrm rot="0">
              <a:off x="0" y="0"/>
              <a:ext cx="4699000" cy="2921000"/>
              <a:chOff x="0" y="0"/>
              <a:chExt cx="4699000" cy="2921000"/>
            </a:xfrm>
          </p:grpSpPr>
          <p:sp>
            <p:nvSpPr>
              <p:cNvPr name="Freeform 58" id="58"/>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59" id="59"/>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60" id="60"/>
            <p:cNvGrpSpPr/>
            <p:nvPr/>
          </p:nvGrpSpPr>
          <p:grpSpPr>
            <a:xfrm rot="0">
              <a:off x="0" y="0"/>
              <a:ext cx="152400" cy="2921000"/>
              <a:chOff x="0" y="0"/>
              <a:chExt cx="152400" cy="2921000"/>
            </a:xfrm>
          </p:grpSpPr>
          <p:sp>
            <p:nvSpPr>
              <p:cNvPr name="Freeform 61" id="61"/>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EF6B5B"/>
              </a:solidFill>
              <a:ln cap="sq">
                <a:noFill/>
                <a:prstDash val="solid"/>
                <a:miter/>
              </a:ln>
            </p:spPr>
          </p:sp>
          <p:sp>
            <p:nvSpPr>
              <p:cNvPr name="TextBox 62" id="62"/>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63" id="63"/>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TECH TIME</a:t>
              </a:r>
            </a:p>
          </p:txBody>
        </p:sp>
        <p:sp>
          <p:nvSpPr>
            <p:cNvPr name="TextBox 64" id="64"/>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mostly low / medium</a:t>
              </a:r>
            </a:p>
          </p:txBody>
        </p:sp>
      </p:grpSp>
      <p:grpSp>
        <p:nvGrpSpPr>
          <p:cNvPr name="Group 65" id="65"/>
          <p:cNvGrpSpPr/>
          <p:nvPr/>
        </p:nvGrpSpPr>
        <p:grpSpPr>
          <a:xfrm rot="0">
            <a:off x="13134975" y="5334000"/>
            <a:ext cx="3524250" cy="2190750"/>
            <a:chOff x="0" y="0"/>
            <a:chExt cx="4699000" cy="2921000"/>
          </a:xfrm>
        </p:grpSpPr>
        <p:grpSp>
          <p:nvGrpSpPr>
            <p:cNvPr name="Group 66" id="66"/>
            <p:cNvGrpSpPr/>
            <p:nvPr/>
          </p:nvGrpSpPr>
          <p:grpSpPr>
            <a:xfrm rot="0">
              <a:off x="0" y="0"/>
              <a:ext cx="4699000" cy="2921000"/>
              <a:chOff x="0" y="0"/>
              <a:chExt cx="4699000" cy="2921000"/>
            </a:xfrm>
          </p:grpSpPr>
          <p:sp>
            <p:nvSpPr>
              <p:cNvPr name="Freeform 67" id="67"/>
              <p:cNvSpPr/>
              <p:nvPr/>
            </p:nvSpPr>
            <p:spPr>
              <a:xfrm flipH="false" flipV="false" rot="0">
                <a:off x="0" y="0"/>
                <a:ext cx="4699000" cy="2921000"/>
              </a:xfrm>
              <a:custGeom>
                <a:avLst/>
                <a:gdLst/>
                <a:ahLst/>
                <a:cxnLst/>
                <a:rect r="r" b="b" t="t" l="l"/>
                <a:pathLst>
                  <a:path h="2921000" w="4699000">
                    <a:moveTo>
                      <a:pt x="0" y="0"/>
                    </a:moveTo>
                    <a:lnTo>
                      <a:pt x="4699000" y="0"/>
                    </a:lnTo>
                    <a:lnTo>
                      <a:pt x="4699000" y="2921000"/>
                    </a:lnTo>
                    <a:lnTo>
                      <a:pt x="0" y="2921000"/>
                    </a:lnTo>
                    <a:close/>
                  </a:path>
                </a:pathLst>
              </a:custGeom>
              <a:solidFill>
                <a:srgbClr val="FFFFFF"/>
              </a:solidFill>
              <a:ln cap="sq">
                <a:noFill/>
                <a:prstDash val="solid"/>
                <a:miter/>
              </a:ln>
            </p:spPr>
          </p:sp>
          <p:sp>
            <p:nvSpPr>
              <p:cNvPr name="TextBox 68" id="68"/>
              <p:cNvSpPr txBox="true"/>
              <p:nvPr/>
            </p:nvSpPr>
            <p:spPr>
              <a:xfrm>
                <a:off x="0" y="-38100"/>
                <a:ext cx="4699000" cy="2959100"/>
              </a:xfrm>
              <a:prstGeom prst="rect">
                <a:avLst/>
              </a:prstGeom>
            </p:spPr>
            <p:txBody>
              <a:bodyPr anchor="ctr" rtlCol="false" tIns="50800" lIns="50800" bIns="50800" rIns="50800"/>
              <a:lstStyle/>
              <a:p>
                <a:pPr algn="l">
                  <a:lnSpc>
                    <a:spcPts val="1679"/>
                  </a:lnSpc>
                </a:pPr>
              </a:p>
            </p:txBody>
          </p:sp>
        </p:grpSp>
        <p:grpSp>
          <p:nvGrpSpPr>
            <p:cNvPr name="Group 69" id="69"/>
            <p:cNvGrpSpPr/>
            <p:nvPr/>
          </p:nvGrpSpPr>
          <p:grpSpPr>
            <a:xfrm rot="0">
              <a:off x="0" y="0"/>
              <a:ext cx="152400" cy="2921000"/>
              <a:chOff x="0" y="0"/>
              <a:chExt cx="152400" cy="2921000"/>
            </a:xfrm>
          </p:grpSpPr>
          <p:sp>
            <p:nvSpPr>
              <p:cNvPr name="Freeform 70" id="70"/>
              <p:cNvSpPr/>
              <p:nvPr/>
            </p:nvSpPr>
            <p:spPr>
              <a:xfrm flipH="false" flipV="false" rot="0">
                <a:off x="0" y="0"/>
                <a:ext cx="152400" cy="2921000"/>
              </a:xfrm>
              <a:custGeom>
                <a:avLst/>
                <a:gdLst/>
                <a:ahLst/>
                <a:cxnLst/>
                <a:rect r="r" b="b" t="t" l="l"/>
                <a:pathLst>
                  <a:path h="2921000" w="152400">
                    <a:moveTo>
                      <a:pt x="0" y="0"/>
                    </a:moveTo>
                    <a:lnTo>
                      <a:pt x="152400" y="0"/>
                    </a:lnTo>
                    <a:lnTo>
                      <a:pt x="152400" y="2921000"/>
                    </a:lnTo>
                    <a:lnTo>
                      <a:pt x="0" y="2921000"/>
                    </a:lnTo>
                    <a:close/>
                  </a:path>
                </a:pathLst>
              </a:custGeom>
              <a:solidFill>
                <a:srgbClr val="D9A441"/>
              </a:solidFill>
              <a:ln cap="sq">
                <a:noFill/>
                <a:prstDash val="solid"/>
                <a:miter/>
              </a:ln>
            </p:spPr>
          </p:sp>
          <p:sp>
            <p:nvSpPr>
              <p:cNvPr name="TextBox 71" id="71"/>
              <p:cNvSpPr txBox="true"/>
              <p:nvPr/>
            </p:nvSpPr>
            <p:spPr>
              <a:xfrm>
                <a:off x="0" y="-38100"/>
                <a:ext cx="152400" cy="2959100"/>
              </a:xfrm>
              <a:prstGeom prst="rect">
                <a:avLst/>
              </a:prstGeom>
            </p:spPr>
            <p:txBody>
              <a:bodyPr anchor="ctr" rtlCol="false" tIns="50800" lIns="50800" bIns="50800" rIns="50800"/>
              <a:lstStyle/>
              <a:p>
                <a:pPr algn="l">
                  <a:lnSpc>
                    <a:spcPts val="1679"/>
                  </a:lnSpc>
                </a:pPr>
              </a:p>
            </p:txBody>
          </p:sp>
        </p:grpSp>
        <p:sp>
          <p:nvSpPr>
            <p:cNvPr name="TextBox 72" id="72"/>
            <p:cNvSpPr txBox="true"/>
            <p:nvPr/>
          </p:nvSpPr>
          <p:spPr>
            <a:xfrm rot="0">
              <a:off x="355600" y="377825"/>
              <a:ext cx="4064000" cy="343535"/>
            </a:xfrm>
            <a:prstGeom prst="rect">
              <a:avLst/>
            </a:prstGeom>
          </p:spPr>
          <p:txBody>
            <a:bodyPr anchor="t" rtlCol="false" tIns="0" lIns="0" bIns="0" rIns="0">
              <a:spAutoFit/>
            </a:bodyPr>
            <a:lstStyle/>
            <a:p>
              <a:pPr algn="l">
                <a:lnSpc>
                  <a:spcPts val="2204"/>
                </a:lnSpc>
              </a:pPr>
              <a:r>
                <a:rPr lang="en-US" sz="1575" spc="189" b="true">
                  <a:solidFill>
                    <a:srgbClr val="1D8A85"/>
                  </a:solidFill>
                  <a:latin typeface="IBM Plex Mono Bold"/>
                  <a:ea typeface="IBM Plex Mono Bold"/>
                  <a:cs typeface="IBM Plex Mono Bold"/>
                  <a:sym typeface="IBM Plex Mono Bold"/>
                </a:rPr>
                <a:t>COMMUTE</a:t>
              </a:r>
            </a:p>
          </p:txBody>
        </p:sp>
        <p:sp>
          <p:nvSpPr>
            <p:cNvPr name="TextBox 73" id="73"/>
            <p:cNvSpPr txBox="true"/>
            <p:nvPr/>
          </p:nvSpPr>
          <p:spPr>
            <a:xfrm rot="0">
              <a:off x="355600" y="1244600"/>
              <a:ext cx="4064000" cy="861060"/>
            </a:xfrm>
            <a:prstGeom prst="rect">
              <a:avLst/>
            </a:prstGeom>
          </p:spPr>
          <p:txBody>
            <a:bodyPr anchor="t" rtlCol="false" tIns="0" lIns="0" bIns="0" rIns="0">
              <a:spAutoFit/>
            </a:bodyPr>
            <a:lstStyle/>
            <a:p>
              <a:pPr algn="l">
                <a:lnSpc>
                  <a:spcPts val="2520"/>
                </a:lnSpc>
              </a:pPr>
              <a:r>
                <a:rPr lang="en-US" sz="2400" b="true">
                  <a:solidFill>
                    <a:srgbClr val="17313B"/>
                  </a:solidFill>
                  <a:latin typeface="Montserrat Bold"/>
                  <a:ea typeface="Montserrat Bold"/>
                  <a:cs typeface="Montserrat Bold"/>
                  <a:sym typeface="Montserrat Bold"/>
                </a:rPr>
                <a:t>public transport leads</a:t>
              </a:r>
            </a:p>
          </p:txBody>
        </p:sp>
      </p:grpSp>
      <p:grpSp>
        <p:nvGrpSpPr>
          <p:cNvPr name="Group 74" id="74"/>
          <p:cNvGrpSpPr/>
          <p:nvPr/>
        </p:nvGrpSpPr>
        <p:grpSpPr>
          <a:xfrm rot="0">
            <a:off x="990600" y="9258300"/>
            <a:ext cx="16593782" cy="422910"/>
            <a:chOff x="0" y="0"/>
            <a:chExt cx="22125042" cy="563880"/>
          </a:xfrm>
        </p:grpSpPr>
        <p:sp>
          <p:nvSpPr>
            <p:cNvPr name="AutoShape 75" id="75"/>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76" id="76"/>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77" id="77"/>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04/22</a:t>
              </a:r>
            </a:p>
          </p:txBody>
        </p:sp>
      </p:grpSp>
    </p:spTree>
  </p:cSld>
  <p:clrMapOvr>
    <a:masterClrMapping/>
  </p:clrMapOvr>
</p:sld>
</file>

<file path=ppt/slides/slide5.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Dataset at a glance</a:t>
            </a:r>
          </a:p>
        </p:txBody>
      </p:sp>
      <p:grpSp>
        <p:nvGrpSpPr>
          <p:cNvPr name="Group 3" id="3"/>
          <p:cNvGrpSpPr/>
          <p:nvPr/>
        </p:nvGrpSpPr>
        <p:grpSpPr>
          <a:xfrm rot="0">
            <a:off x="990600" y="2209800"/>
            <a:ext cx="3333750" cy="1809750"/>
            <a:chOff x="0" y="0"/>
            <a:chExt cx="4445000" cy="2413000"/>
          </a:xfrm>
        </p:grpSpPr>
        <p:grpSp>
          <p:nvGrpSpPr>
            <p:cNvPr name="Group 4" id="4"/>
            <p:cNvGrpSpPr/>
            <p:nvPr/>
          </p:nvGrpSpPr>
          <p:grpSpPr>
            <a:xfrm rot="0">
              <a:off x="0" y="0"/>
              <a:ext cx="4445000" cy="2413000"/>
              <a:chOff x="0" y="0"/>
              <a:chExt cx="4445000" cy="2413000"/>
            </a:xfrm>
          </p:grpSpPr>
          <p:sp>
            <p:nvSpPr>
              <p:cNvPr name="Freeform 5" id="5"/>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1D8A85"/>
              </a:solidFill>
              <a:ln cap="sq">
                <a:noFill/>
                <a:prstDash val="solid"/>
                <a:miter/>
              </a:ln>
            </p:spPr>
          </p:sp>
          <p:sp>
            <p:nvSpPr>
              <p:cNvPr name="TextBox 6" id="6"/>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0" y="304800"/>
              <a:ext cx="4445000" cy="1101090"/>
            </a:xfrm>
            <a:prstGeom prst="rect">
              <a:avLst/>
            </a:prstGeom>
          </p:spPr>
          <p:txBody>
            <a:bodyPr anchor="t" rtlCol="false" tIns="0" lIns="0" bIns="0" rIns="0">
              <a:spAutoFit/>
            </a:bodyPr>
            <a:lstStyle/>
            <a:p>
              <a:pPr algn="l">
                <a:lnSpc>
                  <a:spcPts val="6142"/>
                </a:lnSpc>
              </a:pPr>
              <a:r>
                <a:rPr lang="en-US" sz="5850" b="true">
                  <a:solidFill>
                    <a:srgbClr val="17313B"/>
                  </a:solidFill>
                  <a:latin typeface="Montserrat Bold"/>
                  <a:ea typeface="Montserrat Bold"/>
                  <a:cs typeface="Montserrat Bold"/>
                  <a:sym typeface="Montserrat Bold"/>
                </a:rPr>
                <a:t>2,111</a:t>
              </a:r>
            </a:p>
          </p:txBody>
        </p:sp>
        <p:sp>
          <p:nvSpPr>
            <p:cNvPr name="TextBox 8" id="8"/>
            <p:cNvSpPr txBox="true"/>
            <p:nvPr/>
          </p:nvSpPr>
          <p:spPr>
            <a:xfrm rot="0">
              <a:off x="0" y="1470025"/>
              <a:ext cx="4445000" cy="389255"/>
            </a:xfrm>
            <a:prstGeom prst="rect">
              <a:avLst/>
            </a:prstGeom>
          </p:spPr>
          <p:txBody>
            <a:bodyPr anchor="t" rtlCol="false" tIns="0" lIns="0" bIns="0" rIns="0">
              <a:spAutoFit/>
            </a:bodyPr>
            <a:lstStyle/>
            <a:p>
              <a:pPr algn="l">
                <a:lnSpc>
                  <a:spcPts val="2430"/>
                </a:lnSpc>
              </a:pPr>
              <a:r>
                <a:rPr lang="en-US" sz="1800">
                  <a:solidFill>
                    <a:srgbClr val="17313B"/>
                  </a:solidFill>
                  <a:latin typeface="Source Sans 3"/>
                  <a:ea typeface="Source Sans 3"/>
                  <a:cs typeface="Source Sans 3"/>
                  <a:sym typeface="Source Sans 3"/>
                </a:rPr>
                <a:t>observations</a:t>
              </a:r>
            </a:p>
          </p:txBody>
        </p:sp>
      </p:grpSp>
      <p:grpSp>
        <p:nvGrpSpPr>
          <p:cNvPr name="Group 9" id="9"/>
          <p:cNvGrpSpPr/>
          <p:nvPr/>
        </p:nvGrpSpPr>
        <p:grpSpPr>
          <a:xfrm rot="0">
            <a:off x="5038725" y="2209800"/>
            <a:ext cx="3333750" cy="1809750"/>
            <a:chOff x="0" y="0"/>
            <a:chExt cx="4445000" cy="2413000"/>
          </a:xfrm>
        </p:grpSpPr>
        <p:grpSp>
          <p:nvGrpSpPr>
            <p:cNvPr name="Group 10" id="10"/>
            <p:cNvGrpSpPr/>
            <p:nvPr/>
          </p:nvGrpSpPr>
          <p:grpSpPr>
            <a:xfrm rot="0">
              <a:off x="0" y="0"/>
              <a:ext cx="4445000" cy="2413000"/>
              <a:chOff x="0" y="0"/>
              <a:chExt cx="4445000" cy="2413000"/>
            </a:xfrm>
          </p:grpSpPr>
          <p:sp>
            <p:nvSpPr>
              <p:cNvPr name="Freeform 11" id="11"/>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FFFFFF"/>
              </a:solidFill>
              <a:ln cap="sq">
                <a:noFill/>
                <a:prstDash val="solid"/>
                <a:miter/>
              </a:ln>
            </p:spPr>
          </p:sp>
          <p:sp>
            <p:nvSpPr>
              <p:cNvPr name="TextBox 12" id="12"/>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0" y="304800"/>
              <a:ext cx="4445000" cy="1101090"/>
            </a:xfrm>
            <a:prstGeom prst="rect">
              <a:avLst/>
            </a:prstGeom>
          </p:spPr>
          <p:txBody>
            <a:bodyPr anchor="t" rtlCol="false" tIns="0" lIns="0" bIns="0" rIns="0">
              <a:spAutoFit/>
            </a:bodyPr>
            <a:lstStyle/>
            <a:p>
              <a:pPr algn="l">
                <a:lnSpc>
                  <a:spcPts val="6142"/>
                </a:lnSpc>
              </a:pPr>
              <a:r>
                <a:rPr lang="en-US" sz="5850" b="true">
                  <a:solidFill>
                    <a:srgbClr val="17313B"/>
                  </a:solidFill>
                  <a:latin typeface="Montserrat Bold"/>
                  <a:ea typeface="Montserrat Bold"/>
                  <a:cs typeface="Montserrat Bold"/>
                  <a:sym typeface="Montserrat Bold"/>
                </a:rPr>
                <a:t>16</a:t>
              </a:r>
            </a:p>
          </p:txBody>
        </p:sp>
        <p:sp>
          <p:nvSpPr>
            <p:cNvPr name="TextBox 14" id="14"/>
            <p:cNvSpPr txBox="true"/>
            <p:nvPr/>
          </p:nvSpPr>
          <p:spPr>
            <a:xfrm rot="0">
              <a:off x="0" y="1470025"/>
              <a:ext cx="4445000" cy="389255"/>
            </a:xfrm>
            <a:prstGeom prst="rect">
              <a:avLst/>
            </a:prstGeom>
          </p:spPr>
          <p:txBody>
            <a:bodyPr anchor="t" rtlCol="false" tIns="0" lIns="0" bIns="0" rIns="0">
              <a:spAutoFit/>
            </a:bodyPr>
            <a:lstStyle/>
            <a:p>
              <a:pPr algn="l">
                <a:lnSpc>
                  <a:spcPts val="2430"/>
                </a:lnSpc>
              </a:pPr>
              <a:r>
                <a:rPr lang="en-US" sz="1800">
                  <a:solidFill>
                    <a:srgbClr val="17313B"/>
                  </a:solidFill>
                  <a:latin typeface="Source Sans 3"/>
                  <a:ea typeface="Source Sans 3"/>
                  <a:cs typeface="Source Sans 3"/>
                  <a:sym typeface="Source Sans 3"/>
                </a:rPr>
                <a:t>predictors</a:t>
              </a:r>
            </a:p>
          </p:txBody>
        </p:sp>
      </p:grpSp>
      <p:grpSp>
        <p:nvGrpSpPr>
          <p:cNvPr name="Group 15" id="15"/>
          <p:cNvGrpSpPr/>
          <p:nvPr/>
        </p:nvGrpSpPr>
        <p:grpSpPr>
          <a:xfrm rot="0">
            <a:off x="9086850" y="2209800"/>
            <a:ext cx="3333750" cy="1809750"/>
            <a:chOff x="0" y="0"/>
            <a:chExt cx="4445000" cy="2413000"/>
          </a:xfrm>
        </p:grpSpPr>
        <p:grpSp>
          <p:nvGrpSpPr>
            <p:cNvPr name="Group 16" id="16"/>
            <p:cNvGrpSpPr/>
            <p:nvPr/>
          </p:nvGrpSpPr>
          <p:grpSpPr>
            <a:xfrm rot="0">
              <a:off x="0" y="0"/>
              <a:ext cx="4445000" cy="2413000"/>
              <a:chOff x="0" y="0"/>
              <a:chExt cx="4445000" cy="2413000"/>
            </a:xfrm>
          </p:grpSpPr>
          <p:sp>
            <p:nvSpPr>
              <p:cNvPr name="Freeform 17" id="17"/>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FFFFFF"/>
              </a:solidFill>
              <a:ln cap="sq">
                <a:noFill/>
                <a:prstDash val="solid"/>
                <a:miter/>
              </a:ln>
            </p:spPr>
          </p:sp>
          <p:sp>
            <p:nvSpPr>
              <p:cNvPr name="TextBox 18" id="18"/>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0" y="304800"/>
              <a:ext cx="4445000" cy="1101090"/>
            </a:xfrm>
            <a:prstGeom prst="rect">
              <a:avLst/>
            </a:prstGeom>
          </p:spPr>
          <p:txBody>
            <a:bodyPr anchor="t" rtlCol="false" tIns="0" lIns="0" bIns="0" rIns="0">
              <a:spAutoFit/>
            </a:bodyPr>
            <a:lstStyle/>
            <a:p>
              <a:pPr algn="l">
                <a:lnSpc>
                  <a:spcPts val="6142"/>
                </a:lnSpc>
              </a:pPr>
              <a:r>
                <a:rPr lang="en-US" sz="5850" b="true">
                  <a:solidFill>
                    <a:srgbClr val="17313B"/>
                  </a:solidFill>
                  <a:latin typeface="Montserrat Bold"/>
                  <a:ea typeface="Montserrat Bold"/>
                  <a:cs typeface="Montserrat Bold"/>
                  <a:sym typeface="Montserrat Bold"/>
                </a:rPr>
                <a:t>7</a:t>
              </a:r>
            </a:p>
          </p:txBody>
        </p:sp>
        <p:sp>
          <p:nvSpPr>
            <p:cNvPr name="TextBox 20" id="20"/>
            <p:cNvSpPr txBox="true"/>
            <p:nvPr/>
          </p:nvSpPr>
          <p:spPr>
            <a:xfrm rot="0">
              <a:off x="0" y="1470025"/>
              <a:ext cx="4445000" cy="389255"/>
            </a:xfrm>
            <a:prstGeom prst="rect">
              <a:avLst/>
            </a:prstGeom>
          </p:spPr>
          <p:txBody>
            <a:bodyPr anchor="t" rtlCol="false" tIns="0" lIns="0" bIns="0" rIns="0">
              <a:spAutoFit/>
            </a:bodyPr>
            <a:lstStyle/>
            <a:p>
              <a:pPr algn="l">
                <a:lnSpc>
                  <a:spcPts val="2430"/>
                </a:lnSpc>
              </a:pPr>
              <a:r>
                <a:rPr lang="en-US" sz="1800">
                  <a:solidFill>
                    <a:srgbClr val="17313B"/>
                  </a:solidFill>
                  <a:latin typeface="Source Sans 3"/>
                  <a:ea typeface="Source Sans 3"/>
                  <a:cs typeface="Source Sans 3"/>
                  <a:sym typeface="Source Sans 3"/>
                </a:rPr>
                <a:t>ordered weight classes</a:t>
              </a:r>
            </a:p>
          </p:txBody>
        </p:sp>
      </p:grpSp>
      <p:grpSp>
        <p:nvGrpSpPr>
          <p:cNvPr name="Group 21" id="21"/>
          <p:cNvGrpSpPr/>
          <p:nvPr/>
        </p:nvGrpSpPr>
        <p:grpSpPr>
          <a:xfrm rot="0">
            <a:off x="13134975" y="2209800"/>
            <a:ext cx="3333750" cy="1809750"/>
            <a:chOff x="0" y="0"/>
            <a:chExt cx="4445000" cy="2413000"/>
          </a:xfrm>
        </p:grpSpPr>
        <p:grpSp>
          <p:nvGrpSpPr>
            <p:cNvPr name="Group 22" id="22"/>
            <p:cNvGrpSpPr/>
            <p:nvPr/>
          </p:nvGrpSpPr>
          <p:grpSpPr>
            <a:xfrm rot="0">
              <a:off x="0" y="0"/>
              <a:ext cx="4445000" cy="2413000"/>
              <a:chOff x="0" y="0"/>
              <a:chExt cx="4445000" cy="2413000"/>
            </a:xfrm>
          </p:grpSpPr>
          <p:sp>
            <p:nvSpPr>
              <p:cNvPr name="Freeform 23" id="23"/>
              <p:cNvSpPr/>
              <p:nvPr/>
            </p:nvSpPr>
            <p:spPr>
              <a:xfrm flipH="false" flipV="false" rot="0">
                <a:off x="0" y="0"/>
                <a:ext cx="4445000" cy="2413000"/>
              </a:xfrm>
              <a:custGeom>
                <a:avLst/>
                <a:gdLst/>
                <a:ahLst/>
                <a:cxnLst/>
                <a:rect r="r" b="b" t="t" l="l"/>
                <a:pathLst>
                  <a:path h="2413000" w="4445000">
                    <a:moveTo>
                      <a:pt x="0" y="0"/>
                    </a:moveTo>
                    <a:lnTo>
                      <a:pt x="4445000" y="0"/>
                    </a:lnTo>
                    <a:lnTo>
                      <a:pt x="4445000" y="2413000"/>
                    </a:lnTo>
                    <a:lnTo>
                      <a:pt x="0" y="2413000"/>
                    </a:lnTo>
                    <a:close/>
                  </a:path>
                </a:pathLst>
              </a:custGeom>
              <a:solidFill>
                <a:srgbClr val="FFFFFF"/>
              </a:solidFill>
              <a:ln cap="sq">
                <a:noFill/>
                <a:prstDash val="solid"/>
                <a:miter/>
              </a:ln>
            </p:spPr>
          </p:sp>
          <p:sp>
            <p:nvSpPr>
              <p:cNvPr name="TextBox 24" id="24"/>
              <p:cNvSpPr txBox="true"/>
              <p:nvPr/>
            </p:nvSpPr>
            <p:spPr>
              <a:xfrm>
                <a:off x="0" y="-38100"/>
                <a:ext cx="4445000" cy="24511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0" y="304800"/>
              <a:ext cx="4445000" cy="1101090"/>
            </a:xfrm>
            <a:prstGeom prst="rect">
              <a:avLst/>
            </a:prstGeom>
          </p:spPr>
          <p:txBody>
            <a:bodyPr anchor="t" rtlCol="false" tIns="0" lIns="0" bIns="0" rIns="0">
              <a:spAutoFit/>
            </a:bodyPr>
            <a:lstStyle/>
            <a:p>
              <a:pPr algn="l">
                <a:lnSpc>
                  <a:spcPts val="6142"/>
                </a:lnSpc>
              </a:pPr>
              <a:r>
                <a:rPr lang="en-US" sz="5850" b="true">
                  <a:solidFill>
                    <a:srgbClr val="17313B"/>
                  </a:solidFill>
                  <a:latin typeface="Montserrat Bold"/>
                  <a:ea typeface="Montserrat Bold"/>
                  <a:cs typeface="Montserrat Bold"/>
                  <a:sym typeface="Montserrat Bold"/>
                </a:rPr>
                <a:t>3</a:t>
              </a:r>
            </a:p>
          </p:txBody>
        </p:sp>
        <p:sp>
          <p:nvSpPr>
            <p:cNvPr name="TextBox 26" id="26"/>
            <p:cNvSpPr txBox="true"/>
            <p:nvPr/>
          </p:nvSpPr>
          <p:spPr>
            <a:xfrm rot="0">
              <a:off x="0" y="1470025"/>
              <a:ext cx="4445000" cy="389255"/>
            </a:xfrm>
            <a:prstGeom prst="rect">
              <a:avLst/>
            </a:prstGeom>
          </p:spPr>
          <p:txBody>
            <a:bodyPr anchor="t" rtlCol="false" tIns="0" lIns="0" bIns="0" rIns="0">
              <a:spAutoFit/>
            </a:bodyPr>
            <a:lstStyle/>
            <a:p>
              <a:pPr algn="l">
                <a:lnSpc>
                  <a:spcPts val="2430"/>
                </a:lnSpc>
              </a:pPr>
              <a:r>
                <a:rPr lang="en-US" sz="1800">
                  <a:solidFill>
                    <a:srgbClr val="17313B"/>
                  </a:solidFill>
                  <a:latin typeface="Source Sans 3"/>
                  <a:ea typeface="Source Sans 3"/>
                  <a:cs typeface="Source Sans 3"/>
                  <a:sym typeface="Source Sans 3"/>
                </a:rPr>
                <a:t>source countries</a:t>
              </a:r>
            </a:p>
          </p:txBody>
        </p:sp>
      </p:grpSp>
      <p:grpSp>
        <p:nvGrpSpPr>
          <p:cNvPr name="Group 27" id="27"/>
          <p:cNvGrpSpPr/>
          <p:nvPr/>
        </p:nvGrpSpPr>
        <p:grpSpPr>
          <a:xfrm rot="0">
            <a:off x="990600" y="4394597"/>
            <a:ext cx="3118304" cy="1174089"/>
            <a:chOff x="0" y="0"/>
            <a:chExt cx="4157738" cy="1565451"/>
          </a:xfrm>
        </p:grpSpPr>
        <p:grpSp>
          <p:nvGrpSpPr>
            <p:cNvPr name="Group 28" id="28"/>
            <p:cNvGrpSpPr/>
            <p:nvPr/>
          </p:nvGrpSpPr>
          <p:grpSpPr>
            <a:xfrm rot="0">
              <a:off x="0" y="0"/>
              <a:ext cx="4157738" cy="151190"/>
              <a:chOff x="0" y="0"/>
              <a:chExt cx="4191000" cy="152400"/>
            </a:xfrm>
          </p:grpSpPr>
          <p:sp>
            <p:nvSpPr>
              <p:cNvPr name="Freeform 29" id="29"/>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1D8A85"/>
              </a:solidFill>
              <a:ln cap="sq">
                <a:noFill/>
                <a:prstDash val="solid"/>
                <a:miter/>
              </a:ln>
            </p:spPr>
          </p:sp>
          <p:sp>
            <p:nvSpPr>
              <p:cNvPr name="TextBox 30" id="30"/>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0" y="465868"/>
              <a:ext cx="4157738" cy="426156"/>
            </a:xfrm>
            <a:prstGeom prst="rect">
              <a:avLst/>
            </a:prstGeom>
          </p:spPr>
          <p:txBody>
            <a:bodyPr anchor="t" rtlCol="false" tIns="0" lIns="0" bIns="0" rIns="0">
              <a:spAutoFit/>
            </a:bodyPr>
            <a:lstStyle/>
            <a:p>
              <a:pPr algn="l">
                <a:lnSpc>
                  <a:spcPts val="2708"/>
                </a:lnSpc>
              </a:pPr>
              <a:r>
                <a:rPr lang="en-US" sz="1934" spc="232" b="true">
                  <a:solidFill>
                    <a:srgbClr val="1D8A85"/>
                  </a:solidFill>
                  <a:latin typeface="IBM Plex Mono Bold"/>
                  <a:ea typeface="IBM Plex Mono Bold"/>
                  <a:cs typeface="IBM Plex Mono Bold"/>
                  <a:sym typeface="IBM Plex Mono Bold"/>
                </a:rPr>
                <a:t>BODY</a:t>
              </a:r>
            </a:p>
          </p:txBody>
        </p:sp>
        <p:sp>
          <p:nvSpPr>
            <p:cNvPr name="TextBox 32" id="32"/>
            <p:cNvSpPr txBox="true"/>
            <p:nvPr/>
          </p:nvSpPr>
          <p:spPr>
            <a:xfrm rot="0">
              <a:off x="0" y="1168350"/>
              <a:ext cx="4157738" cy="397102"/>
            </a:xfrm>
            <a:prstGeom prst="rect">
              <a:avLst/>
            </a:prstGeom>
          </p:spPr>
          <p:txBody>
            <a:bodyPr anchor="t" rtlCol="false" tIns="0" lIns="0" bIns="0" rIns="0">
              <a:spAutoFit/>
            </a:bodyPr>
            <a:lstStyle/>
            <a:p>
              <a:pPr algn="l">
                <a:lnSpc>
                  <a:spcPts val="2511"/>
                </a:lnSpc>
              </a:pPr>
              <a:r>
                <a:rPr lang="en-US" sz="1860">
                  <a:solidFill>
                    <a:srgbClr val="17313B"/>
                  </a:solidFill>
                  <a:latin typeface="Source Sans 3"/>
                  <a:ea typeface="Source Sans 3"/>
                  <a:cs typeface="Source Sans 3"/>
                  <a:sym typeface="Source Sans 3"/>
                </a:rPr>
                <a:t>Age • height • weight</a:t>
              </a:r>
            </a:p>
          </p:txBody>
        </p:sp>
      </p:grpSp>
      <p:grpSp>
        <p:nvGrpSpPr>
          <p:cNvPr name="Group 33" id="33"/>
          <p:cNvGrpSpPr/>
          <p:nvPr/>
        </p:nvGrpSpPr>
        <p:grpSpPr>
          <a:xfrm rot="0">
            <a:off x="5110540" y="4394597"/>
            <a:ext cx="3118304" cy="1174089"/>
            <a:chOff x="0" y="0"/>
            <a:chExt cx="4157738" cy="1565451"/>
          </a:xfrm>
        </p:grpSpPr>
        <p:grpSp>
          <p:nvGrpSpPr>
            <p:cNvPr name="Group 34" id="34"/>
            <p:cNvGrpSpPr/>
            <p:nvPr/>
          </p:nvGrpSpPr>
          <p:grpSpPr>
            <a:xfrm rot="0">
              <a:off x="0" y="0"/>
              <a:ext cx="4157738" cy="151190"/>
              <a:chOff x="0" y="0"/>
              <a:chExt cx="4191000" cy="152400"/>
            </a:xfrm>
          </p:grpSpPr>
          <p:sp>
            <p:nvSpPr>
              <p:cNvPr name="Freeform 35" id="35"/>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EF6B5B"/>
              </a:solidFill>
              <a:ln cap="sq">
                <a:noFill/>
                <a:prstDash val="solid"/>
                <a:miter/>
              </a:ln>
            </p:spPr>
          </p:sp>
          <p:sp>
            <p:nvSpPr>
              <p:cNvPr name="TextBox 36" id="36"/>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0" y="465868"/>
              <a:ext cx="4157738" cy="426156"/>
            </a:xfrm>
            <a:prstGeom prst="rect">
              <a:avLst/>
            </a:prstGeom>
          </p:spPr>
          <p:txBody>
            <a:bodyPr anchor="t" rtlCol="false" tIns="0" lIns="0" bIns="0" rIns="0">
              <a:spAutoFit/>
            </a:bodyPr>
            <a:lstStyle/>
            <a:p>
              <a:pPr algn="l">
                <a:lnSpc>
                  <a:spcPts val="2708"/>
                </a:lnSpc>
              </a:pPr>
              <a:r>
                <a:rPr lang="en-US" sz="1934" spc="232" b="true">
                  <a:solidFill>
                    <a:srgbClr val="1D8A85"/>
                  </a:solidFill>
                  <a:latin typeface="IBM Plex Mono Bold"/>
                  <a:ea typeface="IBM Plex Mono Bold"/>
                  <a:cs typeface="IBM Plex Mono Bold"/>
                  <a:sym typeface="IBM Plex Mono Bold"/>
                </a:rPr>
                <a:t>EATING</a:t>
              </a:r>
            </a:p>
          </p:txBody>
        </p:sp>
        <p:sp>
          <p:nvSpPr>
            <p:cNvPr name="TextBox 38" id="38"/>
            <p:cNvSpPr txBox="true"/>
            <p:nvPr/>
          </p:nvSpPr>
          <p:spPr>
            <a:xfrm rot="0">
              <a:off x="0" y="1168350"/>
              <a:ext cx="4157738" cy="397102"/>
            </a:xfrm>
            <a:prstGeom prst="rect">
              <a:avLst/>
            </a:prstGeom>
          </p:spPr>
          <p:txBody>
            <a:bodyPr anchor="t" rtlCol="false" tIns="0" lIns="0" bIns="0" rIns="0">
              <a:spAutoFit/>
            </a:bodyPr>
            <a:lstStyle/>
            <a:p>
              <a:pPr algn="l">
                <a:lnSpc>
                  <a:spcPts val="2511"/>
                </a:lnSpc>
              </a:pPr>
              <a:r>
                <a:rPr lang="en-US" sz="1860">
                  <a:solidFill>
                    <a:srgbClr val="17313B"/>
                  </a:solidFill>
                  <a:latin typeface="Source Sans 3"/>
                  <a:ea typeface="Source Sans 3"/>
                  <a:cs typeface="Source Sans 3"/>
                  <a:sym typeface="Source Sans 3"/>
                </a:rPr>
                <a:t>FAVC • meals • snacking • water</a:t>
              </a:r>
            </a:p>
          </p:txBody>
        </p:sp>
      </p:grpSp>
      <p:grpSp>
        <p:nvGrpSpPr>
          <p:cNvPr name="Group 39" id="39"/>
          <p:cNvGrpSpPr/>
          <p:nvPr/>
        </p:nvGrpSpPr>
        <p:grpSpPr>
          <a:xfrm rot="0">
            <a:off x="9230481" y="4394597"/>
            <a:ext cx="3118304" cy="1174089"/>
            <a:chOff x="0" y="0"/>
            <a:chExt cx="4157738" cy="1565451"/>
          </a:xfrm>
        </p:grpSpPr>
        <p:grpSp>
          <p:nvGrpSpPr>
            <p:cNvPr name="Group 40" id="40"/>
            <p:cNvGrpSpPr/>
            <p:nvPr/>
          </p:nvGrpSpPr>
          <p:grpSpPr>
            <a:xfrm rot="0">
              <a:off x="0" y="0"/>
              <a:ext cx="4157738" cy="151190"/>
              <a:chOff x="0" y="0"/>
              <a:chExt cx="4191000" cy="152400"/>
            </a:xfrm>
          </p:grpSpPr>
          <p:sp>
            <p:nvSpPr>
              <p:cNvPr name="Freeform 41" id="41"/>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D9A441"/>
              </a:solidFill>
              <a:ln cap="sq">
                <a:noFill/>
                <a:prstDash val="solid"/>
                <a:miter/>
              </a:ln>
            </p:spPr>
          </p:sp>
          <p:sp>
            <p:nvSpPr>
              <p:cNvPr name="TextBox 42" id="42"/>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43" id="43"/>
            <p:cNvSpPr txBox="true"/>
            <p:nvPr/>
          </p:nvSpPr>
          <p:spPr>
            <a:xfrm rot="0">
              <a:off x="0" y="465868"/>
              <a:ext cx="4157738" cy="426156"/>
            </a:xfrm>
            <a:prstGeom prst="rect">
              <a:avLst/>
            </a:prstGeom>
          </p:spPr>
          <p:txBody>
            <a:bodyPr anchor="t" rtlCol="false" tIns="0" lIns="0" bIns="0" rIns="0">
              <a:spAutoFit/>
            </a:bodyPr>
            <a:lstStyle/>
            <a:p>
              <a:pPr algn="l">
                <a:lnSpc>
                  <a:spcPts val="2708"/>
                </a:lnSpc>
              </a:pPr>
              <a:r>
                <a:rPr lang="en-US" sz="1934" spc="232" b="true">
                  <a:solidFill>
                    <a:srgbClr val="1D8A85"/>
                  </a:solidFill>
                  <a:latin typeface="IBM Plex Mono Bold"/>
                  <a:ea typeface="IBM Plex Mono Bold"/>
                  <a:cs typeface="IBM Plex Mono Bold"/>
                  <a:sym typeface="IBM Plex Mono Bold"/>
                </a:rPr>
                <a:t>ACTIVITY</a:t>
              </a:r>
            </a:p>
          </p:txBody>
        </p:sp>
        <p:sp>
          <p:nvSpPr>
            <p:cNvPr name="TextBox 44" id="44"/>
            <p:cNvSpPr txBox="true"/>
            <p:nvPr/>
          </p:nvSpPr>
          <p:spPr>
            <a:xfrm rot="0">
              <a:off x="0" y="1168350"/>
              <a:ext cx="4157738" cy="397102"/>
            </a:xfrm>
            <a:prstGeom prst="rect">
              <a:avLst/>
            </a:prstGeom>
          </p:spPr>
          <p:txBody>
            <a:bodyPr anchor="t" rtlCol="false" tIns="0" lIns="0" bIns="0" rIns="0">
              <a:spAutoFit/>
            </a:bodyPr>
            <a:lstStyle/>
            <a:p>
              <a:pPr algn="l">
                <a:lnSpc>
                  <a:spcPts val="2511"/>
                </a:lnSpc>
              </a:pPr>
              <a:r>
                <a:rPr lang="en-US" sz="1860">
                  <a:solidFill>
                    <a:srgbClr val="17313B"/>
                  </a:solidFill>
                  <a:latin typeface="Source Sans 3"/>
                  <a:ea typeface="Source Sans 3"/>
                  <a:cs typeface="Source Sans 3"/>
                  <a:sym typeface="Source Sans 3"/>
                </a:rPr>
                <a:t>PA frequency • technology time</a:t>
              </a:r>
            </a:p>
          </p:txBody>
        </p:sp>
      </p:grpSp>
      <p:grpSp>
        <p:nvGrpSpPr>
          <p:cNvPr name="Group 45" id="45"/>
          <p:cNvGrpSpPr/>
          <p:nvPr/>
        </p:nvGrpSpPr>
        <p:grpSpPr>
          <a:xfrm rot="0">
            <a:off x="13350421" y="4394597"/>
            <a:ext cx="3118304" cy="1485919"/>
            <a:chOff x="0" y="0"/>
            <a:chExt cx="4157738" cy="1981225"/>
          </a:xfrm>
        </p:grpSpPr>
        <p:grpSp>
          <p:nvGrpSpPr>
            <p:cNvPr name="Group 46" id="46"/>
            <p:cNvGrpSpPr/>
            <p:nvPr/>
          </p:nvGrpSpPr>
          <p:grpSpPr>
            <a:xfrm rot="0">
              <a:off x="0" y="0"/>
              <a:ext cx="4157738" cy="151190"/>
              <a:chOff x="0" y="0"/>
              <a:chExt cx="4191000" cy="152400"/>
            </a:xfrm>
          </p:grpSpPr>
          <p:sp>
            <p:nvSpPr>
              <p:cNvPr name="Freeform 47" id="47"/>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0B1F2A"/>
              </a:solidFill>
              <a:ln cap="sq">
                <a:noFill/>
                <a:prstDash val="solid"/>
                <a:miter/>
              </a:ln>
            </p:spPr>
          </p:sp>
          <p:sp>
            <p:nvSpPr>
              <p:cNvPr name="TextBox 48" id="48"/>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49" id="49"/>
            <p:cNvSpPr txBox="true"/>
            <p:nvPr/>
          </p:nvSpPr>
          <p:spPr>
            <a:xfrm rot="0">
              <a:off x="0" y="465868"/>
              <a:ext cx="4157738" cy="426156"/>
            </a:xfrm>
            <a:prstGeom prst="rect">
              <a:avLst/>
            </a:prstGeom>
          </p:spPr>
          <p:txBody>
            <a:bodyPr anchor="t" rtlCol="false" tIns="0" lIns="0" bIns="0" rIns="0">
              <a:spAutoFit/>
            </a:bodyPr>
            <a:lstStyle/>
            <a:p>
              <a:pPr algn="l">
                <a:lnSpc>
                  <a:spcPts val="2708"/>
                </a:lnSpc>
              </a:pPr>
              <a:r>
                <a:rPr lang="en-US" sz="1934" spc="232" b="true">
                  <a:solidFill>
                    <a:srgbClr val="1D8A85"/>
                  </a:solidFill>
                  <a:latin typeface="IBM Plex Mono Bold"/>
                  <a:ea typeface="IBM Plex Mono Bold"/>
                  <a:cs typeface="IBM Plex Mono Bold"/>
                  <a:sym typeface="IBM Plex Mono Bold"/>
                </a:rPr>
                <a:t>CONTEXT</a:t>
              </a:r>
            </a:p>
          </p:txBody>
        </p:sp>
        <p:sp>
          <p:nvSpPr>
            <p:cNvPr name="TextBox 50" id="50"/>
            <p:cNvSpPr txBox="true"/>
            <p:nvPr/>
          </p:nvSpPr>
          <p:spPr>
            <a:xfrm rot="0">
              <a:off x="0" y="1168350"/>
              <a:ext cx="4157738" cy="812876"/>
            </a:xfrm>
            <a:prstGeom prst="rect">
              <a:avLst/>
            </a:prstGeom>
          </p:spPr>
          <p:txBody>
            <a:bodyPr anchor="t" rtlCol="false" tIns="0" lIns="0" bIns="0" rIns="0">
              <a:spAutoFit/>
            </a:bodyPr>
            <a:lstStyle/>
            <a:p>
              <a:pPr algn="l">
                <a:lnSpc>
                  <a:spcPts val="2511"/>
                </a:lnSpc>
              </a:pPr>
              <a:r>
                <a:rPr lang="en-US" sz="1860">
                  <a:solidFill>
                    <a:srgbClr val="17313B"/>
                  </a:solidFill>
                  <a:latin typeface="Source Sans 3"/>
                  <a:ea typeface="Source Sans 3"/>
                  <a:cs typeface="Source Sans 3"/>
                  <a:sym typeface="Source Sans 3"/>
                </a:rPr>
                <a:t>Family history • gender • transport</a:t>
              </a:r>
            </a:p>
          </p:txBody>
        </p:sp>
      </p:grpSp>
      <p:grpSp>
        <p:nvGrpSpPr>
          <p:cNvPr name="Group 51" id="51"/>
          <p:cNvGrpSpPr/>
          <p:nvPr/>
        </p:nvGrpSpPr>
        <p:grpSpPr>
          <a:xfrm rot="0">
            <a:off x="990600" y="9258300"/>
            <a:ext cx="16593782" cy="422910"/>
            <a:chOff x="0" y="0"/>
            <a:chExt cx="22125042" cy="563880"/>
          </a:xfrm>
        </p:grpSpPr>
        <p:sp>
          <p:nvSpPr>
            <p:cNvPr name="AutoShape 52" id="52"/>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53" id="53"/>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54" id="54"/>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05/22</a:t>
              </a:r>
            </a:p>
          </p:txBody>
        </p:sp>
      </p:grpSp>
      <p:sp>
        <p:nvSpPr>
          <p:cNvPr name="TextBox 55" id="55"/>
          <p:cNvSpPr txBox="true"/>
          <p:nvPr/>
        </p:nvSpPr>
        <p:spPr>
          <a:xfrm rot="0">
            <a:off x="990600" y="5937666"/>
            <a:ext cx="7381875" cy="426707"/>
          </a:xfrm>
          <a:prstGeom prst="rect">
            <a:avLst/>
          </a:prstGeom>
        </p:spPr>
        <p:txBody>
          <a:bodyPr anchor="t" rtlCol="false" tIns="0" lIns="0" bIns="0" rIns="0">
            <a:spAutoFit/>
          </a:bodyPr>
          <a:lstStyle/>
          <a:p>
            <a:pPr algn="l">
              <a:lnSpc>
                <a:spcPts val="3370"/>
              </a:lnSpc>
            </a:pPr>
            <a:r>
              <a:rPr lang="en-US" sz="3209" b="true">
                <a:solidFill>
                  <a:srgbClr val="17313B"/>
                </a:solidFill>
                <a:latin typeface="Montserrat Bold"/>
                <a:ea typeface="Montserrat Bold"/>
                <a:cs typeface="Montserrat Bold"/>
                <a:sym typeface="Montserrat Bold"/>
              </a:rPr>
              <a:t>Data quality &amp; integrity</a:t>
            </a:r>
          </a:p>
        </p:txBody>
      </p:sp>
      <p:sp>
        <p:nvSpPr>
          <p:cNvPr name="TextBox 56" id="56"/>
          <p:cNvSpPr txBox="true"/>
          <p:nvPr/>
        </p:nvSpPr>
        <p:spPr>
          <a:xfrm rot="0">
            <a:off x="990600" y="7268530"/>
            <a:ext cx="3937847" cy="999566"/>
          </a:xfrm>
          <a:prstGeom prst="rect">
            <a:avLst/>
          </a:prstGeom>
        </p:spPr>
        <p:txBody>
          <a:bodyPr anchor="t" rtlCol="false" tIns="0" lIns="0" bIns="0" rIns="0">
            <a:spAutoFit/>
          </a:bodyPr>
          <a:lstStyle/>
          <a:p>
            <a:pPr algn="l">
              <a:lnSpc>
                <a:spcPts val="7613"/>
              </a:lnSpc>
            </a:pPr>
            <a:r>
              <a:rPr lang="en-US" sz="7251" b="true">
                <a:solidFill>
                  <a:srgbClr val="17313B"/>
                </a:solidFill>
                <a:latin typeface="Montserrat Bold"/>
                <a:ea typeface="Montserrat Bold"/>
                <a:cs typeface="Montserrat Bold"/>
                <a:sym typeface="Montserrat Bold"/>
              </a:rPr>
              <a:t>100%</a:t>
            </a:r>
          </a:p>
        </p:txBody>
      </p:sp>
      <p:sp>
        <p:nvSpPr>
          <p:cNvPr name="TextBox 57" id="57"/>
          <p:cNvSpPr txBox="true"/>
          <p:nvPr/>
        </p:nvSpPr>
        <p:spPr>
          <a:xfrm rot="0">
            <a:off x="990600" y="8239233"/>
            <a:ext cx="3937847" cy="266640"/>
          </a:xfrm>
          <a:prstGeom prst="rect">
            <a:avLst/>
          </a:prstGeom>
        </p:spPr>
        <p:txBody>
          <a:bodyPr anchor="t" rtlCol="false" tIns="0" lIns="0" bIns="0" rIns="0">
            <a:spAutoFit/>
          </a:bodyPr>
          <a:lstStyle/>
          <a:p>
            <a:pPr algn="l">
              <a:lnSpc>
                <a:spcPts val="2246"/>
              </a:lnSpc>
            </a:pPr>
            <a:r>
              <a:rPr lang="en-US" sz="1664">
                <a:solidFill>
                  <a:srgbClr val="17313B"/>
                </a:solidFill>
                <a:latin typeface="Source Sans 3"/>
                <a:ea typeface="Source Sans 3"/>
                <a:cs typeface="Source Sans 3"/>
                <a:sym typeface="Source Sans 3"/>
              </a:rPr>
              <a:t>field completeness</a:t>
            </a:r>
          </a:p>
        </p:txBody>
      </p:sp>
      <p:sp>
        <p:nvSpPr>
          <p:cNvPr name="TextBox 58" id="58"/>
          <p:cNvSpPr txBox="true"/>
          <p:nvPr/>
        </p:nvSpPr>
        <p:spPr>
          <a:xfrm rot="0">
            <a:off x="5990750" y="7268530"/>
            <a:ext cx="3937847" cy="999566"/>
          </a:xfrm>
          <a:prstGeom prst="rect">
            <a:avLst/>
          </a:prstGeom>
        </p:spPr>
        <p:txBody>
          <a:bodyPr anchor="t" rtlCol="false" tIns="0" lIns="0" bIns="0" rIns="0">
            <a:spAutoFit/>
          </a:bodyPr>
          <a:lstStyle/>
          <a:p>
            <a:pPr algn="l">
              <a:lnSpc>
                <a:spcPts val="7613"/>
              </a:lnSpc>
            </a:pPr>
            <a:r>
              <a:rPr lang="en-US" sz="7251" b="true">
                <a:solidFill>
                  <a:srgbClr val="17313B"/>
                </a:solidFill>
                <a:latin typeface="Montserrat Bold"/>
                <a:ea typeface="Montserrat Bold"/>
                <a:cs typeface="Montserrat Bold"/>
                <a:sym typeface="Montserrat Bold"/>
              </a:rPr>
              <a:t>14–61</a:t>
            </a:r>
          </a:p>
        </p:txBody>
      </p:sp>
      <p:sp>
        <p:nvSpPr>
          <p:cNvPr name="TextBox 59" id="59"/>
          <p:cNvSpPr txBox="true"/>
          <p:nvPr/>
        </p:nvSpPr>
        <p:spPr>
          <a:xfrm rot="0">
            <a:off x="5990750" y="8239233"/>
            <a:ext cx="3937847" cy="266640"/>
          </a:xfrm>
          <a:prstGeom prst="rect">
            <a:avLst/>
          </a:prstGeom>
        </p:spPr>
        <p:txBody>
          <a:bodyPr anchor="t" rtlCol="false" tIns="0" lIns="0" bIns="0" rIns="0">
            <a:spAutoFit/>
          </a:bodyPr>
          <a:lstStyle/>
          <a:p>
            <a:pPr algn="l">
              <a:lnSpc>
                <a:spcPts val="2246"/>
              </a:lnSpc>
            </a:pPr>
            <a:r>
              <a:rPr lang="en-US" sz="1664">
                <a:solidFill>
                  <a:srgbClr val="17313B"/>
                </a:solidFill>
                <a:latin typeface="Source Sans 3"/>
                <a:ea typeface="Source Sans 3"/>
                <a:cs typeface="Source Sans 3"/>
                <a:sym typeface="Source Sans 3"/>
              </a:rPr>
              <a:t>observed age range</a:t>
            </a:r>
          </a:p>
        </p:txBody>
      </p:sp>
      <p:grpSp>
        <p:nvGrpSpPr>
          <p:cNvPr name="Group 60" id="60"/>
          <p:cNvGrpSpPr/>
          <p:nvPr/>
        </p:nvGrpSpPr>
        <p:grpSpPr>
          <a:xfrm rot="0">
            <a:off x="10753725" y="6103313"/>
            <a:ext cx="5715000" cy="2932190"/>
            <a:chOff x="0" y="0"/>
            <a:chExt cx="7620000" cy="3909587"/>
          </a:xfrm>
        </p:grpSpPr>
        <p:grpSp>
          <p:nvGrpSpPr>
            <p:cNvPr name="Group 61" id="61"/>
            <p:cNvGrpSpPr/>
            <p:nvPr/>
          </p:nvGrpSpPr>
          <p:grpSpPr>
            <a:xfrm rot="0">
              <a:off x="0" y="0"/>
              <a:ext cx="7620000" cy="3909587"/>
              <a:chOff x="0" y="0"/>
              <a:chExt cx="12949908" cy="6644198"/>
            </a:xfrm>
          </p:grpSpPr>
          <p:sp>
            <p:nvSpPr>
              <p:cNvPr name="Freeform 62" id="62"/>
              <p:cNvSpPr/>
              <p:nvPr/>
            </p:nvSpPr>
            <p:spPr>
              <a:xfrm flipH="false" flipV="false" rot="0">
                <a:off x="0" y="0"/>
                <a:ext cx="12949908" cy="6644198"/>
              </a:xfrm>
              <a:custGeom>
                <a:avLst/>
                <a:gdLst/>
                <a:ahLst/>
                <a:cxnLst/>
                <a:rect r="r" b="b" t="t" l="l"/>
                <a:pathLst>
                  <a:path h="6644198" w="12949908">
                    <a:moveTo>
                      <a:pt x="0" y="0"/>
                    </a:moveTo>
                    <a:lnTo>
                      <a:pt x="12949908" y="0"/>
                    </a:lnTo>
                    <a:lnTo>
                      <a:pt x="12949908" y="6644198"/>
                    </a:lnTo>
                    <a:lnTo>
                      <a:pt x="0" y="6644198"/>
                    </a:lnTo>
                    <a:close/>
                  </a:path>
                </a:pathLst>
              </a:custGeom>
              <a:solidFill>
                <a:srgbClr val="EF6B5B"/>
              </a:solidFill>
              <a:ln cap="sq">
                <a:noFill/>
                <a:prstDash val="solid"/>
                <a:miter/>
              </a:ln>
            </p:spPr>
          </p:sp>
          <p:sp>
            <p:nvSpPr>
              <p:cNvPr name="TextBox 63" id="63"/>
              <p:cNvSpPr txBox="true"/>
              <p:nvPr/>
            </p:nvSpPr>
            <p:spPr>
              <a:xfrm>
                <a:off x="0" y="-38100"/>
                <a:ext cx="12949908" cy="6682298"/>
              </a:xfrm>
              <a:prstGeom prst="rect">
                <a:avLst/>
              </a:prstGeom>
            </p:spPr>
            <p:txBody>
              <a:bodyPr anchor="ctr" rtlCol="false" tIns="50800" lIns="50800" bIns="50800" rIns="50800"/>
              <a:lstStyle/>
              <a:p>
                <a:pPr algn="l">
                  <a:lnSpc>
                    <a:spcPts val="1679"/>
                  </a:lnSpc>
                </a:pPr>
              </a:p>
            </p:txBody>
          </p:sp>
        </p:grpSp>
        <p:sp>
          <p:nvSpPr>
            <p:cNvPr name="TextBox 64" id="64"/>
            <p:cNvSpPr txBox="true"/>
            <p:nvPr/>
          </p:nvSpPr>
          <p:spPr>
            <a:xfrm rot="0">
              <a:off x="351692" y="104775"/>
              <a:ext cx="5861538" cy="1240356"/>
            </a:xfrm>
            <a:prstGeom prst="rect">
              <a:avLst/>
            </a:prstGeom>
          </p:spPr>
          <p:txBody>
            <a:bodyPr anchor="t" rtlCol="false" tIns="0" lIns="0" bIns="0" rIns="0">
              <a:spAutoFit/>
            </a:bodyPr>
            <a:lstStyle/>
            <a:p>
              <a:pPr algn="l">
                <a:lnSpc>
                  <a:spcPts val="6884"/>
                </a:lnSpc>
              </a:pPr>
              <a:r>
                <a:rPr lang="en-US" sz="6619" b="true">
                  <a:solidFill>
                    <a:srgbClr val="FFFFFF"/>
                  </a:solidFill>
                  <a:latin typeface="Montserrat Bold"/>
                  <a:ea typeface="Montserrat Bold"/>
                  <a:cs typeface="Montserrat Bold"/>
                  <a:sym typeface="Montserrat Bold"/>
                </a:rPr>
                <a:t>24</a:t>
              </a:r>
            </a:p>
          </p:txBody>
        </p:sp>
        <p:sp>
          <p:nvSpPr>
            <p:cNvPr name="TextBox 65" id="65"/>
            <p:cNvSpPr txBox="true"/>
            <p:nvPr/>
          </p:nvSpPr>
          <p:spPr>
            <a:xfrm rot="0">
              <a:off x="351692" y="1326081"/>
              <a:ext cx="5861538" cy="346102"/>
            </a:xfrm>
            <a:prstGeom prst="rect">
              <a:avLst/>
            </a:prstGeom>
          </p:spPr>
          <p:txBody>
            <a:bodyPr anchor="t" rtlCol="false" tIns="0" lIns="0" bIns="0" rIns="0">
              <a:spAutoFit/>
            </a:bodyPr>
            <a:lstStyle/>
            <a:p>
              <a:pPr algn="l">
                <a:lnSpc>
                  <a:spcPts val="2192"/>
                </a:lnSpc>
              </a:pPr>
              <a:r>
                <a:rPr lang="en-US" sz="1623">
                  <a:solidFill>
                    <a:srgbClr val="FFFFFF"/>
                  </a:solidFill>
                  <a:latin typeface="Source Sans 3"/>
                  <a:ea typeface="Source Sans 3"/>
                  <a:cs typeface="Source Sans 3"/>
                  <a:sym typeface="Source Sans 3"/>
                </a:rPr>
                <a:t>duplicate records detected</a:t>
              </a:r>
            </a:p>
          </p:txBody>
        </p:sp>
        <p:sp>
          <p:nvSpPr>
            <p:cNvPr name="TextBox 66" id="66"/>
            <p:cNvSpPr txBox="true"/>
            <p:nvPr/>
          </p:nvSpPr>
          <p:spPr>
            <a:xfrm rot="0">
              <a:off x="351692" y="2055774"/>
              <a:ext cx="6564923" cy="1091929"/>
            </a:xfrm>
            <a:prstGeom prst="rect">
              <a:avLst/>
            </a:prstGeom>
          </p:spPr>
          <p:txBody>
            <a:bodyPr anchor="t" rtlCol="false" tIns="0" lIns="0" bIns="0" rIns="0">
              <a:spAutoFit/>
            </a:bodyPr>
            <a:lstStyle/>
            <a:p>
              <a:pPr algn="l">
                <a:lnSpc>
                  <a:spcPts val="2208"/>
                </a:lnSpc>
              </a:pPr>
              <a:r>
                <a:rPr lang="en-US" sz="1635">
                  <a:solidFill>
                    <a:srgbClr val="FFFFFF"/>
                  </a:solidFill>
                  <a:latin typeface="Source Sans 3"/>
                  <a:ea typeface="Source Sans 3"/>
                  <a:cs typeface="Source Sans 3"/>
                  <a:sym typeface="Source Sans 3"/>
                </a:rPr>
                <a:t>WARNING  Duplicate rows can inflate apparent certainty and leak across train/test splits. Deduplicate before inferential or predictive work.</a:t>
              </a:r>
            </a:p>
          </p:txBody>
        </p:sp>
      </p:grpSp>
    </p:spTree>
  </p:cSld>
  <p:clrMapOvr>
    <a:masterClrMapping/>
  </p:clrMapOvr>
</p:sld>
</file>

<file path=ppt/slides/slide6.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Data quality assessment</a:t>
            </a:r>
          </a:p>
        </p:txBody>
      </p:sp>
      <p:grpSp>
        <p:nvGrpSpPr>
          <p:cNvPr name="Group 3" id="3"/>
          <p:cNvGrpSpPr/>
          <p:nvPr/>
        </p:nvGrpSpPr>
        <p:grpSpPr>
          <a:xfrm rot="0">
            <a:off x="857250" y="2857500"/>
            <a:ext cx="5143500" cy="2000250"/>
            <a:chOff x="0" y="0"/>
            <a:chExt cx="6858000" cy="2667000"/>
          </a:xfrm>
        </p:grpSpPr>
        <p:grpSp>
          <p:nvGrpSpPr>
            <p:cNvPr name="Group 4" id="4"/>
            <p:cNvGrpSpPr/>
            <p:nvPr/>
          </p:nvGrpSpPr>
          <p:grpSpPr>
            <a:xfrm rot="0">
              <a:off x="0" y="0"/>
              <a:ext cx="6858000" cy="2667000"/>
              <a:chOff x="0" y="0"/>
              <a:chExt cx="6858000" cy="2667000"/>
            </a:xfrm>
          </p:grpSpPr>
          <p:sp>
            <p:nvSpPr>
              <p:cNvPr name="Freeform 5" id="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6" id="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5943600" y="355600"/>
              <a:ext cx="482600" cy="482600"/>
              <a:chOff x="0" y="0"/>
              <a:chExt cx="482600" cy="482600"/>
            </a:xfrm>
          </p:grpSpPr>
          <p:sp>
            <p:nvSpPr>
              <p:cNvPr name="Freeform 8" id="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18A999"/>
              </a:solidFill>
              <a:ln cap="sq">
                <a:noFill/>
                <a:prstDash val="solid"/>
                <a:miter/>
              </a:ln>
            </p:spPr>
          </p:sp>
          <p:sp>
            <p:nvSpPr>
              <p:cNvPr name="TextBox 9" id="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11" id="1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Missing values</a:t>
              </a:r>
            </a:p>
          </p:txBody>
        </p:sp>
        <p:sp>
          <p:nvSpPr>
            <p:cNvPr name="TextBox 12" id="12"/>
            <p:cNvSpPr txBox="true"/>
            <p:nvPr/>
          </p:nvSpPr>
          <p:spPr>
            <a:xfrm rot="0">
              <a:off x="431800" y="1698625"/>
              <a:ext cx="6096000" cy="3784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0 across all 15 columns</a:t>
              </a:r>
            </a:p>
          </p:txBody>
        </p:sp>
      </p:grpSp>
      <p:grpSp>
        <p:nvGrpSpPr>
          <p:cNvPr name="Group 13" id="13"/>
          <p:cNvGrpSpPr/>
          <p:nvPr/>
        </p:nvGrpSpPr>
        <p:grpSpPr>
          <a:xfrm rot="0">
            <a:off x="6572250" y="2857500"/>
            <a:ext cx="5143500" cy="2000250"/>
            <a:chOff x="0" y="0"/>
            <a:chExt cx="6858000" cy="2667000"/>
          </a:xfrm>
        </p:grpSpPr>
        <p:grpSp>
          <p:nvGrpSpPr>
            <p:cNvPr name="Group 14" id="14"/>
            <p:cNvGrpSpPr/>
            <p:nvPr/>
          </p:nvGrpSpPr>
          <p:grpSpPr>
            <a:xfrm rot="0">
              <a:off x="0" y="0"/>
              <a:ext cx="6858000" cy="2667000"/>
              <a:chOff x="0" y="0"/>
              <a:chExt cx="6858000" cy="2667000"/>
            </a:xfrm>
          </p:grpSpPr>
          <p:sp>
            <p:nvSpPr>
              <p:cNvPr name="Freeform 15" id="1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16" id="1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5943600" y="355600"/>
              <a:ext cx="482600" cy="482600"/>
              <a:chOff x="0" y="0"/>
              <a:chExt cx="482600" cy="482600"/>
            </a:xfrm>
          </p:grpSpPr>
          <p:sp>
            <p:nvSpPr>
              <p:cNvPr name="Freeform 18" id="1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18A999"/>
              </a:solidFill>
              <a:ln cap="sq">
                <a:noFill/>
                <a:prstDash val="solid"/>
                <a:miter/>
              </a:ln>
            </p:spPr>
          </p:sp>
          <p:sp>
            <p:nvSpPr>
              <p:cNvPr name="TextBox 19" id="1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21" id="2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Duplicate rows</a:t>
              </a:r>
            </a:p>
          </p:txBody>
        </p:sp>
        <p:sp>
          <p:nvSpPr>
            <p:cNvPr name="TextBox 22" id="22"/>
            <p:cNvSpPr txBox="true"/>
            <p:nvPr/>
          </p:nvSpPr>
          <p:spPr>
            <a:xfrm rot="0">
              <a:off x="431800" y="1698625"/>
              <a:ext cx="6096000" cy="3784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Checked and removed</a:t>
              </a:r>
            </a:p>
          </p:txBody>
        </p:sp>
      </p:grpSp>
      <p:grpSp>
        <p:nvGrpSpPr>
          <p:cNvPr name="Group 23" id="23"/>
          <p:cNvGrpSpPr/>
          <p:nvPr/>
        </p:nvGrpSpPr>
        <p:grpSpPr>
          <a:xfrm rot="0">
            <a:off x="12287250" y="2857500"/>
            <a:ext cx="5143500" cy="2000250"/>
            <a:chOff x="0" y="0"/>
            <a:chExt cx="6858000" cy="2667000"/>
          </a:xfrm>
        </p:grpSpPr>
        <p:grpSp>
          <p:nvGrpSpPr>
            <p:cNvPr name="Group 24" id="24"/>
            <p:cNvGrpSpPr/>
            <p:nvPr/>
          </p:nvGrpSpPr>
          <p:grpSpPr>
            <a:xfrm rot="0">
              <a:off x="0" y="0"/>
              <a:ext cx="6858000" cy="2667000"/>
              <a:chOff x="0" y="0"/>
              <a:chExt cx="6858000" cy="2667000"/>
            </a:xfrm>
          </p:grpSpPr>
          <p:sp>
            <p:nvSpPr>
              <p:cNvPr name="Freeform 25" id="2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26" id="2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5943600" y="355600"/>
              <a:ext cx="482600" cy="482600"/>
              <a:chOff x="0" y="0"/>
              <a:chExt cx="482600" cy="482600"/>
            </a:xfrm>
          </p:grpSpPr>
          <p:sp>
            <p:nvSpPr>
              <p:cNvPr name="Freeform 28" id="2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18A999"/>
              </a:solidFill>
              <a:ln cap="sq">
                <a:noFill/>
                <a:prstDash val="solid"/>
                <a:miter/>
              </a:ln>
            </p:spPr>
          </p:sp>
          <p:sp>
            <p:nvSpPr>
              <p:cNvPr name="TextBox 29" id="2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31" id="3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Type consistency</a:t>
              </a:r>
            </a:p>
          </p:txBody>
        </p:sp>
        <p:sp>
          <p:nvSpPr>
            <p:cNvPr name="TextBox 32" id="32"/>
            <p:cNvSpPr txBox="true"/>
            <p:nvPr/>
          </p:nvSpPr>
          <p:spPr>
            <a:xfrm rot="0">
              <a:off x="431800" y="1698625"/>
              <a:ext cx="6096000" cy="3784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float64 (numerical), object (categorical)</a:t>
              </a:r>
            </a:p>
          </p:txBody>
        </p:sp>
      </p:grpSp>
      <p:grpSp>
        <p:nvGrpSpPr>
          <p:cNvPr name="Group 33" id="33"/>
          <p:cNvGrpSpPr/>
          <p:nvPr/>
        </p:nvGrpSpPr>
        <p:grpSpPr>
          <a:xfrm rot="0">
            <a:off x="857250" y="5334000"/>
            <a:ext cx="5143500" cy="2295525"/>
            <a:chOff x="0" y="0"/>
            <a:chExt cx="6858000" cy="3060700"/>
          </a:xfrm>
        </p:grpSpPr>
        <p:grpSp>
          <p:nvGrpSpPr>
            <p:cNvPr name="Group 34" id="34"/>
            <p:cNvGrpSpPr/>
            <p:nvPr/>
          </p:nvGrpSpPr>
          <p:grpSpPr>
            <a:xfrm rot="0">
              <a:off x="0" y="0"/>
              <a:ext cx="6858000" cy="3060700"/>
              <a:chOff x="0" y="0"/>
              <a:chExt cx="6858000" cy="3060700"/>
            </a:xfrm>
          </p:grpSpPr>
          <p:sp>
            <p:nvSpPr>
              <p:cNvPr name="Freeform 35" id="35"/>
              <p:cNvSpPr/>
              <p:nvPr/>
            </p:nvSpPr>
            <p:spPr>
              <a:xfrm flipH="false" flipV="false" rot="0">
                <a:off x="0" y="0"/>
                <a:ext cx="6858000" cy="3060700"/>
              </a:xfrm>
              <a:custGeom>
                <a:avLst/>
                <a:gdLst/>
                <a:ahLst/>
                <a:cxnLst/>
                <a:rect r="r" b="b" t="t" l="l"/>
                <a:pathLst>
                  <a:path h="3060700" w="6858000">
                    <a:moveTo>
                      <a:pt x="0" y="0"/>
                    </a:moveTo>
                    <a:lnTo>
                      <a:pt x="6858000" y="0"/>
                    </a:lnTo>
                    <a:lnTo>
                      <a:pt x="6858000" y="3060700"/>
                    </a:lnTo>
                    <a:lnTo>
                      <a:pt x="0" y="3060700"/>
                    </a:lnTo>
                    <a:close/>
                  </a:path>
                </a:pathLst>
              </a:custGeom>
              <a:solidFill>
                <a:srgbClr val="FFFFFF"/>
              </a:solidFill>
              <a:ln w="19050" cap="sq">
                <a:solidFill>
                  <a:srgbClr val="DFE9E7"/>
                </a:solidFill>
                <a:prstDash val="solid"/>
                <a:miter/>
              </a:ln>
            </p:spPr>
          </p:sp>
          <p:sp>
            <p:nvSpPr>
              <p:cNvPr name="TextBox 36" id="36"/>
              <p:cNvSpPr txBox="true"/>
              <p:nvPr/>
            </p:nvSpPr>
            <p:spPr>
              <a:xfrm>
                <a:off x="0" y="-38100"/>
                <a:ext cx="6858000" cy="30988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5943600" y="355600"/>
              <a:ext cx="482600" cy="482600"/>
              <a:chOff x="0" y="0"/>
              <a:chExt cx="482600" cy="482600"/>
            </a:xfrm>
          </p:grpSpPr>
          <p:sp>
            <p:nvSpPr>
              <p:cNvPr name="Freeform 38" id="3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18A999"/>
              </a:solidFill>
              <a:ln cap="sq">
                <a:noFill/>
                <a:prstDash val="solid"/>
                <a:miter/>
              </a:ln>
            </p:spPr>
          </p:sp>
          <p:sp>
            <p:nvSpPr>
              <p:cNvPr name="TextBox 39" id="3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41" id="4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Category spelling</a:t>
              </a:r>
            </a:p>
          </p:txBody>
        </p:sp>
        <p:sp>
          <p:nvSpPr>
            <p:cNvPr name="TextBox 42" id="42"/>
            <p:cNvSpPr txBox="true"/>
            <p:nvPr/>
          </p:nvSpPr>
          <p:spPr>
            <a:xfrm rot="0">
              <a:off x="431800" y="1698625"/>
              <a:ext cx="6096000" cy="7721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Dataset is pre-cleaned (ObesityDataSet_cleaned.csv)</a:t>
              </a:r>
            </a:p>
          </p:txBody>
        </p:sp>
      </p:grpSp>
      <p:grpSp>
        <p:nvGrpSpPr>
          <p:cNvPr name="Group 43" id="43"/>
          <p:cNvGrpSpPr/>
          <p:nvPr/>
        </p:nvGrpSpPr>
        <p:grpSpPr>
          <a:xfrm rot="0">
            <a:off x="6572250" y="5334000"/>
            <a:ext cx="5143500" cy="2000250"/>
            <a:chOff x="0" y="0"/>
            <a:chExt cx="6858000" cy="2667000"/>
          </a:xfrm>
        </p:grpSpPr>
        <p:grpSp>
          <p:nvGrpSpPr>
            <p:cNvPr name="Group 44" id="44"/>
            <p:cNvGrpSpPr/>
            <p:nvPr/>
          </p:nvGrpSpPr>
          <p:grpSpPr>
            <a:xfrm rot="0">
              <a:off x="0" y="0"/>
              <a:ext cx="6858000" cy="2667000"/>
              <a:chOff x="0" y="0"/>
              <a:chExt cx="6858000" cy="2667000"/>
            </a:xfrm>
          </p:grpSpPr>
          <p:sp>
            <p:nvSpPr>
              <p:cNvPr name="Freeform 45" id="4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46" id="4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5943600" y="355600"/>
              <a:ext cx="482600" cy="482600"/>
              <a:chOff x="0" y="0"/>
              <a:chExt cx="482600" cy="482600"/>
            </a:xfrm>
          </p:grpSpPr>
          <p:sp>
            <p:nvSpPr>
              <p:cNvPr name="Freeform 48" id="4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EF6F61"/>
              </a:solidFill>
              <a:ln cap="sq">
                <a:noFill/>
                <a:prstDash val="solid"/>
                <a:miter/>
              </a:ln>
            </p:spPr>
          </p:sp>
          <p:sp>
            <p:nvSpPr>
              <p:cNvPr name="TextBox 49" id="4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51" id="5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Range / outliers</a:t>
              </a:r>
            </a:p>
          </p:txBody>
        </p:sp>
        <p:sp>
          <p:nvSpPr>
            <p:cNvPr name="TextBox 52" id="52"/>
            <p:cNvSpPr txBox="true"/>
            <p:nvPr/>
          </p:nvSpPr>
          <p:spPr>
            <a:xfrm rot="0">
              <a:off x="431800" y="1698625"/>
              <a:ext cx="6096000" cy="3784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Duplicate detection &amp; removal applied</a:t>
              </a:r>
            </a:p>
          </p:txBody>
        </p:sp>
      </p:grpSp>
      <p:grpSp>
        <p:nvGrpSpPr>
          <p:cNvPr name="Group 53" id="53"/>
          <p:cNvGrpSpPr/>
          <p:nvPr/>
        </p:nvGrpSpPr>
        <p:grpSpPr>
          <a:xfrm rot="0">
            <a:off x="12287250" y="5334000"/>
            <a:ext cx="5143500" cy="2000250"/>
            <a:chOff x="0" y="0"/>
            <a:chExt cx="6858000" cy="2667000"/>
          </a:xfrm>
        </p:grpSpPr>
        <p:grpSp>
          <p:nvGrpSpPr>
            <p:cNvPr name="Group 54" id="54"/>
            <p:cNvGrpSpPr/>
            <p:nvPr/>
          </p:nvGrpSpPr>
          <p:grpSpPr>
            <a:xfrm rot="0">
              <a:off x="0" y="0"/>
              <a:ext cx="6858000" cy="2667000"/>
              <a:chOff x="0" y="0"/>
              <a:chExt cx="6858000" cy="2667000"/>
            </a:xfrm>
          </p:grpSpPr>
          <p:sp>
            <p:nvSpPr>
              <p:cNvPr name="Freeform 55" id="5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56" id="5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57" id="57"/>
            <p:cNvGrpSpPr/>
            <p:nvPr/>
          </p:nvGrpSpPr>
          <p:grpSpPr>
            <a:xfrm rot="0">
              <a:off x="5943600" y="355600"/>
              <a:ext cx="482600" cy="482600"/>
              <a:chOff x="0" y="0"/>
              <a:chExt cx="482600" cy="482600"/>
            </a:xfrm>
          </p:grpSpPr>
          <p:sp>
            <p:nvSpPr>
              <p:cNvPr name="Freeform 58" id="58"/>
              <p:cNvSpPr/>
              <p:nvPr/>
            </p:nvSpPr>
            <p:spPr>
              <a:xfrm flipH="false" flipV="false" rot="0">
                <a:off x="0" y="0"/>
                <a:ext cx="482600" cy="482600"/>
              </a:xfrm>
              <a:custGeom>
                <a:avLst/>
                <a:gdLst/>
                <a:ahLst/>
                <a:cxnLst/>
                <a:rect r="r" b="b" t="t" l="l"/>
                <a:pathLst>
                  <a:path h="482600" w="482600">
                    <a:moveTo>
                      <a:pt x="241300" y="0"/>
                    </a:moveTo>
                    <a:cubicBezTo>
                      <a:pt x="374566" y="0"/>
                      <a:pt x="482600" y="108034"/>
                      <a:pt x="482600" y="241300"/>
                    </a:cubicBezTo>
                    <a:cubicBezTo>
                      <a:pt x="482600" y="374566"/>
                      <a:pt x="374566" y="482600"/>
                      <a:pt x="241300" y="482600"/>
                    </a:cubicBezTo>
                    <a:cubicBezTo>
                      <a:pt x="108034" y="482600"/>
                      <a:pt x="0" y="374566"/>
                      <a:pt x="0" y="241300"/>
                    </a:cubicBezTo>
                    <a:cubicBezTo>
                      <a:pt x="0" y="108034"/>
                      <a:pt x="108034" y="0"/>
                      <a:pt x="241300" y="0"/>
                    </a:cubicBezTo>
                    <a:close/>
                  </a:path>
                </a:pathLst>
              </a:custGeom>
              <a:solidFill>
                <a:srgbClr val="EF6F61"/>
              </a:solidFill>
              <a:ln cap="sq">
                <a:noFill/>
                <a:prstDash val="solid"/>
                <a:miter/>
              </a:ln>
            </p:spPr>
          </p:sp>
          <p:sp>
            <p:nvSpPr>
              <p:cNvPr name="TextBox 59" id="59"/>
              <p:cNvSpPr txBox="true"/>
              <p:nvPr/>
            </p:nvSpPr>
            <p:spPr>
              <a:xfrm>
                <a:off x="0" y="-38100"/>
                <a:ext cx="482600" cy="520700"/>
              </a:xfrm>
              <a:prstGeom prst="rect">
                <a:avLst/>
              </a:prstGeom>
            </p:spPr>
            <p:txBody>
              <a:bodyPr anchor="ctr" rtlCol="false" tIns="50800" lIns="50800" bIns="50800" rIns="50800"/>
              <a:lstStyle/>
              <a:p>
                <a:pPr algn="l">
                  <a:lnSpc>
                    <a:spcPts val="1679"/>
                  </a:lnSpc>
                </a:pPr>
              </a:p>
            </p:txBody>
          </p:sp>
        </p:grpSp>
        <p:sp>
          <p:nvSpPr>
            <p:cNvPr name="TextBox 60" id="60"/>
            <p:cNvSpPr txBox="true"/>
            <p:nvPr/>
          </p:nvSpPr>
          <p:spPr>
            <a:xfrm rot="0">
              <a:off x="431800" y="352425"/>
              <a:ext cx="1524000"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CHECK</a:t>
              </a:r>
            </a:p>
          </p:txBody>
        </p:sp>
        <p:sp>
          <p:nvSpPr>
            <p:cNvPr name="TextBox 61" id="61"/>
            <p:cNvSpPr txBox="true"/>
            <p:nvPr/>
          </p:nvSpPr>
          <p:spPr>
            <a:xfrm rot="0">
              <a:off x="431800" y="993775"/>
              <a:ext cx="6223000" cy="485013"/>
            </a:xfrm>
            <a:prstGeom prst="rect">
              <a:avLst/>
            </a:prstGeom>
          </p:spPr>
          <p:txBody>
            <a:bodyPr anchor="t" rtlCol="false" tIns="0" lIns="0" bIns="0" rIns="0">
              <a:spAutoFit/>
            </a:bodyPr>
            <a:lstStyle/>
            <a:p>
              <a:pPr algn="l">
                <a:lnSpc>
                  <a:spcPts val="2652"/>
                </a:lnSpc>
              </a:pPr>
              <a:r>
                <a:rPr lang="en-US" sz="2550" b="true">
                  <a:solidFill>
                    <a:srgbClr val="163047"/>
                  </a:solidFill>
                  <a:latin typeface="Brixton Bold"/>
                  <a:ea typeface="Brixton Bold"/>
                  <a:cs typeface="Brixton Bold"/>
                  <a:sym typeface="Brixton Bold"/>
                </a:rPr>
                <a:t>Target balance</a:t>
              </a:r>
            </a:p>
          </p:txBody>
        </p:sp>
        <p:sp>
          <p:nvSpPr>
            <p:cNvPr name="TextBox 62" id="62"/>
            <p:cNvSpPr txBox="true"/>
            <p:nvPr/>
          </p:nvSpPr>
          <p:spPr>
            <a:xfrm rot="0">
              <a:off x="431800" y="1698625"/>
              <a:ext cx="6096000" cy="378460"/>
            </a:xfrm>
            <a:prstGeom prst="rect">
              <a:avLst/>
            </a:prstGeom>
          </p:spPr>
          <p:txBody>
            <a:bodyPr anchor="t" rtlCol="false" tIns="0" lIns="0" bIns="0" rIns="0">
              <a:spAutoFit/>
            </a:bodyPr>
            <a:lstStyle/>
            <a:p>
              <a:pPr algn="l">
                <a:lnSpc>
                  <a:spcPts val="2328"/>
                </a:lnSpc>
              </a:pPr>
              <a:r>
                <a:rPr lang="en-US" sz="1725">
                  <a:solidFill>
                    <a:srgbClr val="627384"/>
                  </a:solidFill>
                  <a:latin typeface="Source Sans 3"/>
                  <a:ea typeface="Source Sans 3"/>
                  <a:cs typeface="Source Sans 3"/>
                  <a:sym typeface="Source Sans 3"/>
                </a:rPr>
                <a:t>Column names and formatting verified</a:t>
              </a:r>
            </a:p>
          </p:txBody>
        </p:sp>
      </p:grpSp>
      <p:grpSp>
        <p:nvGrpSpPr>
          <p:cNvPr name="Group 63" id="63"/>
          <p:cNvGrpSpPr/>
          <p:nvPr/>
        </p:nvGrpSpPr>
        <p:grpSpPr>
          <a:xfrm rot="0">
            <a:off x="990600" y="9258300"/>
            <a:ext cx="16593782" cy="422910"/>
            <a:chOff x="0" y="0"/>
            <a:chExt cx="22125042" cy="563880"/>
          </a:xfrm>
        </p:grpSpPr>
        <p:sp>
          <p:nvSpPr>
            <p:cNvPr name="AutoShape 64" id="64"/>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65" id="65"/>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66" id="66"/>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06/22</a:t>
              </a:r>
            </a:p>
          </p:txBody>
        </p:sp>
      </p:grpSp>
    </p:spTree>
  </p:cSld>
  <p:clrMapOvr>
    <a:masterClrMapping/>
  </p:clrMapOvr>
</p:sld>
</file>

<file path=ppt/slides/slide7.xml><?xml version="1.0" encoding="utf-8"?>
<p:sld xmlns:p="http://schemas.openxmlformats.org/presentationml/2006/main" xmlns:a="http://schemas.openxmlformats.org/drawingml/2006/main">
  <p:cSld>
    <p:bg>
      <p:bgPr>
        <a:solidFill>
          <a:srgbClr val="0B1F33"/>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FFFFFF"/>
                </a:solidFill>
                <a:latin typeface="Brixton Bold"/>
                <a:ea typeface="Brixton Bold"/>
                <a:cs typeface="Brixton Bold"/>
                <a:sym typeface="Brixton Bold"/>
              </a:rPr>
              <a:t>Python analytics stack</a:t>
            </a:r>
          </a:p>
        </p:txBody>
      </p:sp>
      <p:grpSp>
        <p:nvGrpSpPr>
          <p:cNvPr name="Group 3" id="3"/>
          <p:cNvGrpSpPr/>
          <p:nvPr/>
        </p:nvGrpSpPr>
        <p:grpSpPr>
          <a:xfrm rot="0">
            <a:off x="762000" y="3619500"/>
            <a:ext cx="3143250" cy="2190750"/>
            <a:chOff x="0" y="0"/>
            <a:chExt cx="4191000" cy="2921000"/>
          </a:xfrm>
        </p:grpSpPr>
        <p:grpSp>
          <p:nvGrpSpPr>
            <p:cNvPr name="Group 4" id="4"/>
            <p:cNvGrpSpPr/>
            <p:nvPr/>
          </p:nvGrpSpPr>
          <p:grpSpPr>
            <a:xfrm rot="0">
              <a:off x="0" y="0"/>
              <a:ext cx="4191000" cy="2921000"/>
              <a:chOff x="0" y="0"/>
              <a:chExt cx="4191000" cy="2921000"/>
            </a:xfrm>
          </p:grpSpPr>
          <p:sp>
            <p:nvSpPr>
              <p:cNvPr name="Freeform 5" id="5"/>
              <p:cNvSpPr/>
              <p:nvPr/>
            </p:nvSpPr>
            <p:spPr>
              <a:xfrm flipH="false" flipV="false" rot="0">
                <a:off x="0" y="0"/>
                <a:ext cx="4191000" cy="2921000"/>
              </a:xfrm>
              <a:custGeom>
                <a:avLst/>
                <a:gdLst/>
                <a:ahLst/>
                <a:cxnLst/>
                <a:rect r="r" b="b" t="t" l="l"/>
                <a:pathLst>
                  <a:path h="2921000" w="4191000">
                    <a:moveTo>
                      <a:pt x="0" y="0"/>
                    </a:moveTo>
                    <a:lnTo>
                      <a:pt x="4191000" y="0"/>
                    </a:lnTo>
                    <a:lnTo>
                      <a:pt x="4191000" y="2921000"/>
                    </a:lnTo>
                    <a:lnTo>
                      <a:pt x="0" y="2921000"/>
                    </a:lnTo>
                    <a:close/>
                  </a:path>
                </a:pathLst>
              </a:custGeom>
              <a:solidFill>
                <a:srgbClr val="132C43"/>
              </a:solidFill>
              <a:ln w="19050" cap="sq">
                <a:solidFill>
                  <a:srgbClr val="315069"/>
                </a:solidFill>
                <a:prstDash val="solid"/>
                <a:miter/>
              </a:ln>
            </p:spPr>
          </p:sp>
          <p:sp>
            <p:nvSpPr>
              <p:cNvPr name="TextBox 6" id="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0" y="0"/>
              <a:ext cx="4191000" cy="152400"/>
              <a:chOff x="0" y="0"/>
              <a:chExt cx="4191000" cy="152400"/>
            </a:xfrm>
          </p:grpSpPr>
          <p:sp>
            <p:nvSpPr>
              <p:cNvPr name="Freeform 8" id="8"/>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18A999"/>
              </a:solidFill>
              <a:ln cap="sq">
                <a:noFill/>
                <a:prstDash val="solid"/>
                <a:miter/>
              </a:ln>
            </p:spPr>
          </p:sp>
          <p:sp>
            <p:nvSpPr>
              <p:cNvPr name="TextBox 9" id="9"/>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381000" y="765175"/>
              <a:ext cx="3810000" cy="573405"/>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Python</a:t>
              </a:r>
            </a:p>
          </p:txBody>
        </p:sp>
        <p:sp>
          <p:nvSpPr>
            <p:cNvPr name="TextBox 11" id="11"/>
            <p:cNvSpPr txBox="true"/>
            <p:nvPr/>
          </p:nvSpPr>
          <p:spPr>
            <a:xfrm rot="0">
              <a:off x="381000" y="1558925"/>
              <a:ext cx="3810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orchestration</a:t>
              </a:r>
            </a:p>
          </p:txBody>
        </p:sp>
      </p:grpSp>
      <p:sp>
        <p:nvSpPr>
          <p:cNvPr name="AutoShape 12" id="12"/>
          <p:cNvSpPr/>
          <p:nvPr/>
        </p:nvSpPr>
        <p:spPr>
          <a:xfrm>
            <a:off x="3905250" y="4714875"/>
            <a:ext cx="361950" cy="0"/>
          </a:xfrm>
          <a:prstGeom prst="line">
            <a:avLst/>
          </a:prstGeom>
          <a:ln cap="rnd" w="38100">
            <a:solidFill>
              <a:srgbClr val="8BD8CF"/>
            </a:solidFill>
            <a:prstDash val="solid"/>
            <a:headEnd type="none" len="sm" w="sm"/>
            <a:tailEnd type="none" len="sm" w="sm"/>
          </a:ln>
        </p:spPr>
      </p:sp>
      <p:grpSp>
        <p:nvGrpSpPr>
          <p:cNvPr name="Group 13" id="13"/>
          <p:cNvGrpSpPr/>
          <p:nvPr/>
        </p:nvGrpSpPr>
        <p:grpSpPr>
          <a:xfrm rot="0">
            <a:off x="4267200" y="3619500"/>
            <a:ext cx="3143250" cy="2190750"/>
            <a:chOff x="0" y="0"/>
            <a:chExt cx="4191000" cy="2921000"/>
          </a:xfrm>
        </p:grpSpPr>
        <p:grpSp>
          <p:nvGrpSpPr>
            <p:cNvPr name="Group 14" id="14"/>
            <p:cNvGrpSpPr/>
            <p:nvPr/>
          </p:nvGrpSpPr>
          <p:grpSpPr>
            <a:xfrm rot="0">
              <a:off x="0" y="0"/>
              <a:ext cx="4191000" cy="2921000"/>
              <a:chOff x="0" y="0"/>
              <a:chExt cx="4191000" cy="2921000"/>
            </a:xfrm>
          </p:grpSpPr>
          <p:sp>
            <p:nvSpPr>
              <p:cNvPr name="Freeform 15" id="15"/>
              <p:cNvSpPr/>
              <p:nvPr/>
            </p:nvSpPr>
            <p:spPr>
              <a:xfrm flipH="false" flipV="false" rot="0">
                <a:off x="0" y="0"/>
                <a:ext cx="4191000" cy="2921000"/>
              </a:xfrm>
              <a:custGeom>
                <a:avLst/>
                <a:gdLst/>
                <a:ahLst/>
                <a:cxnLst/>
                <a:rect r="r" b="b" t="t" l="l"/>
                <a:pathLst>
                  <a:path h="2921000" w="4191000">
                    <a:moveTo>
                      <a:pt x="0" y="0"/>
                    </a:moveTo>
                    <a:lnTo>
                      <a:pt x="4191000" y="0"/>
                    </a:lnTo>
                    <a:lnTo>
                      <a:pt x="4191000" y="2921000"/>
                    </a:lnTo>
                    <a:lnTo>
                      <a:pt x="0" y="2921000"/>
                    </a:lnTo>
                    <a:close/>
                  </a:path>
                </a:pathLst>
              </a:custGeom>
              <a:solidFill>
                <a:srgbClr val="132C43"/>
              </a:solidFill>
              <a:ln w="19050" cap="sq">
                <a:solidFill>
                  <a:srgbClr val="315069"/>
                </a:solidFill>
                <a:prstDash val="solid"/>
                <a:miter/>
              </a:ln>
            </p:spPr>
          </p:sp>
          <p:sp>
            <p:nvSpPr>
              <p:cNvPr name="TextBox 16" id="1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17" id="17"/>
            <p:cNvGrpSpPr/>
            <p:nvPr/>
          </p:nvGrpSpPr>
          <p:grpSpPr>
            <a:xfrm rot="0">
              <a:off x="0" y="0"/>
              <a:ext cx="4191000" cy="152400"/>
              <a:chOff x="0" y="0"/>
              <a:chExt cx="4191000" cy="152400"/>
            </a:xfrm>
          </p:grpSpPr>
          <p:sp>
            <p:nvSpPr>
              <p:cNvPr name="Freeform 18" id="18"/>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18A999"/>
              </a:solidFill>
              <a:ln cap="sq">
                <a:noFill/>
                <a:prstDash val="solid"/>
                <a:miter/>
              </a:ln>
            </p:spPr>
          </p:sp>
          <p:sp>
            <p:nvSpPr>
              <p:cNvPr name="TextBox 19" id="19"/>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381000" y="765175"/>
              <a:ext cx="3810000" cy="573405"/>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Pandas</a:t>
              </a:r>
            </a:p>
          </p:txBody>
        </p:sp>
        <p:sp>
          <p:nvSpPr>
            <p:cNvPr name="TextBox 21" id="21"/>
            <p:cNvSpPr txBox="true"/>
            <p:nvPr/>
          </p:nvSpPr>
          <p:spPr>
            <a:xfrm rot="0">
              <a:off x="381000" y="1558925"/>
              <a:ext cx="3810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cleaning + grouping</a:t>
              </a:r>
            </a:p>
          </p:txBody>
        </p:sp>
      </p:grpSp>
      <p:sp>
        <p:nvSpPr>
          <p:cNvPr name="AutoShape 22" id="22"/>
          <p:cNvSpPr/>
          <p:nvPr/>
        </p:nvSpPr>
        <p:spPr>
          <a:xfrm>
            <a:off x="7410450" y="4714875"/>
            <a:ext cx="361950" cy="0"/>
          </a:xfrm>
          <a:prstGeom prst="line">
            <a:avLst/>
          </a:prstGeom>
          <a:ln cap="rnd" w="38100">
            <a:solidFill>
              <a:srgbClr val="8BD8CF"/>
            </a:solidFill>
            <a:prstDash val="solid"/>
            <a:headEnd type="none" len="sm" w="sm"/>
            <a:tailEnd type="none" len="sm" w="sm"/>
          </a:ln>
        </p:spPr>
      </p:sp>
      <p:grpSp>
        <p:nvGrpSpPr>
          <p:cNvPr name="Group 23" id="23"/>
          <p:cNvGrpSpPr/>
          <p:nvPr/>
        </p:nvGrpSpPr>
        <p:grpSpPr>
          <a:xfrm rot="0">
            <a:off x="7772400" y="3619500"/>
            <a:ext cx="3143250" cy="2190750"/>
            <a:chOff x="0" y="0"/>
            <a:chExt cx="4191000" cy="2921000"/>
          </a:xfrm>
        </p:grpSpPr>
        <p:grpSp>
          <p:nvGrpSpPr>
            <p:cNvPr name="Group 24" id="24"/>
            <p:cNvGrpSpPr/>
            <p:nvPr/>
          </p:nvGrpSpPr>
          <p:grpSpPr>
            <a:xfrm rot="0">
              <a:off x="0" y="0"/>
              <a:ext cx="4191000" cy="2921000"/>
              <a:chOff x="0" y="0"/>
              <a:chExt cx="4191000" cy="2921000"/>
            </a:xfrm>
          </p:grpSpPr>
          <p:sp>
            <p:nvSpPr>
              <p:cNvPr name="Freeform 25" id="25"/>
              <p:cNvSpPr/>
              <p:nvPr/>
            </p:nvSpPr>
            <p:spPr>
              <a:xfrm flipH="false" flipV="false" rot="0">
                <a:off x="0" y="0"/>
                <a:ext cx="4191000" cy="2921000"/>
              </a:xfrm>
              <a:custGeom>
                <a:avLst/>
                <a:gdLst/>
                <a:ahLst/>
                <a:cxnLst/>
                <a:rect r="r" b="b" t="t" l="l"/>
                <a:pathLst>
                  <a:path h="2921000" w="4191000">
                    <a:moveTo>
                      <a:pt x="0" y="0"/>
                    </a:moveTo>
                    <a:lnTo>
                      <a:pt x="4191000" y="0"/>
                    </a:lnTo>
                    <a:lnTo>
                      <a:pt x="4191000" y="2921000"/>
                    </a:lnTo>
                    <a:lnTo>
                      <a:pt x="0" y="2921000"/>
                    </a:lnTo>
                    <a:close/>
                  </a:path>
                </a:pathLst>
              </a:custGeom>
              <a:solidFill>
                <a:srgbClr val="132C43"/>
              </a:solidFill>
              <a:ln w="19050" cap="sq">
                <a:solidFill>
                  <a:srgbClr val="315069"/>
                </a:solidFill>
                <a:prstDash val="solid"/>
                <a:miter/>
              </a:ln>
            </p:spPr>
          </p:sp>
          <p:sp>
            <p:nvSpPr>
              <p:cNvPr name="TextBox 26" id="2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27" id="27"/>
            <p:cNvGrpSpPr/>
            <p:nvPr/>
          </p:nvGrpSpPr>
          <p:grpSpPr>
            <a:xfrm rot="0">
              <a:off x="0" y="0"/>
              <a:ext cx="4191000" cy="152400"/>
              <a:chOff x="0" y="0"/>
              <a:chExt cx="4191000" cy="152400"/>
            </a:xfrm>
          </p:grpSpPr>
          <p:sp>
            <p:nvSpPr>
              <p:cNvPr name="Freeform 28" id="28"/>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18A999"/>
              </a:solidFill>
              <a:ln cap="sq">
                <a:noFill/>
                <a:prstDash val="solid"/>
                <a:miter/>
              </a:ln>
            </p:spPr>
          </p:sp>
          <p:sp>
            <p:nvSpPr>
              <p:cNvPr name="TextBox 29" id="29"/>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30" id="30"/>
            <p:cNvSpPr txBox="true"/>
            <p:nvPr/>
          </p:nvSpPr>
          <p:spPr>
            <a:xfrm rot="0">
              <a:off x="381000" y="765175"/>
              <a:ext cx="3810000" cy="573405"/>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NumPy</a:t>
              </a:r>
            </a:p>
          </p:txBody>
        </p:sp>
        <p:sp>
          <p:nvSpPr>
            <p:cNvPr name="TextBox 31" id="31"/>
            <p:cNvSpPr txBox="true"/>
            <p:nvPr/>
          </p:nvSpPr>
          <p:spPr>
            <a:xfrm rot="0">
              <a:off x="381000" y="1558925"/>
              <a:ext cx="3810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numeric operations</a:t>
              </a:r>
            </a:p>
          </p:txBody>
        </p:sp>
      </p:grpSp>
      <p:sp>
        <p:nvSpPr>
          <p:cNvPr name="AutoShape 32" id="32"/>
          <p:cNvSpPr/>
          <p:nvPr/>
        </p:nvSpPr>
        <p:spPr>
          <a:xfrm>
            <a:off x="10915650" y="4714875"/>
            <a:ext cx="361950" cy="0"/>
          </a:xfrm>
          <a:prstGeom prst="line">
            <a:avLst/>
          </a:prstGeom>
          <a:ln cap="rnd" w="38100">
            <a:solidFill>
              <a:srgbClr val="8BD8CF"/>
            </a:solidFill>
            <a:prstDash val="solid"/>
            <a:headEnd type="none" len="sm" w="sm"/>
            <a:tailEnd type="none" len="sm" w="sm"/>
          </a:ln>
        </p:spPr>
      </p:sp>
      <p:grpSp>
        <p:nvGrpSpPr>
          <p:cNvPr name="Group 33" id="33"/>
          <p:cNvGrpSpPr/>
          <p:nvPr/>
        </p:nvGrpSpPr>
        <p:grpSpPr>
          <a:xfrm rot="0">
            <a:off x="11277600" y="3619500"/>
            <a:ext cx="3143250" cy="2190750"/>
            <a:chOff x="0" y="0"/>
            <a:chExt cx="4191000" cy="2921000"/>
          </a:xfrm>
        </p:grpSpPr>
        <p:grpSp>
          <p:nvGrpSpPr>
            <p:cNvPr name="Group 34" id="34"/>
            <p:cNvGrpSpPr/>
            <p:nvPr/>
          </p:nvGrpSpPr>
          <p:grpSpPr>
            <a:xfrm rot="0">
              <a:off x="0" y="0"/>
              <a:ext cx="4191000" cy="2921000"/>
              <a:chOff x="0" y="0"/>
              <a:chExt cx="4191000" cy="2921000"/>
            </a:xfrm>
          </p:grpSpPr>
          <p:sp>
            <p:nvSpPr>
              <p:cNvPr name="Freeform 35" id="35"/>
              <p:cNvSpPr/>
              <p:nvPr/>
            </p:nvSpPr>
            <p:spPr>
              <a:xfrm flipH="false" flipV="false" rot="0">
                <a:off x="0" y="0"/>
                <a:ext cx="4191000" cy="2921000"/>
              </a:xfrm>
              <a:custGeom>
                <a:avLst/>
                <a:gdLst/>
                <a:ahLst/>
                <a:cxnLst/>
                <a:rect r="r" b="b" t="t" l="l"/>
                <a:pathLst>
                  <a:path h="2921000" w="4191000">
                    <a:moveTo>
                      <a:pt x="0" y="0"/>
                    </a:moveTo>
                    <a:lnTo>
                      <a:pt x="4191000" y="0"/>
                    </a:lnTo>
                    <a:lnTo>
                      <a:pt x="4191000" y="2921000"/>
                    </a:lnTo>
                    <a:lnTo>
                      <a:pt x="0" y="2921000"/>
                    </a:lnTo>
                    <a:close/>
                  </a:path>
                </a:pathLst>
              </a:custGeom>
              <a:solidFill>
                <a:srgbClr val="132C43"/>
              </a:solidFill>
              <a:ln w="19050" cap="sq">
                <a:solidFill>
                  <a:srgbClr val="315069"/>
                </a:solidFill>
                <a:prstDash val="solid"/>
                <a:miter/>
              </a:ln>
            </p:spPr>
          </p:sp>
          <p:sp>
            <p:nvSpPr>
              <p:cNvPr name="TextBox 36" id="3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37" id="37"/>
            <p:cNvGrpSpPr/>
            <p:nvPr/>
          </p:nvGrpSpPr>
          <p:grpSpPr>
            <a:xfrm rot="0">
              <a:off x="0" y="0"/>
              <a:ext cx="4191000" cy="152400"/>
              <a:chOff x="0" y="0"/>
              <a:chExt cx="4191000" cy="152400"/>
            </a:xfrm>
          </p:grpSpPr>
          <p:sp>
            <p:nvSpPr>
              <p:cNvPr name="Freeform 38" id="38"/>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EF6F61"/>
              </a:solidFill>
              <a:ln cap="sq">
                <a:noFill/>
                <a:prstDash val="solid"/>
                <a:miter/>
              </a:ln>
            </p:spPr>
          </p:sp>
          <p:sp>
            <p:nvSpPr>
              <p:cNvPr name="TextBox 39" id="39"/>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40" id="40"/>
            <p:cNvSpPr txBox="true"/>
            <p:nvPr/>
          </p:nvSpPr>
          <p:spPr>
            <a:xfrm rot="0">
              <a:off x="381000" y="765175"/>
              <a:ext cx="3810000" cy="573405"/>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Plotnine</a:t>
              </a:r>
            </a:p>
          </p:txBody>
        </p:sp>
        <p:sp>
          <p:nvSpPr>
            <p:cNvPr name="TextBox 41" id="41"/>
            <p:cNvSpPr txBox="true"/>
            <p:nvPr/>
          </p:nvSpPr>
          <p:spPr>
            <a:xfrm rot="0">
              <a:off x="381000" y="1558925"/>
              <a:ext cx="3810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grammar-of-graphics</a:t>
              </a:r>
            </a:p>
          </p:txBody>
        </p:sp>
      </p:grpSp>
      <p:sp>
        <p:nvSpPr>
          <p:cNvPr name="AutoShape 42" id="42"/>
          <p:cNvSpPr/>
          <p:nvPr/>
        </p:nvSpPr>
        <p:spPr>
          <a:xfrm>
            <a:off x="14420850" y="4714875"/>
            <a:ext cx="361950" cy="0"/>
          </a:xfrm>
          <a:prstGeom prst="line">
            <a:avLst/>
          </a:prstGeom>
          <a:ln cap="rnd" w="38100">
            <a:solidFill>
              <a:srgbClr val="8BD8CF"/>
            </a:solidFill>
            <a:prstDash val="solid"/>
            <a:headEnd type="none" len="sm" w="sm"/>
            <a:tailEnd type="none" len="sm" w="sm"/>
          </a:ln>
        </p:spPr>
      </p:sp>
      <p:grpSp>
        <p:nvGrpSpPr>
          <p:cNvPr name="Group 43" id="43"/>
          <p:cNvGrpSpPr/>
          <p:nvPr/>
        </p:nvGrpSpPr>
        <p:grpSpPr>
          <a:xfrm rot="0">
            <a:off x="14782800" y="3619500"/>
            <a:ext cx="3143250" cy="2190750"/>
            <a:chOff x="0" y="0"/>
            <a:chExt cx="4191000" cy="2921000"/>
          </a:xfrm>
        </p:grpSpPr>
        <p:grpSp>
          <p:nvGrpSpPr>
            <p:cNvPr name="Group 44" id="44"/>
            <p:cNvGrpSpPr/>
            <p:nvPr/>
          </p:nvGrpSpPr>
          <p:grpSpPr>
            <a:xfrm rot="0">
              <a:off x="0" y="0"/>
              <a:ext cx="4191000" cy="2921000"/>
              <a:chOff x="0" y="0"/>
              <a:chExt cx="4191000" cy="2921000"/>
            </a:xfrm>
          </p:grpSpPr>
          <p:sp>
            <p:nvSpPr>
              <p:cNvPr name="Freeform 45" id="45"/>
              <p:cNvSpPr/>
              <p:nvPr/>
            </p:nvSpPr>
            <p:spPr>
              <a:xfrm flipH="false" flipV="false" rot="0">
                <a:off x="0" y="0"/>
                <a:ext cx="4191000" cy="2921000"/>
              </a:xfrm>
              <a:custGeom>
                <a:avLst/>
                <a:gdLst/>
                <a:ahLst/>
                <a:cxnLst/>
                <a:rect r="r" b="b" t="t" l="l"/>
                <a:pathLst>
                  <a:path h="2921000" w="4191000">
                    <a:moveTo>
                      <a:pt x="0" y="0"/>
                    </a:moveTo>
                    <a:lnTo>
                      <a:pt x="4191000" y="0"/>
                    </a:lnTo>
                    <a:lnTo>
                      <a:pt x="4191000" y="2921000"/>
                    </a:lnTo>
                    <a:lnTo>
                      <a:pt x="0" y="2921000"/>
                    </a:lnTo>
                    <a:close/>
                  </a:path>
                </a:pathLst>
              </a:custGeom>
              <a:solidFill>
                <a:srgbClr val="132C43"/>
              </a:solidFill>
              <a:ln w="19050" cap="sq">
                <a:solidFill>
                  <a:srgbClr val="315069"/>
                </a:solidFill>
                <a:prstDash val="solid"/>
                <a:miter/>
              </a:ln>
            </p:spPr>
          </p:sp>
          <p:sp>
            <p:nvSpPr>
              <p:cNvPr name="TextBox 46" id="46"/>
              <p:cNvSpPr txBox="true"/>
              <p:nvPr/>
            </p:nvSpPr>
            <p:spPr>
              <a:xfrm>
                <a:off x="0" y="-38100"/>
                <a:ext cx="4191000" cy="2959100"/>
              </a:xfrm>
              <a:prstGeom prst="rect">
                <a:avLst/>
              </a:prstGeom>
            </p:spPr>
            <p:txBody>
              <a:bodyPr anchor="ctr" rtlCol="false" tIns="50800" lIns="50800" bIns="50800" rIns="50800"/>
              <a:lstStyle/>
              <a:p>
                <a:pPr algn="l">
                  <a:lnSpc>
                    <a:spcPts val="1679"/>
                  </a:lnSpc>
                </a:pPr>
              </a:p>
            </p:txBody>
          </p:sp>
        </p:grpSp>
        <p:grpSp>
          <p:nvGrpSpPr>
            <p:cNvPr name="Group 47" id="47"/>
            <p:cNvGrpSpPr/>
            <p:nvPr/>
          </p:nvGrpSpPr>
          <p:grpSpPr>
            <a:xfrm rot="0">
              <a:off x="0" y="0"/>
              <a:ext cx="4191000" cy="152400"/>
              <a:chOff x="0" y="0"/>
              <a:chExt cx="4191000" cy="152400"/>
            </a:xfrm>
          </p:grpSpPr>
          <p:sp>
            <p:nvSpPr>
              <p:cNvPr name="Freeform 48" id="48"/>
              <p:cNvSpPr/>
              <p:nvPr/>
            </p:nvSpPr>
            <p:spPr>
              <a:xfrm flipH="false" flipV="false" rot="0">
                <a:off x="0" y="0"/>
                <a:ext cx="4191000" cy="152400"/>
              </a:xfrm>
              <a:custGeom>
                <a:avLst/>
                <a:gdLst/>
                <a:ahLst/>
                <a:cxnLst/>
                <a:rect r="r" b="b" t="t" l="l"/>
                <a:pathLst>
                  <a:path h="152400" w="4191000">
                    <a:moveTo>
                      <a:pt x="0" y="0"/>
                    </a:moveTo>
                    <a:lnTo>
                      <a:pt x="4191000" y="0"/>
                    </a:lnTo>
                    <a:lnTo>
                      <a:pt x="4191000" y="152400"/>
                    </a:lnTo>
                    <a:lnTo>
                      <a:pt x="0" y="152400"/>
                    </a:lnTo>
                    <a:close/>
                  </a:path>
                </a:pathLst>
              </a:custGeom>
              <a:solidFill>
                <a:srgbClr val="18A999"/>
              </a:solidFill>
              <a:ln cap="sq">
                <a:noFill/>
                <a:prstDash val="solid"/>
                <a:miter/>
              </a:ln>
            </p:spPr>
          </p:sp>
          <p:sp>
            <p:nvSpPr>
              <p:cNvPr name="TextBox 49" id="49"/>
              <p:cNvSpPr txBox="true"/>
              <p:nvPr/>
            </p:nvSpPr>
            <p:spPr>
              <a:xfrm>
                <a:off x="0" y="-38100"/>
                <a:ext cx="4191000" cy="190500"/>
              </a:xfrm>
              <a:prstGeom prst="rect">
                <a:avLst/>
              </a:prstGeom>
            </p:spPr>
            <p:txBody>
              <a:bodyPr anchor="ctr" rtlCol="false" tIns="50800" lIns="50800" bIns="50800" rIns="50800"/>
              <a:lstStyle/>
              <a:p>
                <a:pPr algn="l">
                  <a:lnSpc>
                    <a:spcPts val="1679"/>
                  </a:lnSpc>
                </a:pPr>
              </a:p>
            </p:txBody>
          </p:sp>
        </p:grpSp>
        <p:sp>
          <p:nvSpPr>
            <p:cNvPr name="TextBox 50" id="50"/>
            <p:cNvSpPr txBox="true"/>
            <p:nvPr/>
          </p:nvSpPr>
          <p:spPr>
            <a:xfrm rot="0">
              <a:off x="381000" y="765175"/>
              <a:ext cx="3810000" cy="573405"/>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SciPy</a:t>
              </a:r>
            </a:p>
          </p:txBody>
        </p:sp>
        <p:sp>
          <p:nvSpPr>
            <p:cNvPr name="TextBox 51" id="51"/>
            <p:cNvSpPr txBox="true"/>
            <p:nvPr/>
          </p:nvSpPr>
          <p:spPr>
            <a:xfrm rot="0">
              <a:off x="381000" y="1558925"/>
              <a:ext cx="3810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statistical checks</a:t>
              </a:r>
            </a:p>
          </p:txBody>
        </p:sp>
      </p:grpSp>
      <p:grpSp>
        <p:nvGrpSpPr>
          <p:cNvPr name="Group 52" id="52"/>
          <p:cNvGrpSpPr/>
          <p:nvPr/>
        </p:nvGrpSpPr>
        <p:grpSpPr>
          <a:xfrm rot="0">
            <a:off x="990600" y="9258300"/>
            <a:ext cx="16593782" cy="422910"/>
            <a:chOff x="0" y="0"/>
            <a:chExt cx="22125042" cy="563880"/>
          </a:xfrm>
        </p:grpSpPr>
        <p:sp>
          <p:nvSpPr>
            <p:cNvPr name="AutoShape 53" id="53"/>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54" id="54"/>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55" id="55"/>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07/22</a:t>
              </a:r>
            </a:p>
          </p:txBody>
        </p:sp>
      </p:grpSp>
    </p:spTree>
  </p:cSld>
  <p:clrMapOvr>
    <a:masterClrMapping/>
  </p:clrMapOvr>
</p:sld>
</file>

<file path=ppt/slides/slide8.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Describe first. Explain second.</a:t>
            </a:r>
          </a:p>
        </p:txBody>
      </p:sp>
      <p:grpSp>
        <p:nvGrpSpPr>
          <p:cNvPr name="Group 3" id="3"/>
          <p:cNvGrpSpPr/>
          <p:nvPr/>
        </p:nvGrpSpPr>
        <p:grpSpPr>
          <a:xfrm rot="0">
            <a:off x="666750" y="2381250"/>
            <a:ext cx="7524750" cy="4315715"/>
            <a:chOff x="0" y="0"/>
            <a:chExt cx="10033000" cy="5754286"/>
          </a:xfrm>
        </p:grpSpPr>
        <p:sp>
          <p:nvSpPr>
            <p:cNvPr name="Freeform 4" id="4"/>
            <p:cNvSpPr/>
            <p:nvPr/>
          </p:nvSpPr>
          <p:spPr>
            <a:xfrm flipH="false" flipV="false" rot="0">
              <a:off x="0" y="0"/>
              <a:ext cx="10033000" cy="5754286"/>
            </a:xfrm>
            <a:custGeom>
              <a:avLst/>
              <a:gdLst/>
              <a:ahLst/>
              <a:cxnLst/>
              <a:rect r="r" b="b" t="t" l="l"/>
              <a:pathLst>
                <a:path h="5754286" w="10033000">
                  <a:moveTo>
                    <a:pt x="0" y="0"/>
                  </a:moveTo>
                  <a:lnTo>
                    <a:pt x="10033000" y="0"/>
                  </a:lnTo>
                  <a:lnTo>
                    <a:pt x="10033000" y="5754286"/>
                  </a:lnTo>
                  <a:lnTo>
                    <a:pt x="0" y="5754286"/>
                  </a:lnTo>
                  <a:close/>
                </a:path>
              </a:pathLst>
            </a:custGeom>
            <a:solidFill>
              <a:srgbClr val="FFFFFF"/>
            </a:solidFill>
            <a:ln w="19050" cap="sq">
              <a:solidFill>
                <a:srgbClr val="DFE9E7"/>
              </a:solidFill>
              <a:prstDash val="solid"/>
              <a:miter/>
            </a:ln>
          </p:spPr>
        </p:sp>
        <p:sp>
          <p:nvSpPr>
            <p:cNvPr name="TextBox 5" id="5"/>
            <p:cNvSpPr txBox="true"/>
            <p:nvPr/>
          </p:nvSpPr>
          <p:spPr>
            <a:xfrm>
              <a:off x="0" y="-38100"/>
              <a:ext cx="10033000" cy="5792386"/>
            </a:xfrm>
            <a:prstGeom prst="rect">
              <a:avLst/>
            </a:prstGeom>
          </p:spPr>
          <p:txBody>
            <a:bodyPr anchor="ctr" rtlCol="false" tIns="50800" lIns="50800" bIns="50800" rIns="50800"/>
            <a:lstStyle/>
            <a:p>
              <a:pPr algn="l">
                <a:lnSpc>
                  <a:spcPts val="1679"/>
                </a:lnSpc>
              </a:pPr>
            </a:p>
          </p:txBody>
        </p:sp>
      </p:grpSp>
      <p:sp>
        <p:nvSpPr>
          <p:cNvPr name="TextBox 6" id="6"/>
          <p:cNvSpPr txBox="true"/>
          <p:nvPr/>
        </p:nvSpPr>
        <p:spPr>
          <a:xfrm rot="0">
            <a:off x="1047750" y="2733675"/>
            <a:ext cx="2857500" cy="257175"/>
          </a:xfrm>
          <a:prstGeom prst="rect">
            <a:avLst/>
          </a:prstGeom>
        </p:spPr>
        <p:txBody>
          <a:bodyPr anchor="t" rtlCol="false" tIns="0" lIns="0" bIns="0" rIns="0">
            <a:spAutoFit/>
          </a:bodyPr>
          <a:lstStyle/>
          <a:p>
            <a:pPr algn="l">
              <a:lnSpc>
                <a:spcPts val="2100"/>
              </a:lnSpc>
            </a:pPr>
            <a:r>
              <a:rPr lang="en-US" sz="1500" spc="120" b="true">
                <a:solidFill>
                  <a:srgbClr val="18A999"/>
                </a:solidFill>
                <a:latin typeface="IBM Plex Mono Bold"/>
                <a:ea typeface="IBM Plex Mono Bold"/>
                <a:cs typeface="IBM Plex Mono Bold"/>
                <a:sym typeface="IBM Plex Mono Bold"/>
              </a:rPr>
              <a:t>NUMERICAL</a:t>
            </a:r>
          </a:p>
        </p:txBody>
      </p:sp>
      <p:sp>
        <p:nvSpPr>
          <p:cNvPr name="TextBox 7" id="7"/>
          <p:cNvSpPr txBox="true"/>
          <p:nvPr/>
        </p:nvSpPr>
        <p:spPr>
          <a:xfrm rot="0">
            <a:off x="1047750" y="3238500"/>
            <a:ext cx="6191250" cy="501777"/>
          </a:xfrm>
          <a:prstGeom prst="rect">
            <a:avLst/>
          </a:prstGeom>
        </p:spPr>
        <p:txBody>
          <a:bodyPr anchor="t" rtlCol="false" tIns="0" lIns="0" bIns="0" rIns="0">
            <a:spAutoFit/>
          </a:bodyPr>
          <a:lstStyle/>
          <a:p>
            <a:pPr algn="l">
              <a:lnSpc>
                <a:spcPts val="3744"/>
              </a:lnSpc>
            </a:pPr>
            <a:r>
              <a:rPr lang="en-US" sz="3600" b="true">
                <a:solidFill>
                  <a:srgbClr val="163047"/>
                </a:solidFill>
                <a:latin typeface="Brixton Bold"/>
                <a:ea typeface="Brixton Bold"/>
                <a:cs typeface="Brixton Bold"/>
                <a:sym typeface="Brixton Bold"/>
              </a:rPr>
              <a:t>Center · spread · shape</a:t>
            </a:r>
          </a:p>
        </p:txBody>
      </p:sp>
      <p:sp>
        <p:nvSpPr>
          <p:cNvPr name="TextBox 8" id="8"/>
          <p:cNvSpPr txBox="true"/>
          <p:nvPr/>
        </p:nvSpPr>
        <p:spPr>
          <a:xfrm rot="0">
            <a:off x="1047750" y="3952875"/>
            <a:ext cx="6191250" cy="675799"/>
          </a:xfrm>
          <a:prstGeom prst="rect">
            <a:avLst/>
          </a:prstGeom>
        </p:spPr>
        <p:txBody>
          <a:bodyPr anchor="t" rtlCol="false" tIns="0" lIns="0" bIns="0" rIns="0">
            <a:spAutoFit/>
          </a:bodyPr>
          <a:lstStyle/>
          <a:p>
            <a:pPr algn="l">
              <a:lnSpc>
                <a:spcPts val="2733"/>
              </a:lnSpc>
            </a:pPr>
            <a:r>
              <a:rPr lang="en-US" sz="2025">
                <a:solidFill>
                  <a:srgbClr val="163047"/>
                </a:solidFill>
                <a:latin typeface="Source Sans 3"/>
                <a:ea typeface="Source Sans 3"/>
                <a:cs typeface="Source Sans 3"/>
                <a:sym typeface="Source Sans 3"/>
              </a:rPr>
              <a:t>Age, height, weight and continuous lifestyle measures establish scale, skew and potential outliers.</a:t>
            </a:r>
          </a:p>
        </p:txBody>
      </p:sp>
      <p:grpSp>
        <p:nvGrpSpPr>
          <p:cNvPr name="Group 9" id="9"/>
          <p:cNvGrpSpPr/>
          <p:nvPr/>
        </p:nvGrpSpPr>
        <p:grpSpPr>
          <a:xfrm rot="0">
            <a:off x="9429750" y="2381250"/>
            <a:ext cx="7524750" cy="4315715"/>
            <a:chOff x="0" y="0"/>
            <a:chExt cx="10033000" cy="5754286"/>
          </a:xfrm>
        </p:grpSpPr>
        <p:sp>
          <p:nvSpPr>
            <p:cNvPr name="Freeform 10" id="10"/>
            <p:cNvSpPr/>
            <p:nvPr/>
          </p:nvSpPr>
          <p:spPr>
            <a:xfrm flipH="false" flipV="false" rot="0">
              <a:off x="0" y="0"/>
              <a:ext cx="10033000" cy="5754286"/>
            </a:xfrm>
            <a:custGeom>
              <a:avLst/>
              <a:gdLst/>
              <a:ahLst/>
              <a:cxnLst/>
              <a:rect r="r" b="b" t="t" l="l"/>
              <a:pathLst>
                <a:path h="5754286" w="10033000">
                  <a:moveTo>
                    <a:pt x="0" y="0"/>
                  </a:moveTo>
                  <a:lnTo>
                    <a:pt x="10033000" y="0"/>
                  </a:lnTo>
                  <a:lnTo>
                    <a:pt x="10033000" y="5754286"/>
                  </a:lnTo>
                  <a:lnTo>
                    <a:pt x="0" y="5754286"/>
                  </a:lnTo>
                  <a:close/>
                </a:path>
              </a:pathLst>
            </a:custGeom>
            <a:solidFill>
              <a:srgbClr val="FFFFFF"/>
            </a:solidFill>
            <a:ln w="19050" cap="sq">
              <a:solidFill>
                <a:srgbClr val="DFE9E7"/>
              </a:solidFill>
              <a:prstDash val="solid"/>
              <a:miter/>
            </a:ln>
          </p:spPr>
        </p:sp>
        <p:sp>
          <p:nvSpPr>
            <p:cNvPr name="TextBox 11" id="11"/>
            <p:cNvSpPr txBox="true"/>
            <p:nvPr/>
          </p:nvSpPr>
          <p:spPr>
            <a:xfrm>
              <a:off x="0" y="-38100"/>
              <a:ext cx="10033000" cy="5792386"/>
            </a:xfrm>
            <a:prstGeom prst="rect">
              <a:avLst/>
            </a:prstGeom>
          </p:spPr>
          <p:txBody>
            <a:bodyPr anchor="ctr" rtlCol="false" tIns="50800" lIns="50800" bIns="50800" rIns="50800"/>
            <a:lstStyle/>
            <a:p>
              <a:pPr algn="l">
                <a:lnSpc>
                  <a:spcPts val="1679"/>
                </a:lnSpc>
              </a:pPr>
            </a:p>
          </p:txBody>
        </p:sp>
      </p:grpSp>
      <p:sp>
        <p:nvSpPr>
          <p:cNvPr name="TextBox 12" id="12"/>
          <p:cNvSpPr txBox="true"/>
          <p:nvPr/>
        </p:nvSpPr>
        <p:spPr>
          <a:xfrm rot="0">
            <a:off x="9810750" y="2733675"/>
            <a:ext cx="2857500" cy="257175"/>
          </a:xfrm>
          <a:prstGeom prst="rect">
            <a:avLst/>
          </a:prstGeom>
        </p:spPr>
        <p:txBody>
          <a:bodyPr anchor="t" rtlCol="false" tIns="0" lIns="0" bIns="0" rIns="0">
            <a:spAutoFit/>
          </a:bodyPr>
          <a:lstStyle/>
          <a:p>
            <a:pPr algn="l">
              <a:lnSpc>
                <a:spcPts val="2100"/>
              </a:lnSpc>
            </a:pPr>
            <a:r>
              <a:rPr lang="en-US" sz="1500" spc="120" b="true">
                <a:solidFill>
                  <a:srgbClr val="18A999"/>
                </a:solidFill>
                <a:latin typeface="IBM Plex Mono Bold"/>
                <a:ea typeface="IBM Plex Mono Bold"/>
                <a:cs typeface="IBM Plex Mono Bold"/>
                <a:sym typeface="IBM Plex Mono Bold"/>
              </a:rPr>
              <a:t>CATEGORICAL</a:t>
            </a:r>
          </a:p>
        </p:txBody>
      </p:sp>
      <p:sp>
        <p:nvSpPr>
          <p:cNvPr name="TextBox 13" id="13"/>
          <p:cNvSpPr txBox="true"/>
          <p:nvPr/>
        </p:nvSpPr>
        <p:spPr>
          <a:xfrm rot="0">
            <a:off x="9810750" y="3238500"/>
            <a:ext cx="6191250" cy="501777"/>
          </a:xfrm>
          <a:prstGeom prst="rect">
            <a:avLst/>
          </a:prstGeom>
        </p:spPr>
        <p:txBody>
          <a:bodyPr anchor="t" rtlCol="false" tIns="0" lIns="0" bIns="0" rIns="0">
            <a:spAutoFit/>
          </a:bodyPr>
          <a:lstStyle/>
          <a:p>
            <a:pPr algn="l">
              <a:lnSpc>
                <a:spcPts val="3744"/>
              </a:lnSpc>
            </a:pPr>
            <a:r>
              <a:rPr lang="en-US" sz="3600" b="true">
                <a:solidFill>
                  <a:srgbClr val="163047"/>
                </a:solidFill>
                <a:latin typeface="Brixton Bold"/>
                <a:ea typeface="Brixton Bold"/>
                <a:cs typeface="Brixton Bold"/>
                <a:sym typeface="Brixton Bold"/>
              </a:rPr>
              <a:t>Count · share · balance</a:t>
            </a:r>
          </a:p>
        </p:txBody>
      </p:sp>
      <p:sp>
        <p:nvSpPr>
          <p:cNvPr name="TextBox 14" id="14"/>
          <p:cNvSpPr txBox="true"/>
          <p:nvPr/>
        </p:nvSpPr>
        <p:spPr>
          <a:xfrm rot="0">
            <a:off x="9810750" y="3952875"/>
            <a:ext cx="6191250" cy="675799"/>
          </a:xfrm>
          <a:prstGeom prst="rect">
            <a:avLst/>
          </a:prstGeom>
        </p:spPr>
        <p:txBody>
          <a:bodyPr anchor="t" rtlCol="false" tIns="0" lIns="0" bIns="0" rIns="0">
            <a:spAutoFit/>
          </a:bodyPr>
          <a:lstStyle/>
          <a:p>
            <a:pPr algn="l">
              <a:lnSpc>
                <a:spcPts val="2733"/>
              </a:lnSpc>
            </a:pPr>
            <a:r>
              <a:rPr lang="en-US" sz="2025">
                <a:solidFill>
                  <a:srgbClr val="163047"/>
                </a:solidFill>
                <a:latin typeface="Source Sans 3"/>
                <a:ea typeface="Source Sans 3"/>
                <a:cs typeface="Source Sans 3"/>
                <a:sym typeface="Source Sans 3"/>
              </a:rPr>
              <a:t>Behavior, transport and family-history frequencies reveal dominant levels and sparse groups.</a:t>
            </a:r>
          </a:p>
        </p:txBody>
      </p:sp>
      <p:grpSp>
        <p:nvGrpSpPr>
          <p:cNvPr name="Group 15" id="15"/>
          <p:cNvGrpSpPr/>
          <p:nvPr/>
        </p:nvGrpSpPr>
        <p:grpSpPr>
          <a:xfrm rot="0">
            <a:off x="990600" y="9258300"/>
            <a:ext cx="16593782" cy="422910"/>
            <a:chOff x="0" y="0"/>
            <a:chExt cx="22125042" cy="563880"/>
          </a:xfrm>
        </p:grpSpPr>
        <p:sp>
          <p:nvSpPr>
            <p:cNvPr name="AutoShape 16" id="16"/>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7" id="17"/>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8" id="18"/>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08/22</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Weight-class landscape</a:t>
            </a:r>
          </a:p>
        </p:txBody>
      </p:sp>
      <p:pic>
        <p:nvPicPr>
          <p:cNvPr name="Picture 3" id="3"/>
          <p:cNvPicPr>
            <a:picLocks noChangeAspect="true"/>
          </p:cNvPicPr>
          <p:nvPr/>
        </p:nvPicPr>
        <p:blipFill>
          <a:blip r:embed="rId2"/>
          <a:stretch>
            <a:fillRect/>
          </a:stretch>
        </p:blipFill>
        <p:spPr>
          <a:xfrm rot="0">
            <a:off x="-168340" y="1157962"/>
            <a:ext cx="13366879" cy="8352075"/>
          </a:xfrm>
          <a:prstGeom prst="rect">
            <a:avLst/>
          </a:prstGeom>
        </p:spPr>
      </p:pic>
      <p:grpSp>
        <p:nvGrpSpPr>
          <p:cNvPr name="Group 4" id="4"/>
          <p:cNvGrpSpPr/>
          <p:nvPr/>
        </p:nvGrpSpPr>
        <p:grpSpPr>
          <a:xfrm rot="0">
            <a:off x="13144500" y="3048000"/>
            <a:ext cx="3810000" cy="3677603"/>
            <a:chOff x="0" y="0"/>
            <a:chExt cx="5080000" cy="4903470"/>
          </a:xfrm>
        </p:grpSpPr>
        <p:sp>
          <p:nvSpPr>
            <p:cNvPr name="TextBox 5" id="5"/>
            <p:cNvSpPr txBox="true"/>
            <p:nvPr/>
          </p:nvSpPr>
          <p:spPr>
            <a:xfrm rot="0">
              <a:off x="0" y="133350"/>
              <a:ext cx="5080000" cy="1653540"/>
            </a:xfrm>
            <a:prstGeom prst="rect">
              <a:avLst/>
            </a:prstGeom>
          </p:spPr>
          <p:txBody>
            <a:bodyPr anchor="t" rtlCol="false" tIns="0" lIns="0" bIns="0" rIns="0">
              <a:spAutoFit/>
            </a:bodyPr>
            <a:lstStyle/>
            <a:p>
              <a:pPr algn="l">
                <a:lnSpc>
                  <a:spcPts val="9292"/>
                </a:lnSpc>
              </a:pPr>
              <a:r>
                <a:rPr lang="en-US" sz="8850" b="true">
                  <a:solidFill>
                    <a:srgbClr val="17313B"/>
                  </a:solidFill>
                  <a:latin typeface="Montserrat Bold"/>
                  <a:ea typeface="Montserrat Bold"/>
                  <a:cs typeface="Montserrat Bold"/>
                  <a:sym typeface="Montserrat Bold"/>
                </a:rPr>
                <a:t>46%</a:t>
              </a:r>
            </a:p>
          </p:txBody>
        </p:sp>
        <p:sp>
          <p:nvSpPr>
            <p:cNvPr name="TextBox 6" id="6"/>
            <p:cNvSpPr txBox="true"/>
            <p:nvPr/>
          </p:nvSpPr>
          <p:spPr>
            <a:xfrm rot="0">
              <a:off x="0" y="1676400"/>
              <a:ext cx="5080000" cy="523240"/>
            </a:xfrm>
            <a:prstGeom prst="rect">
              <a:avLst/>
            </a:prstGeom>
          </p:spPr>
          <p:txBody>
            <a:bodyPr anchor="t" rtlCol="false" tIns="0" lIns="0" bIns="0" rIns="0">
              <a:spAutoFit/>
            </a:bodyPr>
            <a:lstStyle/>
            <a:p>
              <a:pPr algn="l">
                <a:lnSpc>
                  <a:spcPts val="3240"/>
                </a:lnSpc>
              </a:pPr>
              <a:r>
                <a:rPr lang="en-US" sz="2400">
                  <a:solidFill>
                    <a:srgbClr val="17313B"/>
                  </a:solidFill>
                  <a:latin typeface="Source Sans 3"/>
                  <a:ea typeface="Source Sans 3"/>
                  <a:cs typeface="Source Sans 3"/>
                  <a:sym typeface="Source Sans 3"/>
                </a:rPr>
                <a:t>in obesity tiers</a:t>
              </a:r>
            </a:p>
          </p:txBody>
        </p:sp>
        <p:grpSp>
          <p:nvGrpSpPr>
            <p:cNvPr name="Group 7" id="7"/>
            <p:cNvGrpSpPr/>
            <p:nvPr/>
          </p:nvGrpSpPr>
          <p:grpSpPr>
            <a:xfrm rot="0">
              <a:off x="0" y="2667000"/>
              <a:ext cx="1270000" cy="101600"/>
              <a:chOff x="0" y="0"/>
              <a:chExt cx="1270000" cy="101600"/>
            </a:xfrm>
          </p:grpSpPr>
          <p:sp>
            <p:nvSpPr>
              <p:cNvPr name="Freeform 8" id="8"/>
              <p:cNvSpPr/>
              <p:nvPr/>
            </p:nvSpPr>
            <p:spPr>
              <a:xfrm flipH="false" flipV="false" rot="0">
                <a:off x="0" y="0"/>
                <a:ext cx="1270000" cy="101600"/>
              </a:xfrm>
              <a:custGeom>
                <a:avLst/>
                <a:gdLst/>
                <a:ahLst/>
                <a:cxnLst/>
                <a:rect r="r" b="b" t="t" l="l"/>
                <a:pathLst>
                  <a:path h="101600" w="1270000">
                    <a:moveTo>
                      <a:pt x="0" y="0"/>
                    </a:moveTo>
                    <a:lnTo>
                      <a:pt x="1270000" y="0"/>
                    </a:lnTo>
                    <a:lnTo>
                      <a:pt x="1270000" y="101600"/>
                    </a:lnTo>
                    <a:lnTo>
                      <a:pt x="0" y="101600"/>
                    </a:lnTo>
                    <a:close/>
                  </a:path>
                </a:pathLst>
              </a:custGeom>
              <a:solidFill>
                <a:srgbClr val="EF6B5B"/>
              </a:solidFill>
              <a:ln cap="sq">
                <a:noFill/>
                <a:prstDash val="solid"/>
                <a:miter/>
              </a:ln>
            </p:spPr>
          </p:sp>
          <p:sp>
            <p:nvSpPr>
              <p:cNvPr name="TextBox 9" id="9"/>
              <p:cNvSpPr txBox="true"/>
              <p:nvPr/>
            </p:nvSpPr>
            <p:spPr>
              <a:xfrm>
                <a:off x="0" y="-38100"/>
                <a:ext cx="1270000" cy="1397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0" y="3136900"/>
              <a:ext cx="4826000" cy="1766570"/>
            </a:xfrm>
            <a:prstGeom prst="rect">
              <a:avLst/>
            </a:prstGeom>
          </p:spPr>
          <p:txBody>
            <a:bodyPr anchor="t" rtlCol="false" tIns="0" lIns="0" bIns="0" rIns="0">
              <a:spAutoFit/>
            </a:bodyPr>
            <a:lstStyle/>
            <a:p>
              <a:pPr algn="l">
                <a:lnSpc>
                  <a:spcPts val="2632"/>
                </a:lnSpc>
              </a:pPr>
              <a:r>
                <a:rPr lang="en-US" sz="1950">
                  <a:solidFill>
                    <a:srgbClr val="17313B"/>
                  </a:solidFill>
                  <a:latin typeface="Source Sans 3"/>
                  <a:ea typeface="Source Sans 3"/>
                  <a:cs typeface="Source Sans 3"/>
                  <a:sym typeface="Source Sans 3"/>
                </a:rPr>
                <a:t>The ordered target is not binary. Preserve its seven-tier structure—and inspect class-level error, not accuracy alone.</a:t>
              </a:r>
            </a:p>
          </p:txBody>
        </p:sp>
      </p:grpSp>
      <p:grpSp>
        <p:nvGrpSpPr>
          <p:cNvPr name="Group 11" id="11"/>
          <p:cNvGrpSpPr/>
          <p:nvPr/>
        </p:nvGrpSpPr>
        <p:grpSpPr>
          <a:xfrm rot="0">
            <a:off x="990600" y="9258300"/>
            <a:ext cx="16593782" cy="422910"/>
            <a:chOff x="0" y="0"/>
            <a:chExt cx="22125042" cy="563880"/>
          </a:xfrm>
        </p:grpSpPr>
        <p:sp>
          <p:nvSpPr>
            <p:cNvPr name="AutoShape 12" id="12"/>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3" id="13"/>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4" id="14"/>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09/22</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Age is strongly associated with weight tier</a:t>
            </a:r>
          </a:p>
        </p:txBody>
      </p:sp>
      <p:pic>
        <p:nvPicPr>
          <p:cNvPr name="Picture 3" id="3"/>
          <p:cNvPicPr>
            <a:picLocks noChangeAspect="true"/>
          </p:cNvPicPr>
          <p:nvPr/>
        </p:nvPicPr>
        <p:blipFill>
          <a:blip r:embed="rId2"/>
          <a:stretch>
            <a:fillRect/>
          </a:stretch>
        </p:blipFill>
        <p:spPr>
          <a:xfrm rot="0">
            <a:off x="-116708" y="1149584"/>
            <a:ext cx="14025618" cy="8283108"/>
          </a:xfrm>
          <a:prstGeom prst="rect">
            <a:avLst/>
          </a:prstGeom>
        </p:spPr>
      </p:pic>
      <p:grpSp>
        <p:nvGrpSpPr>
          <p:cNvPr name="Group 4" id="4"/>
          <p:cNvGrpSpPr/>
          <p:nvPr/>
        </p:nvGrpSpPr>
        <p:grpSpPr>
          <a:xfrm rot="0">
            <a:off x="13335000" y="2381250"/>
            <a:ext cx="3905250" cy="4476750"/>
            <a:chOff x="0" y="0"/>
            <a:chExt cx="5207000" cy="5969000"/>
          </a:xfrm>
        </p:grpSpPr>
        <p:grpSp>
          <p:nvGrpSpPr>
            <p:cNvPr name="Group 5" id="5"/>
            <p:cNvGrpSpPr/>
            <p:nvPr/>
          </p:nvGrpSpPr>
          <p:grpSpPr>
            <a:xfrm rot="0">
              <a:off x="0" y="0"/>
              <a:ext cx="5207000" cy="5969000"/>
              <a:chOff x="0" y="0"/>
              <a:chExt cx="5207000" cy="5969000"/>
            </a:xfrm>
          </p:grpSpPr>
          <p:sp>
            <p:nvSpPr>
              <p:cNvPr name="Freeform 6" id="6"/>
              <p:cNvSpPr/>
              <p:nvPr/>
            </p:nvSpPr>
            <p:spPr>
              <a:xfrm flipH="false" flipV="false" rot="0">
                <a:off x="0" y="0"/>
                <a:ext cx="5207000" cy="5969000"/>
              </a:xfrm>
              <a:custGeom>
                <a:avLst/>
                <a:gdLst/>
                <a:ahLst/>
                <a:cxnLst/>
                <a:rect r="r" b="b" t="t" l="l"/>
                <a:pathLst>
                  <a:path h="5969000" w="5207000">
                    <a:moveTo>
                      <a:pt x="0" y="0"/>
                    </a:moveTo>
                    <a:lnTo>
                      <a:pt x="5207000" y="0"/>
                    </a:lnTo>
                    <a:lnTo>
                      <a:pt x="5207000" y="5969000"/>
                    </a:lnTo>
                    <a:lnTo>
                      <a:pt x="0" y="5969000"/>
                    </a:lnTo>
                    <a:close/>
                  </a:path>
                </a:pathLst>
              </a:custGeom>
              <a:solidFill>
                <a:srgbClr val="FFFFFF"/>
              </a:solidFill>
              <a:ln cap="sq">
                <a:noFill/>
                <a:prstDash val="solid"/>
                <a:miter/>
              </a:ln>
            </p:spPr>
          </p:sp>
          <p:sp>
            <p:nvSpPr>
              <p:cNvPr name="TextBox 7" id="7"/>
              <p:cNvSpPr txBox="true"/>
              <p:nvPr/>
            </p:nvSpPr>
            <p:spPr>
              <a:xfrm>
                <a:off x="0" y="-38100"/>
                <a:ext cx="5207000" cy="6007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635000" y="711200"/>
              <a:ext cx="4445000" cy="1692910"/>
            </a:xfrm>
            <a:prstGeom prst="rect">
              <a:avLst/>
            </a:prstGeom>
          </p:spPr>
          <p:txBody>
            <a:bodyPr anchor="t" rtlCol="false" tIns="0" lIns="0" bIns="0" rIns="0">
              <a:spAutoFit/>
            </a:bodyPr>
            <a:lstStyle/>
            <a:p>
              <a:pPr algn="l">
                <a:lnSpc>
                  <a:spcPts val="4882"/>
                </a:lnSpc>
              </a:pPr>
              <a:r>
                <a:rPr lang="en-US" sz="4650" b="true">
                  <a:solidFill>
                    <a:srgbClr val="17313B"/>
                  </a:solidFill>
                  <a:latin typeface="Montserrat Bold"/>
                  <a:ea typeface="Montserrat Bold"/>
                  <a:cs typeface="Montserrat Bold"/>
                  <a:sym typeface="Montserrat Bold"/>
                </a:rPr>
                <a:t>ANOVA</a:t>
              </a:r>
            </a:p>
            <a:p>
              <a:pPr algn="l">
                <a:lnSpc>
                  <a:spcPts val="4882"/>
                </a:lnSpc>
              </a:pPr>
              <a:r>
                <a:rPr lang="en-US" sz="4650" b="true">
                  <a:solidFill>
                    <a:srgbClr val="17313B"/>
                  </a:solidFill>
                  <a:latin typeface="Montserrat Bold"/>
                  <a:ea typeface="Montserrat Bold"/>
                  <a:cs typeface="Montserrat Bold"/>
                  <a:sym typeface="Montserrat Bold"/>
                </a:rPr>
                <a:t>p &lt; 0.001</a:t>
              </a:r>
            </a:p>
          </p:txBody>
        </p:sp>
        <p:sp>
          <p:nvSpPr>
            <p:cNvPr name="TextBox 9" id="9"/>
            <p:cNvSpPr txBox="true"/>
            <p:nvPr/>
          </p:nvSpPr>
          <p:spPr>
            <a:xfrm rot="0">
              <a:off x="635000" y="3400425"/>
              <a:ext cx="4445000" cy="2263140"/>
            </a:xfrm>
            <a:prstGeom prst="rect">
              <a:avLst/>
            </a:prstGeom>
          </p:spPr>
          <p:txBody>
            <a:bodyPr anchor="t" rtlCol="false" tIns="0" lIns="0" bIns="0" rIns="0">
              <a:spAutoFit/>
            </a:bodyPr>
            <a:lstStyle/>
            <a:p>
              <a:pPr algn="l">
                <a:lnSpc>
                  <a:spcPts val="2733"/>
                </a:lnSpc>
              </a:pPr>
              <a:r>
                <a:rPr lang="en-US" sz="2025">
                  <a:solidFill>
                    <a:srgbClr val="17313B"/>
                  </a:solidFill>
                  <a:latin typeface="Source Sans 3"/>
                  <a:ea typeface="Source Sans 3"/>
                  <a:cs typeface="Source Sans 3"/>
                  <a:sym typeface="Source Sans 3"/>
                </a:rPr>
                <a:t>Age distributions shift systematically across tiers—especially toward Obesity II. Association is strong, but non-monotonic.</a:t>
              </a:r>
            </a:p>
          </p:txBody>
        </p:sp>
      </p:grpSp>
      <p:grpSp>
        <p:nvGrpSpPr>
          <p:cNvPr name="Group 10" id="10"/>
          <p:cNvGrpSpPr/>
          <p:nvPr/>
        </p:nvGrpSpPr>
        <p:grpSpPr>
          <a:xfrm rot="0">
            <a:off x="990600" y="9258300"/>
            <a:ext cx="16593782" cy="422910"/>
            <a:chOff x="0" y="0"/>
            <a:chExt cx="22125042" cy="563880"/>
          </a:xfrm>
        </p:grpSpPr>
        <p:sp>
          <p:nvSpPr>
            <p:cNvPr name="AutoShape 11" id="11"/>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2" id="12"/>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3" id="13"/>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10/22</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Family history: the genetic gatekeeper</a:t>
            </a:r>
          </a:p>
        </p:txBody>
      </p:sp>
      <p:pic>
        <p:nvPicPr>
          <p:cNvPr name="Picture 3" id="3"/>
          <p:cNvPicPr>
            <a:picLocks noChangeAspect="true"/>
          </p:cNvPicPr>
          <p:nvPr/>
        </p:nvPicPr>
        <p:blipFill>
          <a:blip r:embed="rId2"/>
          <a:stretch>
            <a:fillRect/>
          </a:stretch>
        </p:blipFill>
        <p:spPr>
          <a:xfrm rot="0">
            <a:off x="24139" y="1330648"/>
            <a:ext cx="12600920" cy="8016227"/>
          </a:xfrm>
          <a:prstGeom prst="rect">
            <a:avLst/>
          </a:prstGeom>
        </p:spPr>
      </p:pic>
      <p:sp>
        <p:nvSpPr>
          <p:cNvPr name="TextBox 4" id="4"/>
          <p:cNvSpPr txBox="true"/>
          <p:nvPr/>
        </p:nvSpPr>
        <p:spPr>
          <a:xfrm rot="0">
            <a:off x="13049250" y="2933700"/>
            <a:ext cx="3810000" cy="1291590"/>
          </a:xfrm>
          <a:prstGeom prst="rect">
            <a:avLst/>
          </a:prstGeom>
        </p:spPr>
        <p:txBody>
          <a:bodyPr anchor="t" rtlCol="false" tIns="0" lIns="0" bIns="0" rIns="0">
            <a:spAutoFit/>
          </a:bodyPr>
          <a:lstStyle/>
          <a:p>
            <a:pPr algn="l">
              <a:lnSpc>
                <a:spcPts val="5040"/>
              </a:lnSpc>
            </a:pPr>
            <a:r>
              <a:rPr lang="en-US" sz="4800" b="true">
                <a:solidFill>
                  <a:srgbClr val="17313B"/>
                </a:solidFill>
                <a:latin typeface="Montserrat Bold"/>
                <a:ea typeface="Montserrat Bold"/>
                <a:cs typeface="Montserrat Bold"/>
                <a:sym typeface="Montserrat Bold"/>
              </a:rPr>
              <a:t>χ² test</a:t>
            </a:r>
          </a:p>
          <a:p>
            <a:pPr algn="l">
              <a:lnSpc>
                <a:spcPts val="5040"/>
              </a:lnSpc>
            </a:pPr>
            <a:r>
              <a:rPr lang="en-US" sz="4800" b="true">
                <a:solidFill>
                  <a:srgbClr val="17313B"/>
                </a:solidFill>
                <a:latin typeface="Montserrat Bold"/>
                <a:ea typeface="Montserrat Bold"/>
                <a:cs typeface="Montserrat Bold"/>
                <a:sym typeface="Montserrat Bold"/>
              </a:rPr>
              <a:t>p &lt; 0.001</a:t>
            </a:r>
          </a:p>
        </p:txBody>
      </p:sp>
      <p:sp>
        <p:nvSpPr>
          <p:cNvPr name="TextBox 5" id="5"/>
          <p:cNvSpPr txBox="true"/>
          <p:nvPr/>
        </p:nvSpPr>
        <p:spPr>
          <a:xfrm rot="0">
            <a:off x="13049250" y="4914900"/>
            <a:ext cx="3905250" cy="1165384"/>
          </a:xfrm>
          <a:prstGeom prst="rect">
            <a:avLst/>
          </a:prstGeom>
        </p:spPr>
        <p:txBody>
          <a:bodyPr anchor="t" rtlCol="false" tIns="0" lIns="0" bIns="0" rIns="0">
            <a:spAutoFit/>
          </a:bodyPr>
          <a:lstStyle/>
          <a:p>
            <a:pPr algn="l">
              <a:lnSpc>
                <a:spcPts val="3138"/>
              </a:lnSpc>
            </a:pPr>
            <a:r>
              <a:rPr lang="en-US" sz="2325">
                <a:solidFill>
                  <a:srgbClr val="17313B"/>
                </a:solidFill>
                <a:latin typeface="Source Sans 3"/>
                <a:ea typeface="Source Sans 3"/>
                <a:cs typeface="Source Sans 3"/>
                <a:sym typeface="Source Sans 3"/>
              </a:rPr>
              <a:t>Family history changes the baseline risk context for nearly every lifestyle variable.</a:t>
            </a:r>
          </a:p>
        </p:txBody>
      </p:sp>
      <p:sp>
        <p:nvSpPr>
          <p:cNvPr name="TextBox 6" id="6"/>
          <p:cNvSpPr txBox="true"/>
          <p:nvPr/>
        </p:nvSpPr>
        <p:spPr>
          <a:xfrm rot="0">
            <a:off x="13049250" y="6829425"/>
            <a:ext cx="3905250" cy="257175"/>
          </a:xfrm>
          <a:prstGeom prst="rect">
            <a:avLst/>
          </a:prstGeom>
        </p:spPr>
        <p:txBody>
          <a:bodyPr anchor="t" rtlCol="false" tIns="0" lIns="0" bIns="0" rIns="0">
            <a:spAutoFit/>
          </a:bodyPr>
          <a:lstStyle/>
          <a:p>
            <a:pPr algn="l">
              <a:lnSpc>
                <a:spcPts val="2100"/>
              </a:lnSpc>
            </a:pPr>
            <a:r>
              <a:rPr lang="en-US" sz="1500" spc="179" b="true">
                <a:solidFill>
                  <a:srgbClr val="1D8A85"/>
                </a:solidFill>
                <a:latin typeface="IBM Plex Mono Bold"/>
                <a:ea typeface="IBM Plex Mono Bold"/>
                <a:cs typeface="IBM Plex Mono Bold"/>
                <a:sym typeface="IBM Plex Mono Bold"/>
              </a:rPr>
              <a:t>CONDITION, DON’T COLLAPSE</a:t>
            </a:r>
          </a:p>
        </p:txBody>
      </p:sp>
      <p:grpSp>
        <p:nvGrpSpPr>
          <p:cNvPr name="Group 7" id="7"/>
          <p:cNvGrpSpPr/>
          <p:nvPr/>
        </p:nvGrpSpPr>
        <p:grpSpPr>
          <a:xfrm rot="0">
            <a:off x="990600" y="9258300"/>
            <a:ext cx="16593782" cy="505778"/>
            <a:chOff x="0" y="0"/>
            <a:chExt cx="22125042" cy="674370"/>
          </a:xfrm>
        </p:grpSpPr>
        <p:sp>
          <p:nvSpPr>
            <p:cNvPr name="AutoShape 8" id="8"/>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9" id="9"/>
            <p:cNvSpPr txBox="true"/>
            <p:nvPr/>
          </p:nvSpPr>
          <p:spPr>
            <a:xfrm rot="0">
              <a:off x="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0" id="10"/>
            <p:cNvSpPr txBox="true"/>
            <p:nvPr/>
          </p:nvSpPr>
          <p:spPr>
            <a:xfrm rot="0">
              <a:off x="1076960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11/22</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B1F33"/>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9021"/>
          </a:xfrm>
          <a:prstGeom prst="rect">
            <a:avLst/>
          </a:prstGeom>
        </p:spPr>
        <p:txBody>
          <a:bodyPr anchor="t" rtlCol="false" tIns="0" lIns="0" bIns="0" rIns="0">
            <a:spAutoFit/>
          </a:bodyPr>
          <a:lstStyle/>
          <a:p>
            <a:pPr algn="l">
              <a:lnSpc>
                <a:spcPts val="4212"/>
              </a:lnSpc>
            </a:pPr>
            <a:r>
              <a:rPr lang="en-US" sz="4050" b="true">
                <a:solidFill>
                  <a:srgbClr val="FFFFFF"/>
                </a:solidFill>
                <a:latin typeface="Montserrat Bold"/>
                <a:ea typeface="Montserrat Bold"/>
                <a:cs typeface="Montserrat Bold"/>
                <a:sym typeface="Montserrat Bold"/>
              </a:rPr>
              <a:t>The commute × age interaction</a:t>
            </a:r>
          </a:p>
        </p:txBody>
      </p:sp>
      <p:pic>
        <p:nvPicPr>
          <p:cNvPr name="Picture 3" id="3"/>
          <p:cNvPicPr>
            <a:picLocks noChangeAspect="true"/>
          </p:cNvPicPr>
          <p:nvPr/>
        </p:nvPicPr>
        <p:blipFill>
          <a:blip r:embed="rId2"/>
          <a:stretch>
            <a:fillRect/>
          </a:stretch>
        </p:blipFill>
        <p:spPr>
          <a:xfrm rot="0">
            <a:off x="-147460" y="1172434"/>
            <a:ext cx="14468118" cy="8618409"/>
          </a:xfrm>
          <a:prstGeom prst="rect">
            <a:avLst/>
          </a:prstGeom>
        </p:spPr>
      </p:pic>
      <p:sp>
        <p:nvSpPr>
          <p:cNvPr name="TextBox 4" id="4"/>
          <p:cNvSpPr txBox="true"/>
          <p:nvPr/>
        </p:nvSpPr>
        <p:spPr>
          <a:xfrm rot="0">
            <a:off x="13811250" y="3238500"/>
            <a:ext cx="3333750" cy="905637"/>
          </a:xfrm>
          <a:prstGeom prst="rect">
            <a:avLst/>
          </a:prstGeom>
        </p:spPr>
        <p:txBody>
          <a:bodyPr anchor="t" rtlCol="false" tIns="0" lIns="0" bIns="0" rIns="0">
            <a:spAutoFit/>
          </a:bodyPr>
          <a:lstStyle/>
          <a:p>
            <a:pPr algn="l">
              <a:lnSpc>
                <a:spcPts val="6864"/>
              </a:lnSpc>
            </a:pPr>
            <a:r>
              <a:rPr lang="en-US" sz="6600" b="true">
                <a:solidFill>
                  <a:srgbClr val="FFFFFF"/>
                </a:solidFill>
                <a:latin typeface="Montserrat Bold"/>
                <a:ea typeface="Montserrat Bold"/>
                <a:cs typeface="Montserrat Bold"/>
                <a:sym typeface="Montserrat Bold"/>
              </a:rPr>
              <a:t>+27 pp</a:t>
            </a:r>
          </a:p>
        </p:txBody>
      </p:sp>
      <p:sp>
        <p:nvSpPr>
          <p:cNvPr name="TextBox 5" id="5"/>
          <p:cNvSpPr txBox="true"/>
          <p:nvPr/>
        </p:nvSpPr>
        <p:spPr>
          <a:xfrm rot="0">
            <a:off x="13811250" y="4200525"/>
            <a:ext cx="3333750" cy="774859"/>
          </a:xfrm>
          <a:prstGeom prst="rect">
            <a:avLst/>
          </a:prstGeom>
        </p:spPr>
        <p:txBody>
          <a:bodyPr anchor="t" rtlCol="false" tIns="0" lIns="0" bIns="0" rIns="0">
            <a:spAutoFit/>
          </a:bodyPr>
          <a:lstStyle/>
          <a:p>
            <a:pPr algn="l">
              <a:lnSpc>
                <a:spcPts val="3138"/>
              </a:lnSpc>
            </a:pPr>
            <a:r>
              <a:rPr lang="en-US" sz="2325">
                <a:solidFill>
                  <a:srgbClr val="FFFFFF"/>
                </a:solidFill>
                <a:latin typeface="Source Sans 3"/>
                <a:ea typeface="Source Sans 3"/>
                <a:cs typeface="Source Sans 3"/>
                <a:sym typeface="Source Sans 3"/>
              </a:rPr>
              <a:t>automobile jump</a:t>
            </a:r>
          </a:p>
          <a:p>
            <a:pPr algn="l">
              <a:lnSpc>
                <a:spcPts val="3138"/>
              </a:lnSpc>
            </a:pPr>
            <a:r>
              <a:rPr lang="en-US" sz="2325">
                <a:solidFill>
                  <a:srgbClr val="FFFFFF"/>
                </a:solidFill>
                <a:latin typeface="Source Sans 3"/>
                <a:ea typeface="Source Sans 3"/>
                <a:cs typeface="Source Sans 3"/>
                <a:sym typeface="Source Sans 3"/>
              </a:rPr>
              <a:t>after age 25</a:t>
            </a:r>
          </a:p>
        </p:txBody>
      </p:sp>
      <p:sp>
        <p:nvSpPr>
          <p:cNvPr name="TextBox 6" id="6"/>
          <p:cNvSpPr txBox="true"/>
          <p:nvPr/>
        </p:nvSpPr>
        <p:spPr>
          <a:xfrm rot="0">
            <a:off x="13811250" y="6162675"/>
            <a:ext cx="3333750" cy="1018699"/>
          </a:xfrm>
          <a:prstGeom prst="rect">
            <a:avLst/>
          </a:prstGeom>
        </p:spPr>
        <p:txBody>
          <a:bodyPr anchor="t" rtlCol="false" tIns="0" lIns="0" bIns="0" rIns="0">
            <a:spAutoFit/>
          </a:bodyPr>
          <a:lstStyle/>
          <a:p>
            <a:pPr algn="l">
              <a:lnSpc>
                <a:spcPts val="2733"/>
              </a:lnSpc>
            </a:pPr>
            <a:r>
              <a:rPr lang="en-US" sz="2025">
                <a:solidFill>
                  <a:srgbClr val="FFFFFF"/>
                </a:solidFill>
                <a:latin typeface="Source Sans 3"/>
                <a:ea typeface="Source Sans 3"/>
                <a:cs typeface="Source Sans 3"/>
                <a:sym typeface="Source Sans 3"/>
              </a:rPr>
              <a:t>Commute mode becomes informative only when age is visible.</a:t>
            </a:r>
          </a:p>
        </p:txBody>
      </p:sp>
      <p:grpSp>
        <p:nvGrpSpPr>
          <p:cNvPr name="Group 7" id="7"/>
          <p:cNvGrpSpPr/>
          <p:nvPr/>
        </p:nvGrpSpPr>
        <p:grpSpPr>
          <a:xfrm rot="0">
            <a:off x="990600" y="9258300"/>
            <a:ext cx="16593782" cy="422910"/>
            <a:chOff x="0" y="0"/>
            <a:chExt cx="22125042" cy="563880"/>
          </a:xfrm>
        </p:grpSpPr>
        <p:sp>
          <p:nvSpPr>
            <p:cNvPr name="AutoShape 8" id="8"/>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9" id="9"/>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0" id="10"/>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12/22</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The meal-skipping paradox</a:t>
            </a:r>
          </a:p>
        </p:txBody>
      </p:sp>
      <p:pic>
        <p:nvPicPr>
          <p:cNvPr name="Picture 3" id="3"/>
          <p:cNvPicPr>
            <a:picLocks noChangeAspect="true"/>
          </p:cNvPicPr>
          <p:nvPr/>
        </p:nvPicPr>
        <p:blipFill>
          <a:blip r:embed="rId2"/>
          <a:stretch>
            <a:fillRect/>
          </a:stretch>
        </p:blipFill>
        <p:spPr>
          <a:xfrm rot="0">
            <a:off x="-15438" y="1515345"/>
            <a:ext cx="12680077" cy="7546823"/>
          </a:xfrm>
          <a:prstGeom prst="rect">
            <a:avLst/>
          </a:prstGeom>
        </p:spPr>
      </p:pic>
      <p:sp>
        <p:nvSpPr>
          <p:cNvPr name="TextBox 4" id="4"/>
          <p:cNvSpPr txBox="true"/>
          <p:nvPr/>
        </p:nvSpPr>
        <p:spPr>
          <a:xfrm rot="0">
            <a:off x="13239750" y="2628900"/>
            <a:ext cx="2571750" cy="1557338"/>
          </a:xfrm>
          <a:prstGeom prst="rect">
            <a:avLst/>
          </a:prstGeom>
        </p:spPr>
        <p:txBody>
          <a:bodyPr anchor="t" rtlCol="false" tIns="0" lIns="0" bIns="0" rIns="0">
            <a:spAutoFit/>
          </a:bodyPr>
          <a:lstStyle/>
          <a:p>
            <a:pPr algn="l">
              <a:lnSpc>
                <a:spcPts val="11812"/>
              </a:lnSpc>
            </a:pPr>
            <a:r>
              <a:rPr lang="en-US" sz="11250" b="true">
                <a:solidFill>
                  <a:srgbClr val="17313B"/>
                </a:solidFill>
                <a:latin typeface="Montserrat Bold"/>
                <a:ea typeface="Montserrat Bold"/>
                <a:cs typeface="Montserrat Bold"/>
                <a:sym typeface="Montserrat Bold"/>
              </a:rPr>
              <a:t>≠</a:t>
            </a:r>
          </a:p>
        </p:txBody>
      </p:sp>
      <p:sp>
        <p:nvSpPr>
          <p:cNvPr name="TextBox 5" id="5"/>
          <p:cNvSpPr txBox="true"/>
          <p:nvPr/>
        </p:nvSpPr>
        <p:spPr>
          <a:xfrm rot="0">
            <a:off x="13049250" y="4419600"/>
            <a:ext cx="4095750" cy="1249204"/>
          </a:xfrm>
          <a:prstGeom prst="rect">
            <a:avLst/>
          </a:prstGeom>
        </p:spPr>
        <p:txBody>
          <a:bodyPr anchor="t" rtlCol="false" tIns="0" lIns="0" bIns="0" rIns="0">
            <a:spAutoFit/>
          </a:bodyPr>
          <a:lstStyle/>
          <a:p>
            <a:pPr algn="l">
              <a:lnSpc>
                <a:spcPts val="3228"/>
              </a:lnSpc>
            </a:pPr>
            <a:r>
              <a:rPr lang="en-US" sz="3075" b="true">
                <a:solidFill>
                  <a:srgbClr val="17313B"/>
                </a:solidFill>
                <a:latin typeface="Montserrat Bold"/>
                <a:ea typeface="Montserrat Bold"/>
                <a:cs typeface="Montserrat Bold"/>
                <a:sym typeface="Montserrat Bold"/>
              </a:rPr>
              <a:t>fewer meals</a:t>
            </a:r>
          </a:p>
          <a:p>
            <a:pPr algn="l">
              <a:lnSpc>
                <a:spcPts val="3228"/>
              </a:lnSpc>
            </a:pPr>
            <a:r>
              <a:rPr lang="en-US" sz="3075" b="true">
                <a:solidFill>
                  <a:srgbClr val="17313B"/>
                </a:solidFill>
                <a:latin typeface="Montserrat Bold"/>
                <a:ea typeface="Montserrat Bold"/>
                <a:cs typeface="Montserrat Bold"/>
                <a:sym typeface="Montserrat Bold"/>
              </a:rPr>
              <a:t>is not automatically</a:t>
            </a:r>
          </a:p>
          <a:p>
            <a:pPr algn="l">
              <a:lnSpc>
                <a:spcPts val="3228"/>
              </a:lnSpc>
            </a:pPr>
            <a:r>
              <a:rPr lang="en-US" sz="3075" b="true">
                <a:solidFill>
                  <a:srgbClr val="17313B"/>
                </a:solidFill>
                <a:latin typeface="Montserrat Bold"/>
                <a:ea typeface="Montserrat Bold"/>
                <a:cs typeface="Montserrat Bold"/>
                <a:sym typeface="Montserrat Bold"/>
              </a:rPr>
              <a:t>lower risk</a:t>
            </a:r>
          </a:p>
        </p:txBody>
      </p:sp>
      <p:sp>
        <p:nvSpPr>
          <p:cNvPr name="TextBox 6" id="6"/>
          <p:cNvSpPr txBox="true"/>
          <p:nvPr/>
        </p:nvSpPr>
        <p:spPr>
          <a:xfrm rot="0">
            <a:off x="13049250" y="6924675"/>
            <a:ext cx="4000500" cy="908685"/>
          </a:xfrm>
          <a:prstGeom prst="rect">
            <a:avLst/>
          </a:prstGeom>
        </p:spPr>
        <p:txBody>
          <a:bodyPr anchor="t" rtlCol="false" tIns="0" lIns="0" bIns="0" rIns="0">
            <a:spAutoFit/>
          </a:bodyPr>
          <a:lstStyle/>
          <a:p>
            <a:pPr algn="l">
              <a:lnSpc>
                <a:spcPts val="2430"/>
              </a:lnSpc>
            </a:pPr>
            <a:r>
              <a:rPr lang="en-US" sz="1800">
                <a:solidFill>
                  <a:srgbClr val="17313B"/>
                </a:solidFill>
                <a:latin typeface="Source Sans 3"/>
                <a:ea typeface="Source Sans 3"/>
                <a:cs typeface="Source Sans 3"/>
                <a:sym typeface="Source Sans 3"/>
              </a:rPr>
              <a:t>Meal count is entangled with age, snacking, portions and routine. The raw pattern should not be read causally.</a:t>
            </a:r>
          </a:p>
        </p:txBody>
      </p:sp>
      <p:grpSp>
        <p:nvGrpSpPr>
          <p:cNvPr name="Group 7" id="7"/>
          <p:cNvGrpSpPr/>
          <p:nvPr/>
        </p:nvGrpSpPr>
        <p:grpSpPr>
          <a:xfrm rot="0">
            <a:off x="990600" y="9258300"/>
            <a:ext cx="16593782" cy="505778"/>
            <a:chOff x="0" y="0"/>
            <a:chExt cx="22125042" cy="674370"/>
          </a:xfrm>
        </p:grpSpPr>
        <p:sp>
          <p:nvSpPr>
            <p:cNvPr name="AutoShape 8" id="8"/>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9" id="9"/>
            <p:cNvSpPr txBox="true"/>
            <p:nvPr/>
          </p:nvSpPr>
          <p:spPr>
            <a:xfrm rot="0">
              <a:off x="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0" id="10"/>
            <p:cNvSpPr txBox="true"/>
            <p:nvPr/>
          </p:nvSpPr>
          <p:spPr>
            <a:xfrm rot="0">
              <a:off x="1076960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13/22</a:t>
              </a:r>
            </a:p>
          </p:txBody>
        </p:sp>
      </p:gr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09650"/>
            <a:ext cx="14287500" cy="509588"/>
          </a:xfrm>
          <a:prstGeom prst="rect">
            <a:avLst/>
          </a:prstGeom>
        </p:spPr>
        <p:txBody>
          <a:bodyPr anchor="t" rtlCol="false" tIns="0" lIns="0" bIns="0" rIns="0">
            <a:spAutoFit/>
          </a:bodyPr>
          <a:lstStyle/>
          <a:p>
            <a:pPr algn="l">
              <a:lnSpc>
                <a:spcPts val="3937"/>
              </a:lnSpc>
            </a:pPr>
            <a:r>
              <a:rPr lang="en-US" sz="3750" b="true">
                <a:solidFill>
                  <a:srgbClr val="17313B"/>
                </a:solidFill>
                <a:latin typeface="Montserrat Bold"/>
                <a:ea typeface="Montserrat Bold"/>
                <a:cs typeface="Montserrat Bold"/>
                <a:sym typeface="Montserrat Bold"/>
              </a:rPr>
              <a:t>When a variable looks irrelevant: FAVC × family history</a:t>
            </a:r>
          </a:p>
        </p:txBody>
      </p:sp>
      <p:pic>
        <p:nvPicPr>
          <p:cNvPr name="Picture 3" id="3"/>
          <p:cNvPicPr>
            <a:picLocks noChangeAspect="true"/>
          </p:cNvPicPr>
          <p:nvPr/>
        </p:nvPicPr>
        <p:blipFill>
          <a:blip r:embed="rId2"/>
          <a:stretch>
            <a:fillRect/>
          </a:stretch>
        </p:blipFill>
        <p:spPr>
          <a:xfrm rot="0">
            <a:off x="153531" y="1695877"/>
            <a:ext cx="12342138" cy="7285772"/>
          </a:xfrm>
          <a:prstGeom prst="rect">
            <a:avLst/>
          </a:prstGeom>
        </p:spPr>
      </p:pic>
      <p:sp>
        <p:nvSpPr>
          <p:cNvPr name="TextBox 4" id="4"/>
          <p:cNvSpPr txBox="true"/>
          <p:nvPr/>
        </p:nvSpPr>
        <p:spPr>
          <a:xfrm rot="0">
            <a:off x="13049250" y="2828925"/>
            <a:ext cx="3333750" cy="257175"/>
          </a:xfrm>
          <a:prstGeom prst="rect">
            <a:avLst/>
          </a:prstGeom>
        </p:spPr>
        <p:txBody>
          <a:bodyPr anchor="t" rtlCol="false" tIns="0" lIns="0" bIns="0" rIns="0">
            <a:spAutoFit/>
          </a:bodyPr>
          <a:lstStyle/>
          <a:p>
            <a:pPr algn="l">
              <a:lnSpc>
                <a:spcPts val="2100"/>
              </a:lnSpc>
            </a:pPr>
            <a:r>
              <a:rPr lang="en-US" sz="1500" spc="179" b="true">
                <a:solidFill>
                  <a:srgbClr val="1D8A85"/>
                </a:solidFill>
                <a:latin typeface="IBM Plex Mono Bold"/>
                <a:ea typeface="IBM Plex Mono Bold"/>
                <a:cs typeface="IBM Plex Mono Bold"/>
                <a:sym typeface="IBM Plex Mono Bold"/>
              </a:rPr>
              <a:t>RAW VIEW</a:t>
            </a:r>
          </a:p>
        </p:txBody>
      </p:sp>
      <p:sp>
        <p:nvSpPr>
          <p:cNvPr name="TextBox 5" id="5"/>
          <p:cNvSpPr txBox="true"/>
          <p:nvPr/>
        </p:nvSpPr>
        <p:spPr>
          <a:xfrm rot="0">
            <a:off x="13049250" y="3343275"/>
            <a:ext cx="3333750" cy="1038225"/>
          </a:xfrm>
          <a:prstGeom prst="rect">
            <a:avLst/>
          </a:prstGeom>
        </p:spPr>
        <p:txBody>
          <a:bodyPr anchor="t" rtlCol="false" tIns="0" lIns="0" bIns="0" rIns="0">
            <a:spAutoFit/>
          </a:bodyPr>
          <a:lstStyle/>
          <a:p>
            <a:pPr algn="l">
              <a:lnSpc>
                <a:spcPts val="7875"/>
              </a:lnSpc>
            </a:pPr>
            <a:r>
              <a:rPr lang="en-US" sz="7500" b="true">
                <a:solidFill>
                  <a:srgbClr val="17313B"/>
                </a:solidFill>
                <a:latin typeface="Montserrat Bold"/>
                <a:ea typeface="Montserrat Bold"/>
                <a:cs typeface="Montserrat Bold"/>
                <a:sym typeface="Montserrat Bold"/>
              </a:rPr>
              <a:t>≈ 0</a:t>
            </a:r>
          </a:p>
        </p:txBody>
      </p:sp>
      <p:sp>
        <p:nvSpPr>
          <p:cNvPr name="TextBox 6" id="6"/>
          <p:cNvSpPr txBox="true"/>
          <p:nvPr/>
        </p:nvSpPr>
        <p:spPr>
          <a:xfrm rot="0">
            <a:off x="13049250" y="4305300"/>
            <a:ext cx="3333750" cy="307181"/>
          </a:xfrm>
          <a:prstGeom prst="rect">
            <a:avLst/>
          </a:prstGeom>
        </p:spPr>
        <p:txBody>
          <a:bodyPr anchor="t" rtlCol="false" tIns="0" lIns="0" bIns="0" rIns="0">
            <a:spAutoFit/>
          </a:bodyPr>
          <a:lstStyle/>
          <a:p>
            <a:pPr algn="l">
              <a:lnSpc>
                <a:spcPts val="2531"/>
              </a:lnSpc>
            </a:pPr>
            <a:r>
              <a:rPr lang="en-US" sz="1875">
                <a:solidFill>
                  <a:srgbClr val="17313B"/>
                </a:solidFill>
                <a:latin typeface="Source Sans 3"/>
                <a:ea typeface="Source Sans 3"/>
                <a:cs typeface="Source Sans 3"/>
                <a:sym typeface="Source Sans 3"/>
              </a:rPr>
              <a:t>simple relationship</a:t>
            </a:r>
          </a:p>
        </p:txBody>
      </p:sp>
      <p:sp>
        <p:nvSpPr>
          <p:cNvPr name="TextBox 7" id="7"/>
          <p:cNvSpPr txBox="true"/>
          <p:nvPr/>
        </p:nvSpPr>
        <p:spPr>
          <a:xfrm rot="0">
            <a:off x="13049250" y="5400675"/>
            <a:ext cx="3810000" cy="257175"/>
          </a:xfrm>
          <a:prstGeom prst="rect">
            <a:avLst/>
          </a:prstGeom>
        </p:spPr>
        <p:txBody>
          <a:bodyPr anchor="t" rtlCol="false" tIns="0" lIns="0" bIns="0" rIns="0">
            <a:spAutoFit/>
          </a:bodyPr>
          <a:lstStyle/>
          <a:p>
            <a:pPr algn="l">
              <a:lnSpc>
                <a:spcPts val="2100"/>
              </a:lnSpc>
            </a:pPr>
            <a:r>
              <a:rPr lang="en-US" sz="1500" spc="179" b="true">
                <a:solidFill>
                  <a:srgbClr val="1D8A85"/>
                </a:solidFill>
                <a:latin typeface="IBM Plex Mono Bold"/>
                <a:ea typeface="IBM Plex Mono Bold"/>
                <a:cs typeface="IBM Plex Mono Bold"/>
                <a:sym typeface="IBM Plex Mono Bold"/>
              </a:rPr>
              <a:t>CONDITIONED VIEW</a:t>
            </a:r>
          </a:p>
        </p:txBody>
      </p:sp>
      <p:sp>
        <p:nvSpPr>
          <p:cNvPr name="TextBox 8" id="8"/>
          <p:cNvSpPr txBox="true"/>
          <p:nvPr/>
        </p:nvSpPr>
        <p:spPr>
          <a:xfrm rot="0">
            <a:off x="13049250" y="5962650"/>
            <a:ext cx="4000500" cy="487680"/>
          </a:xfrm>
          <a:prstGeom prst="rect">
            <a:avLst/>
          </a:prstGeom>
        </p:spPr>
        <p:txBody>
          <a:bodyPr anchor="t" rtlCol="false" tIns="0" lIns="0" bIns="0" rIns="0">
            <a:spAutoFit/>
          </a:bodyPr>
          <a:lstStyle/>
          <a:p>
            <a:pPr algn="l">
              <a:lnSpc>
                <a:spcPts val="3780"/>
              </a:lnSpc>
            </a:pPr>
            <a:r>
              <a:rPr lang="en-US" sz="3600" b="true">
                <a:solidFill>
                  <a:srgbClr val="17313B"/>
                </a:solidFill>
                <a:latin typeface="Montserrat Bold"/>
                <a:ea typeface="Montserrat Bold"/>
                <a:cs typeface="Montserrat Bold"/>
                <a:sym typeface="Montserrat Bold"/>
              </a:rPr>
              <a:t>Signal emerges</a:t>
            </a:r>
          </a:p>
        </p:txBody>
      </p:sp>
      <p:sp>
        <p:nvSpPr>
          <p:cNvPr name="TextBox 9" id="9"/>
          <p:cNvSpPr txBox="true"/>
          <p:nvPr/>
        </p:nvSpPr>
        <p:spPr>
          <a:xfrm rot="0">
            <a:off x="13049250" y="6543675"/>
            <a:ext cx="3810000" cy="307181"/>
          </a:xfrm>
          <a:prstGeom prst="rect">
            <a:avLst/>
          </a:prstGeom>
        </p:spPr>
        <p:txBody>
          <a:bodyPr anchor="t" rtlCol="false" tIns="0" lIns="0" bIns="0" rIns="0">
            <a:spAutoFit/>
          </a:bodyPr>
          <a:lstStyle/>
          <a:p>
            <a:pPr algn="l">
              <a:lnSpc>
                <a:spcPts val="2531"/>
              </a:lnSpc>
            </a:pPr>
            <a:r>
              <a:rPr lang="en-US" sz="1875">
                <a:solidFill>
                  <a:srgbClr val="17313B"/>
                </a:solidFill>
                <a:latin typeface="Source Sans 3"/>
                <a:ea typeface="Source Sans 3"/>
                <a:cs typeface="Source Sans 3"/>
                <a:sym typeface="Source Sans 3"/>
              </a:rPr>
              <a:t>within the family-history strata</a:t>
            </a:r>
          </a:p>
        </p:txBody>
      </p:sp>
      <p:grpSp>
        <p:nvGrpSpPr>
          <p:cNvPr name="Group 10" id="10"/>
          <p:cNvGrpSpPr/>
          <p:nvPr/>
        </p:nvGrpSpPr>
        <p:grpSpPr>
          <a:xfrm rot="0">
            <a:off x="990600" y="9258300"/>
            <a:ext cx="16593782" cy="505778"/>
            <a:chOff x="0" y="0"/>
            <a:chExt cx="22125042" cy="674370"/>
          </a:xfrm>
        </p:grpSpPr>
        <p:sp>
          <p:nvSpPr>
            <p:cNvPr name="AutoShape 11" id="11"/>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2" id="12"/>
            <p:cNvSpPr txBox="true"/>
            <p:nvPr/>
          </p:nvSpPr>
          <p:spPr>
            <a:xfrm rot="0">
              <a:off x="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3" id="13"/>
            <p:cNvSpPr txBox="true"/>
            <p:nvPr/>
          </p:nvSpPr>
          <p:spPr>
            <a:xfrm rot="0">
              <a:off x="1076960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14/22</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Correlation map: what matters most?</a:t>
            </a:r>
          </a:p>
        </p:txBody>
      </p:sp>
      <p:pic>
        <p:nvPicPr>
          <p:cNvPr name="Picture 3" id="3"/>
          <p:cNvPicPr>
            <a:picLocks noChangeAspect="true"/>
          </p:cNvPicPr>
          <p:nvPr/>
        </p:nvPicPr>
        <p:blipFill>
          <a:blip r:embed="rId2"/>
          <a:stretch>
            <a:fillRect/>
          </a:stretch>
        </p:blipFill>
        <p:spPr>
          <a:xfrm rot="0">
            <a:off x="-9601" y="1241473"/>
            <a:ext cx="13523105" cy="8385080"/>
          </a:xfrm>
          <a:prstGeom prst="rect">
            <a:avLst/>
          </a:prstGeom>
        </p:spPr>
      </p:pic>
      <p:sp>
        <p:nvSpPr>
          <p:cNvPr name="TextBox 4" id="4"/>
          <p:cNvSpPr txBox="true"/>
          <p:nvPr/>
        </p:nvSpPr>
        <p:spPr>
          <a:xfrm rot="0">
            <a:off x="13620750" y="2895600"/>
            <a:ext cx="3714750" cy="332899"/>
          </a:xfrm>
          <a:prstGeom prst="rect">
            <a:avLst/>
          </a:prstGeom>
        </p:spPr>
        <p:txBody>
          <a:bodyPr anchor="t" rtlCol="false" tIns="0" lIns="0" bIns="0" rIns="0">
            <a:spAutoFit/>
          </a:bodyPr>
          <a:lstStyle/>
          <a:p>
            <a:pPr algn="l">
              <a:lnSpc>
                <a:spcPts val="2598"/>
              </a:lnSpc>
            </a:pPr>
            <a:r>
              <a:rPr lang="en-US" sz="2475" b="true">
                <a:solidFill>
                  <a:srgbClr val="17313B"/>
                </a:solidFill>
                <a:latin typeface="Montserrat Bold"/>
                <a:ea typeface="Montserrat Bold"/>
                <a:cs typeface="Montserrat Bold"/>
                <a:sym typeface="Montserrat Bold"/>
              </a:rPr>
              <a:t>Ranking ≠ explanation</a:t>
            </a:r>
          </a:p>
        </p:txBody>
      </p:sp>
      <p:sp>
        <p:nvSpPr>
          <p:cNvPr name="TextBox 5" id="5"/>
          <p:cNvSpPr txBox="true"/>
          <p:nvPr/>
        </p:nvSpPr>
        <p:spPr>
          <a:xfrm rot="0">
            <a:off x="13620750" y="4257675"/>
            <a:ext cx="3429000" cy="1361599"/>
          </a:xfrm>
          <a:prstGeom prst="rect">
            <a:avLst/>
          </a:prstGeom>
        </p:spPr>
        <p:txBody>
          <a:bodyPr anchor="t" rtlCol="false" tIns="0" lIns="0" bIns="0" rIns="0">
            <a:spAutoFit/>
          </a:bodyPr>
          <a:lstStyle/>
          <a:p>
            <a:pPr algn="l">
              <a:lnSpc>
                <a:spcPts val="2733"/>
              </a:lnSpc>
            </a:pPr>
            <a:r>
              <a:rPr lang="en-US" sz="2025">
                <a:solidFill>
                  <a:srgbClr val="17313B"/>
                </a:solidFill>
                <a:latin typeface="Source Sans 3"/>
                <a:ea typeface="Source Sans 3"/>
                <a:cs typeface="Source Sans 3"/>
                <a:sym typeface="Source Sans 3"/>
              </a:rPr>
              <a:t>Weight is mechanically close to the target definition. Smaller marginal coefficients can still hide large conditional effects.</a:t>
            </a:r>
          </a:p>
        </p:txBody>
      </p:sp>
      <p:sp>
        <p:nvSpPr>
          <p:cNvPr name="TextBox 6" id="6"/>
          <p:cNvSpPr txBox="true"/>
          <p:nvPr/>
        </p:nvSpPr>
        <p:spPr>
          <a:xfrm rot="0">
            <a:off x="13620750" y="6829425"/>
            <a:ext cx="3429000" cy="182880"/>
          </a:xfrm>
          <a:prstGeom prst="rect">
            <a:avLst/>
          </a:prstGeom>
        </p:spPr>
        <p:txBody>
          <a:bodyPr anchor="t" rtlCol="false" tIns="0" lIns="0" bIns="0" rIns="0">
            <a:spAutoFit/>
          </a:bodyPr>
          <a:lstStyle/>
          <a:p>
            <a:pPr algn="l">
              <a:lnSpc>
                <a:spcPts val="1470"/>
              </a:lnSpc>
            </a:pPr>
            <a:r>
              <a:rPr lang="en-US" sz="1050" spc="126" b="true">
                <a:solidFill>
                  <a:srgbClr val="1D8A85"/>
                </a:solidFill>
                <a:latin typeface="IBM Plex Mono Bold"/>
                <a:ea typeface="IBM Plex Mono Bold"/>
                <a:cs typeface="IBM Plex Mono Bold"/>
                <a:sym typeface="IBM Plex Mono Bold"/>
              </a:rPr>
              <a:t>ρ shown against ordered NObeyesdad</a:t>
            </a:r>
          </a:p>
        </p:txBody>
      </p:sp>
      <p:grpSp>
        <p:nvGrpSpPr>
          <p:cNvPr name="Group 7" id="7"/>
          <p:cNvGrpSpPr/>
          <p:nvPr/>
        </p:nvGrpSpPr>
        <p:grpSpPr>
          <a:xfrm rot="0">
            <a:off x="990600" y="9258300"/>
            <a:ext cx="16593782" cy="505778"/>
            <a:chOff x="0" y="0"/>
            <a:chExt cx="22125042" cy="674370"/>
          </a:xfrm>
        </p:grpSpPr>
        <p:sp>
          <p:nvSpPr>
            <p:cNvPr name="AutoShape 8" id="8"/>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9" id="9"/>
            <p:cNvSpPr txBox="true"/>
            <p:nvPr/>
          </p:nvSpPr>
          <p:spPr>
            <a:xfrm rot="0">
              <a:off x="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0" id="10"/>
            <p:cNvSpPr txBox="true"/>
            <p:nvPr/>
          </p:nvSpPr>
          <p:spPr>
            <a:xfrm rot="0">
              <a:off x="10769600" y="37401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15/22</a:t>
              </a:r>
            </a:p>
          </p:txBody>
        </p:sp>
      </p:grpSp>
    </p:spTree>
  </p:cSld>
  <p:clrMapOvr>
    <a:masterClrMapping/>
  </p:clrMapOvr>
</p:sld>
</file>

<file path=ppt/slides/slide16.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Grouping reveals structure</a:t>
            </a:r>
          </a:p>
        </p:txBody>
      </p:sp>
      <p:grpSp>
        <p:nvGrpSpPr>
          <p:cNvPr name="Group 3" id="3"/>
          <p:cNvGrpSpPr/>
          <p:nvPr/>
        </p:nvGrpSpPr>
        <p:grpSpPr>
          <a:xfrm rot="0">
            <a:off x="714375" y="3714750"/>
            <a:ext cx="2857500" cy="1333500"/>
            <a:chOff x="0" y="0"/>
            <a:chExt cx="3810000" cy="1778000"/>
          </a:xfrm>
        </p:grpSpPr>
        <p:sp>
          <p:nvSpPr>
            <p:cNvPr name="Freeform 4" id="4"/>
            <p:cNvSpPr/>
            <p:nvPr/>
          </p:nvSpPr>
          <p:spPr>
            <a:xfrm flipH="false" flipV="false" rot="0">
              <a:off x="0" y="0"/>
              <a:ext cx="3810000" cy="1778000"/>
            </a:xfrm>
            <a:custGeom>
              <a:avLst/>
              <a:gdLst/>
              <a:ahLst/>
              <a:cxnLst/>
              <a:rect r="r" b="b" t="t" l="l"/>
              <a:pathLst>
                <a:path h="1778000" w="3810000">
                  <a:moveTo>
                    <a:pt x="67733" y="0"/>
                  </a:moveTo>
                  <a:lnTo>
                    <a:pt x="3742267" y="0"/>
                  </a:lnTo>
                  <a:cubicBezTo>
                    <a:pt x="3760231" y="0"/>
                    <a:pt x="3777459" y="7136"/>
                    <a:pt x="3790161" y="19839"/>
                  </a:cubicBezTo>
                  <a:cubicBezTo>
                    <a:pt x="3802864" y="32541"/>
                    <a:pt x="3810000" y="49769"/>
                    <a:pt x="3810000" y="67733"/>
                  </a:cubicBezTo>
                  <a:lnTo>
                    <a:pt x="3810000" y="1710267"/>
                  </a:lnTo>
                  <a:cubicBezTo>
                    <a:pt x="3810000" y="1728231"/>
                    <a:pt x="3802864" y="1745459"/>
                    <a:pt x="3790161" y="1758161"/>
                  </a:cubicBezTo>
                  <a:cubicBezTo>
                    <a:pt x="3777459" y="1770864"/>
                    <a:pt x="3760231" y="1778000"/>
                    <a:pt x="3742267" y="1778000"/>
                  </a:cubicBezTo>
                  <a:lnTo>
                    <a:pt x="67733" y="1778000"/>
                  </a:lnTo>
                  <a:cubicBezTo>
                    <a:pt x="49769" y="1778000"/>
                    <a:pt x="32541" y="1770864"/>
                    <a:pt x="19839" y="1758161"/>
                  </a:cubicBezTo>
                  <a:cubicBezTo>
                    <a:pt x="7136" y="1745459"/>
                    <a:pt x="0" y="1728231"/>
                    <a:pt x="0" y="1710267"/>
                  </a:cubicBezTo>
                  <a:lnTo>
                    <a:pt x="0" y="67733"/>
                  </a:lnTo>
                  <a:cubicBezTo>
                    <a:pt x="0" y="49769"/>
                    <a:pt x="7136" y="32541"/>
                    <a:pt x="19839" y="19839"/>
                  </a:cubicBezTo>
                  <a:cubicBezTo>
                    <a:pt x="32541" y="7136"/>
                    <a:pt x="49769" y="0"/>
                    <a:pt x="67733" y="0"/>
                  </a:cubicBezTo>
                  <a:close/>
                </a:path>
              </a:pathLst>
            </a:custGeom>
            <a:solidFill>
              <a:srgbClr val="0B1F33"/>
            </a:solidFill>
            <a:ln cap="sq">
              <a:noFill/>
              <a:prstDash val="solid"/>
              <a:miter/>
            </a:ln>
          </p:spPr>
        </p:sp>
        <p:sp>
          <p:nvSpPr>
            <p:cNvPr name="TextBox 5" id="5"/>
            <p:cNvSpPr txBox="true"/>
            <p:nvPr/>
          </p:nvSpPr>
          <p:spPr>
            <a:xfrm>
              <a:off x="0" y="0"/>
              <a:ext cx="3810000" cy="1778000"/>
            </a:xfrm>
            <a:prstGeom prst="rect">
              <a:avLst/>
            </a:prstGeom>
          </p:spPr>
          <p:txBody>
            <a:bodyPr anchor="ctr" rtlCol="false" tIns="50800" lIns="50800" bIns="50800" rIns="50800"/>
            <a:lstStyle/>
            <a:p>
              <a:pPr algn="ctr">
                <a:lnSpc>
                  <a:spcPts val="2242"/>
                </a:lnSpc>
              </a:pPr>
              <a:r>
                <a:rPr lang="en-US" sz="1950" b="true">
                  <a:solidFill>
                    <a:srgbClr val="FFFFFF"/>
                  </a:solidFill>
                  <a:latin typeface="Source Sans 3 Bold"/>
                  <a:ea typeface="Source Sans 3 Bold"/>
                  <a:cs typeface="Source Sans 3 Bold"/>
                  <a:sym typeface="Source Sans 3 Bold"/>
                </a:rPr>
                <a:t>RAW ROWS</a:t>
              </a:r>
            </a:p>
          </p:txBody>
        </p:sp>
      </p:grpSp>
      <p:sp>
        <p:nvSpPr>
          <p:cNvPr name="TextBox 6" id="6"/>
          <p:cNvSpPr txBox="true"/>
          <p:nvPr/>
        </p:nvSpPr>
        <p:spPr>
          <a:xfrm rot="0">
            <a:off x="714375" y="5400675"/>
            <a:ext cx="2857500" cy="299085"/>
          </a:xfrm>
          <a:prstGeom prst="rect">
            <a:avLst/>
          </a:prstGeom>
        </p:spPr>
        <p:txBody>
          <a:bodyPr anchor="t" rtlCol="false" tIns="0" lIns="0" bIns="0" rIns="0">
            <a:spAutoFit/>
          </a:bodyPr>
          <a:lstStyle/>
          <a:p>
            <a:pPr algn="ctr">
              <a:lnSpc>
                <a:spcPts val="2430"/>
              </a:lnSpc>
            </a:pPr>
            <a:r>
              <a:rPr lang="en-US" sz="1800">
                <a:solidFill>
                  <a:srgbClr val="627384"/>
                </a:solidFill>
                <a:latin typeface="Source Sans 3"/>
                <a:ea typeface="Source Sans 3"/>
                <a:cs typeface="Source Sans 3"/>
                <a:sym typeface="Source Sans 3"/>
              </a:rPr>
              <a:t>one person / row</a:t>
            </a:r>
          </a:p>
        </p:txBody>
      </p:sp>
      <p:sp>
        <p:nvSpPr>
          <p:cNvPr name="AutoShape 7" id="7"/>
          <p:cNvSpPr/>
          <p:nvPr/>
        </p:nvSpPr>
        <p:spPr>
          <a:xfrm>
            <a:off x="3667125" y="4381500"/>
            <a:ext cx="476250" cy="0"/>
          </a:xfrm>
          <a:prstGeom prst="line">
            <a:avLst/>
          </a:prstGeom>
          <a:ln cap="rnd" w="47625">
            <a:solidFill>
              <a:srgbClr val="EF6F61"/>
            </a:solidFill>
            <a:prstDash val="solid"/>
            <a:headEnd type="none" len="sm" w="sm"/>
            <a:tailEnd type="none" len="sm" w="sm"/>
          </a:ln>
        </p:spPr>
      </p:sp>
      <p:grpSp>
        <p:nvGrpSpPr>
          <p:cNvPr name="Group 8" id="8"/>
          <p:cNvGrpSpPr/>
          <p:nvPr/>
        </p:nvGrpSpPr>
        <p:grpSpPr>
          <a:xfrm rot="0">
            <a:off x="4238625" y="3714750"/>
            <a:ext cx="2857500" cy="1333500"/>
            <a:chOff x="0" y="0"/>
            <a:chExt cx="3810000" cy="1778000"/>
          </a:xfrm>
        </p:grpSpPr>
        <p:sp>
          <p:nvSpPr>
            <p:cNvPr name="Freeform 9" id="9"/>
            <p:cNvSpPr/>
            <p:nvPr/>
          </p:nvSpPr>
          <p:spPr>
            <a:xfrm flipH="false" flipV="false" rot="0">
              <a:off x="0" y="0"/>
              <a:ext cx="3810000" cy="1778000"/>
            </a:xfrm>
            <a:custGeom>
              <a:avLst/>
              <a:gdLst/>
              <a:ahLst/>
              <a:cxnLst/>
              <a:rect r="r" b="b" t="t" l="l"/>
              <a:pathLst>
                <a:path h="1778000" w="3810000">
                  <a:moveTo>
                    <a:pt x="67733" y="0"/>
                  </a:moveTo>
                  <a:lnTo>
                    <a:pt x="3742267" y="0"/>
                  </a:lnTo>
                  <a:cubicBezTo>
                    <a:pt x="3760231" y="0"/>
                    <a:pt x="3777459" y="7136"/>
                    <a:pt x="3790161" y="19839"/>
                  </a:cubicBezTo>
                  <a:cubicBezTo>
                    <a:pt x="3802864" y="32541"/>
                    <a:pt x="3810000" y="49769"/>
                    <a:pt x="3810000" y="67733"/>
                  </a:cubicBezTo>
                  <a:lnTo>
                    <a:pt x="3810000" y="1710267"/>
                  </a:lnTo>
                  <a:cubicBezTo>
                    <a:pt x="3810000" y="1728231"/>
                    <a:pt x="3802864" y="1745459"/>
                    <a:pt x="3790161" y="1758161"/>
                  </a:cubicBezTo>
                  <a:cubicBezTo>
                    <a:pt x="3777459" y="1770864"/>
                    <a:pt x="3760231" y="1778000"/>
                    <a:pt x="3742267" y="1778000"/>
                  </a:cubicBezTo>
                  <a:lnTo>
                    <a:pt x="67733" y="1778000"/>
                  </a:lnTo>
                  <a:cubicBezTo>
                    <a:pt x="49769" y="1778000"/>
                    <a:pt x="32541" y="1770864"/>
                    <a:pt x="19839" y="1758161"/>
                  </a:cubicBezTo>
                  <a:cubicBezTo>
                    <a:pt x="7136" y="1745459"/>
                    <a:pt x="0" y="1728231"/>
                    <a:pt x="0" y="1710267"/>
                  </a:cubicBezTo>
                  <a:lnTo>
                    <a:pt x="0" y="67733"/>
                  </a:lnTo>
                  <a:cubicBezTo>
                    <a:pt x="0" y="49769"/>
                    <a:pt x="7136" y="32541"/>
                    <a:pt x="19839" y="19839"/>
                  </a:cubicBezTo>
                  <a:cubicBezTo>
                    <a:pt x="32541" y="7136"/>
                    <a:pt x="49769" y="0"/>
                    <a:pt x="67733" y="0"/>
                  </a:cubicBezTo>
                  <a:close/>
                </a:path>
              </a:pathLst>
            </a:custGeom>
            <a:solidFill>
              <a:srgbClr val="FFFFFF"/>
            </a:solidFill>
            <a:ln cap="sq">
              <a:noFill/>
              <a:prstDash val="solid"/>
              <a:miter/>
            </a:ln>
          </p:spPr>
        </p:sp>
        <p:sp>
          <p:nvSpPr>
            <p:cNvPr name="TextBox 10" id="10"/>
            <p:cNvSpPr txBox="true"/>
            <p:nvPr/>
          </p:nvSpPr>
          <p:spPr>
            <a:xfrm>
              <a:off x="0" y="0"/>
              <a:ext cx="381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GROUP BY</a:t>
              </a:r>
            </a:p>
          </p:txBody>
        </p:sp>
      </p:grpSp>
      <p:sp>
        <p:nvSpPr>
          <p:cNvPr name="TextBox 11" id="11"/>
          <p:cNvSpPr txBox="true"/>
          <p:nvPr/>
        </p:nvSpPr>
        <p:spPr>
          <a:xfrm rot="0">
            <a:off x="4238625" y="5400675"/>
            <a:ext cx="2857500" cy="299085"/>
          </a:xfrm>
          <a:prstGeom prst="rect">
            <a:avLst/>
          </a:prstGeom>
        </p:spPr>
        <p:txBody>
          <a:bodyPr anchor="t" rtlCol="false" tIns="0" lIns="0" bIns="0" rIns="0">
            <a:spAutoFit/>
          </a:bodyPr>
          <a:lstStyle/>
          <a:p>
            <a:pPr algn="ctr">
              <a:lnSpc>
                <a:spcPts val="2430"/>
              </a:lnSpc>
            </a:pPr>
            <a:r>
              <a:rPr lang="en-US" sz="1800">
                <a:solidFill>
                  <a:srgbClr val="627384"/>
                </a:solidFill>
                <a:latin typeface="Source Sans 3"/>
                <a:ea typeface="Source Sans 3"/>
                <a:cs typeface="Source Sans 3"/>
                <a:sym typeface="Source Sans 3"/>
              </a:rPr>
              <a:t>class + behavior</a:t>
            </a:r>
          </a:p>
        </p:txBody>
      </p:sp>
      <p:sp>
        <p:nvSpPr>
          <p:cNvPr name="AutoShape 12" id="12"/>
          <p:cNvSpPr/>
          <p:nvPr/>
        </p:nvSpPr>
        <p:spPr>
          <a:xfrm>
            <a:off x="7191375" y="4381500"/>
            <a:ext cx="476250" cy="0"/>
          </a:xfrm>
          <a:prstGeom prst="line">
            <a:avLst/>
          </a:prstGeom>
          <a:ln cap="rnd" w="47625">
            <a:solidFill>
              <a:srgbClr val="EF6F61"/>
            </a:solidFill>
            <a:prstDash val="solid"/>
            <a:headEnd type="none" len="sm" w="sm"/>
            <a:tailEnd type="none" len="sm" w="sm"/>
          </a:ln>
        </p:spPr>
      </p:sp>
      <p:grpSp>
        <p:nvGrpSpPr>
          <p:cNvPr name="Group 13" id="13"/>
          <p:cNvGrpSpPr/>
          <p:nvPr/>
        </p:nvGrpSpPr>
        <p:grpSpPr>
          <a:xfrm rot="0">
            <a:off x="7762875" y="3714750"/>
            <a:ext cx="2857500" cy="1333500"/>
            <a:chOff x="0" y="0"/>
            <a:chExt cx="3810000" cy="1778000"/>
          </a:xfrm>
        </p:grpSpPr>
        <p:sp>
          <p:nvSpPr>
            <p:cNvPr name="Freeform 14" id="14"/>
            <p:cNvSpPr/>
            <p:nvPr/>
          </p:nvSpPr>
          <p:spPr>
            <a:xfrm flipH="false" flipV="false" rot="0">
              <a:off x="0" y="0"/>
              <a:ext cx="3810000" cy="1778000"/>
            </a:xfrm>
            <a:custGeom>
              <a:avLst/>
              <a:gdLst/>
              <a:ahLst/>
              <a:cxnLst/>
              <a:rect r="r" b="b" t="t" l="l"/>
              <a:pathLst>
                <a:path h="1778000" w="3810000">
                  <a:moveTo>
                    <a:pt x="67733" y="0"/>
                  </a:moveTo>
                  <a:lnTo>
                    <a:pt x="3742267" y="0"/>
                  </a:lnTo>
                  <a:cubicBezTo>
                    <a:pt x="3760231" y="0"/>
                    <a:pt x="3777459" y="7136"/>
                    <a:pt x="3790161" y="19839"/>
                  </a:cubicBezTo>
                  <a:cubicBezTo>
                    <a:pt x="3802864" y="32541"/>
                    <a:pt x="3810000" y="49769"/>
                    <a:pt x="3810000" y="67733"/>
                  </a:cubicBezTo>
                  <a:lnTo>
                    <a:pt x="3810000" y="1710267"/>
                  </a:lnTo>
                  <a:cubicBezTo>
                    <a:pt x="3810000" y="1728231"/>
                    <a:pt x="3802864" y="1745459"/>
                    <a:pt x="3790161" y="1758161"/>
                  </a:cubicBezTo>
                  <a:cubicBezTo>
                    <a:pt x="3777459" y="1770864"/>
                    <a:pt x="3760231" y="1778000"/>
                    <a:pt x="3742267" y="1778000"/>
                  </a:cubicBezTo>
                  <a:lnTo>
                    <a:pt x="67733" y="1778000"/>
                  </a:lnTo>
                  <a:cubicBezTo>
                    <a:pt x="49769" y="1778000"/>
                    <a:pt x="32541" y="1770864"/>
                    <a:pt x="19839" y="1758161"/>
                  </a:cubicBezTo>
                  <a:cubicBezTo>
                    <a:pt x="7136" y="1745459"/>
                    <a:pt x="0" y="1728231"/>
                    <a:pt x="0" y="1710267"/>
                  </a:cubicBezTo>
                  <a:lnTo>
                    <a:pt x="0" y="67733"/>
                  </a:lnTo>
                  <a:cubicBezTo>
                    <a:pt x="0" y="49769"/>
                    <a:pt x="7136" y="32541"/>
                    <a:pt x="19839" y="19839"/>
                  </a:cubicBezTo>
                  <a:cubicBezTo>
                    <a:pt x="32541" y="7136"/>
                    <a:pt x="49769" y="0"/>
                    <a:pt x="67733" y="0"/>
                  </a:cubicBezTo>
                  <a:close/>
                </a:path>
              </a:pathLst>
            </a:custGeom>
            <a:solidFill>
              <a:srgbClr val="FFFFFF"/>
            </a:solidFill>
            <a:ln cap="sq">
              <a:noFill/>
              <a:prstDash val="solid"/>
              <a:miter/>
            </a:ln>
          </p:spPr>
        </p:sp>
        <p:sp>
          <p:nvSpPr>
            <p:cNvPr name="TextBox 15" id="15"/>
            <p:cNvSpPr txBox="true"/>
            <p:nvPr/>
          </p:nvSpPr>
          <p:spPr>
            <a:xfrm>
              <a:off x="0" y="0"/>
              <a:ext cx="381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AGGREGATE</a:t>
              </a:r>
            </a:p>
          </p:txBody>
        </p:sp>
      </p:grpSp>
      <p:sp>
        <p:nvSpPr>
          <p:cNvPr name="TextBox 16" id="16"/>
          <p:cNvSpPr txBox="true"/>
          <p:nvPr/>
        </p:nvSpPr>
        <p:spPr>
          <a:xfrm rot="0">
            <a:off x="7762875" y="5400675"/>
            <a:ext cx="2857500" cy="299085"/>
          </a:xfrm>
          <a:prstGeom prst="rect">
            <a:avLst/>
          </a:prstGeom>
        </p:spPr>
        <p:txBody>
          <a:bodyPr anchor="t" rtlCol="false" tIns="0" lIns="0" bIns="0" rIns="0">
            <a:spAutoFit/>
          </a:bodyPr>
          <a:lstStyle/>
          <a:p>
            <a:pPr algn="ctr">
              <a:lnSpc>
                <a:spcPts val="2430"/>
              </a:lnSpc>
            </a:pPr>
            <a:r>
              <a:rPr lang="en-US" sz="1800">
                <a:solidFill>
                  <a:srgbClr val="627384"/>
                </a:solidFill>
                <a:latin typeface="Source Sans 3"/>
                <a:ea typeface="Source Sans 3"/>
                <a:cs typeface="Source Sans 3"/>
                <a:sym typeface="Source Sans 3"/>
              </a:rPr>
              <a:t>count · mean · median</a:t>
            </a:r>
          </a:p>
        </p:txBody>
      </p:sp>
      <p:sp>
        <p:nvSpPr>
          <p:cNvPr name="AutoShape 17" id="17"/>
          <p:cNvSpPr/>
          <p:nvPr/>
        </p:nvSpPr>
        <p:spPr>
          <a:xfrm>
            <a:off x="10715625" y="4381500"/>
            <a:ext cx="476250" cy="0"/>
          </a:xfrm>
          <a:prstGeom prst="line">
            <a:avLst/>
          </a:prstGeom>
          <a:ln cap="rnd" w="47625">
            <a:solidFill>
              <a:srgbClr val="EF6F61"/>
            </a:solidFill>
            <a:prstDash val="solid"/>
            <a:headEnd type="none" len="sm" w="sm"/>
            <a:tailEnd type="none" len="sm" w="sm"/>
          </a:ln>
        </p:spPr>
      </p:sp>
      <p:grpSp>
        <p:nvGrpSpPr>
          <p:cNvPr name="Group 18" id="18"/>
          <p:cNvGrpSpPr/>
          <p:nvPr/>
        </p:nvGrpSpPr>
        <p:grpSpPr>
          <a:xfrm rot="0">
            <a:off x="11287125" y="3714750"/>
            <a:ext cx="2857500" cy="1333500"/>
            <a:chOff x="0" y="0"/>
            <a:chExt cx="3810000" cy="1778000"/>
          </a:xfrm>
        </p:grpSpPr>
        <p:sp>
          <p:nvSpPr>
            <p:cNvPr name="Freeform 19" id="19"/>
            <p:cNvSpPr/>
            <p:nvPr/>
          </p:nvSpPr>
          <p:spPr>
            <a:xfrm flipH="false" flipV="false" rot="0">
              <a:off x="0" y="0"/>
              <a:ext cx="3810000" cy="1778000"/>
            </a:xfrm>
            <a:custGeom>
              <a:avLst/>
              <a:gdLst/>
              <a:ahLst/>
              <a:cxnLst/>
              <a:rect r="r" b="b" t="t" l="l"/>
              <a:pathLst>
                <a:path h="1778000" w="3810000">
                  <a:moveTo>
                    <a:pt x="67733" y="0"/>
                  </a:moveTo>
                  <a:lnTo>
                    <a:pt x="3742267" y="0"/>
                  </a:lnTo>
                  <a:cubicBezTo>
                    <a:pt x="3760231" y="0"/>
                    <a:pt x="3777459" y="7136"/>
                    <a:pt x="3790161" y="19839"/>
                  </a:cubicBezTo>
                  <a:cubicBezTo>
                    <a:pt x="3802864" y="32541"/>
                    <a:pt x="3810000" y="49769"/>
                    <a:pt x="3810000" y="67733"/>
                  </a:cubicBezTo>
                  <a:lnTo>
                    <a:pt x="3810000" y="1710267"/>
                  </a:lnTo>
                  <a:cubicBezTo>
                    <a:pt x="3810000" y="1728231"/>
                    <a:pt x="3802864" y="1745459"/>
                    <a:pt x="3790161" y="1758161"/>
                  </a:cubicBezTo>
                  <a:cubicBezTo>
                    <a:pt x="3777459" y="1770864"/>
                    <a:pt x="3760231" y="1778000"/>
                    <a:pt x="3742267" y="1778000"/>
                  </a:cubicBezTo>
                  <a:lnTo>
                    <a:pt x="67733" y="1778000"/>
                  </a:lnTo>
                  <a:cubicBezTo>
                    <a:pt x="49769" y="1778000"/>
                    <a:pt x="32541" y="1770864"/>
                    <a:pt x="19839" y="1758161"/>
                  </a:cubicBezTo>
                  <a:cubicBezTo>
                    <a:pt x="7136" y="1745459"/>
                    <a:pt x="0" y="1728231"/>
                    <a:pt x="0" y="1710267"/>
                  </a:cubicBezTo>
                  <a:lnTo>
                    <a:pt x="0" y="67733"/>
                  </a:lnTo>
                  <a:cubicBezTo>
                    <a:pt x="0" y="49769"/>
                    <a:pt x="7136" y="32541"/>
                    <a:pt x="19839" y="19839"/>
                  </a:cubicBezTo>
                  <a:cubicBezTo>
                    <a:pt x="32541" y="7136"/>
                    <a:pt x="49769" y="0"/>
                    <a:pt x="67733" y="0"/>
                  </a:cubicBezTo>
                  <a:close/>
                </a:path>
              </a:pathLst>
            </a:custGeom>
            <a:solidFill>
              <a:srgbClr val="FFFFFF"/>
            </a:solidFill>
            <a:ln cap="sq">
              <a:noFill/>
              <a:prstDash val="solid"/>
              <a:miter/>
            </a:ln>
          </p:spPr>
        </p:sp>
        <p:sp>
          <p:nvSpPr>
            <p:cNvPr name="TextBox 20" id="20"/>
            <p:cNvSpPr txBox="true"/>
            <p:nvPr/>
          </p:nvSpPr>
          <p:spPr>
            <a:xfrm>
              <a:off x="0" y="0"/>
              <a:ext cx="3810000" cy="1778000"/>
            </a:xfrm>
            <a:prstGeom prst="rect">
              <a:avLst/>
            </a:prstGeom>
          </p:spPr>
          <p:txBody>
            <a:bodyPr anchor="ctr" rtlCol="false" tIns="50800" lIns="50800" bIns="50800" rIns="50800"/>
            <a:lstStyle/>
            <a:p>
              <a:pPr algn="ctr">
                <a:lnSpc>
                  <a:spcPts val="2242"/>
                </a:lnSpc>
              </a:pPr>
              <a:r>
                <a:rPr lang="en-US" sz="1950" b="true">
                  <a:solidFill>
                    <a:srgbClr val="163047"/>
                  </a:solidFill>
                  <a:latin typeface="Source Sans 3 Bold"/>
                  <a:ea typeface="Source Sans 3 Bold"/>
                  <a:cs typeface="Source Sans 3 Bold"/>
                  <a:sym typeface="Source Sans 3 Bold"/>
                </a:rPr>
                <a:t>COMPARE</a:t>
              </a:r>
            </a:p>
          </p:txBody>
        </p:sp>
      </p:grpSp>
      <p:sp>
        <p:nvSpPr>
          <p:cNvPr name="TextBox 21" id="21"/>
          <p:cNvSpPr txBox="true"/>
          <p:nvPr/>
        </p:nvSpPr>
        <p:spPr>
          <a:xfrm rot="0">
            <a:off x="11287125" y="5400675"/>
            <a:ext cx="2857500" cy="299085"/>
          </a:xfrm>
          <a:prstGeom prst="rect">
            <a:avLst/>
          </a:prstGeom>
        </p:spPr>
        <p:txBody>
          <a:bodyPr anchor="t" rtlCol="false" tIns="0" lIns="0" bIns="0" rIns="0">
            <a:spAutoFit/>
          </a:bodyPr>
          <a:lstStyle/>
          <a:p>
            <a:pPr algn="ctr">
              <a:lnSpc>
                <a:spcPts val="2430"/>
              </a:lnSpc>
            </a:pPr>
            <a:r>
              <a:rPr lang="en-US" sz="1800">
                <a:solidFill>
                  <a:srgbClr val="627384"/>
                </a:solidFill>
                <a:latin typeface="Source Sans 3"/>
                <a:ea typeface="Source Sans 3"/>
                <a:cs typeface="Source Sans 3"/>
                <a:sym typeface="Source Sans 3"/>
              </a:rPr>
              <a:t>within / across groups</a:t>
            </a:r>
          </a:p>
        </p:txBody>
      </p:sp>
      <p:sp>
        <p:nvSpPr>
          <p:cNvPr name="AutoShape 22" id="22"/>
          <p:cNvSpPr/>
          <p:nvPr/>
        </p:nvSpPr>
        <p:spPr>
          <a:xfrm>
            <a:off x="14239875" y="4381500"/>
            <a:ext cx="476250" cy="0"/>
          </a:xfrm>
          <a:prstGeom prst="line">
            <a:avLst/>
          </a:prstGeom>
          <a:ln cap="rnd" w="47625">
            <a:solidFill>
              <a:srgbClr val="EF6F61"/>
            </a:solidFill>
            <a:prstDash val="solid"/>
            <a:headEnd type="none" len="sm" w="sm"/>
            <a:tailEnd type="none" len="sm" w="sm"/>
          </a:ln>
        </p:spPr>
      </p:sp>
      <p:grpSp>
        <p:nvGrpSpPr>
          <p:cNvPr name="Group 23" id="23"/>
          <p:cNvGrpSpPr/>
          <p:nvPr/>
        </p:nvGrpSpPr>
        <p:grpSpPr>
          <a:xfrm rot="0">
            <a:off x="14811375" y="3714750"/>
            <a:ext cx="2857500" cy="1333500"/>
            <a:chOff x="0" y="0"/>
            <a:chExt cx="3810000" cy="1778000"/>
          </a:xfrm>
        </p:grpSpPr>
        <p:sp>
          <p:nvSpPr>
            <p:cNvPr name="Freeform 24" id="24"/>
            <p:cNvSpPr/>
            <p:nvPr/>
          </p:nvSpPr>
          <p:spPr>
            <a:xfrm flipH="false" flipV="false" rot="0">
              <a:off x="0" y="0"/>
              <a:ext cx="3810000" cy="1778000"/>
            </a:xfrm>
            <a:custGeom>
              <a:avLst/>
              <a:gdLst/>
              <a:ahLst/>
              <a:cxnLst/>
              <a:rect r="r" b="b" t="t" l="l"/>
              <a:pathLst>
                <a:path h="1778000" w="3810000">
                  <a:moveTo>
                    <a:pt x="67733" y="0"/>
                  </a:moveTo>
                  <a:lnTo>
                    <a:pt x="3742267" y="0"/>
                  </a:lnTo>
                  <a:cubicBezTo>
                    <a:pt x="3760231" y="0"/>
                    <a:pt x="3777459" y="7136"/>
                    <a:pt x="3790161" y="19839"/>
                  </a:cubicBezTo>
                  <a:cubicBezTo>
                    <a:pt x="3802864" y="32541"/>
                    <a:pt x="3810000" y="49769"/>
                    <a:pt x="3810000" y="67733"/>
                  </a:cubicBezTo>
                  <a:lnTo>
                    <a:pt x="3810000" y="1710267"/>
                  </a:lnTo>
                  <a:cubicBezTo>
                    <a:pt x="3810000" y="1728231"/>
                    <a:pt x="3802864" y="1745459"/>
                    <a:pt x="3790161" y="1758161"/>
                  </a:cubicBezTo>
                  <a:cubicBezTo>
                    <a:pt x="3777459" y="1770864"/>
                    <a:pt x="3760231" y="1778000"/>
                    <a:pt x="3742267" y="1778000"/>
                  </a:cubicBezTo>
                  <a:lnTo>
                    <a:pt x="67733" y="1778000"/>
                  </a:lnTo>
                  <a:cubicBezTo>
                    <a:pt x="49769" y="1778000"/>
                    <a:pt x="32541" y="1770864"/>
                    <a:pt x="19839" y="1758161"/>
                  </a:cubicBezTo>
                  <a:cubicBezTo>
                    <a:pt x="7136" y="1745459"/>
                    <a:pt x="0" y="1728231"/>
                    <a:pt x="0" y="1710267"/>
                  </a:cubicBezTo>
                  <a:lnTo>
                    <a:pt x="0" y="67733"/>
                  </a:lnTo>
                  <a:cubicBezTo>
                    <a:pt x="0" y="49769"/>
                    <a:pt x="7136" y="32541"/>
                    <a:pt x="19839" y="19839"/>
                  </a:cubicBezTo>
                  <a:cubicBezTo>
                    <a:pt x="32541" y="7136"/>
                    <a:pt x="49769" y="0"/>
                    <a:pt x="67733" y="0"/>
                  </a:cubicBezTo>
                  <a:close/>
                </a:path>
              </a:pathLst>
            </a:custGeom>
            <a:solidFill>
              <a:srgbClr val="18A999"/>
            </a:solidFill>
            <a:ln cap="sq">
              <a:noFill/>
              <a:prstDash val="solid"/>
              <a:miter/>
            </a:ln>
          </p:spPr>
        </p:sp>
        <p:sp>
          <p:nvSpPr>
            <p:cNvPr name="TextBox 25" id="25"/>
            <p:cNvSpPr txBox="true"/>
            <p:nvPr/>
          </p:nvSpPr>
          <p:spPr>
            <a:xfrm>
              <a:off x="0" y="0"/>
              <a:ext cx="3810000" cy="1778000"/>
            </a:xfrm>
            <a:prstGeom prst="rect">
              <a:avLst/>
            </a:prstGeom>
          </p:spPr>
          <p:txBody>
            <a:bodyPr anchor="ctr" rtlCol="false" tIns="50800" lIns="50800" bIns="50800" rIns="50800"/>
            <a:lstStyle/>
            <a:p>
              <a:pPr algn="ctr">
                <a:lnSpc>
                  <a:spcPts val="2242"/>
                </a:lnSpc>
              </a:pPr>
              <a:r>
                <a:rPr lang="en-US" sz="1950" b="true">
                  <a:solidFill>
                    <a:srgbClr val="FFFFFF"/>
                  </a:solidFill>
                  <a:latin typeface="Source Sans 3 Bold"/>
                  <a:ea typeface="Source Sans 3 Bold"/>
                  <a:cs typeface="Source Sans 3 Bold"/>
                  <a:sym typeface="Source Sans 3 Bold"/>
                </a:rPr>
                <a:t>INTERPRET</a:t>
              </a:r>
            </a:p>
          </p:txBody>
        </p:sp>
      </p:grpSp>
      <p:sp>
        <p:nvSpPr>
          <p:cNvPr name="TextBox 26" id="26"/>
          <p:cNvSpPr txBox="true"/>
          <p:nvPr/>
        </p:nvSpPr>
        <p:spPr>
          <a:xfrm rot="0">
            <a:off x="14811375" y="5400675"/>
            <a:ext cx="2857500" cy="299085"/>
          </a:xfrm>
          <a:prstGeom prst="rect">
            <a:avLst/>
          </a:prstGeom>
        </p:spPr>
        <p:txBody>
          <a:bodyPr anchor="t" rtlCol="false" tIns="0" lIns="0" bIns="0" rIns="0">
            <a:spAutoFit/>
          </a:bodyPr>
          <a:lstStyle/>
          <a:p>
            <a:pPr algn="ctr">
              <a:lnSpc>
                <a:spcPts val="2430"/>
              </a:lnSpc>
            </a:pPr>
            <a:r>
              <a:rPr lang="en-US" sz="1800">
                <a:solidFill>
                  <a:srgbClr val="627384"/>
                </a:solidFill>
                <a:latin typeface="Source Sans 3"/>
                <a:ea typeface="Source Sans 3"/>
                <a:cs typeface="Source Sans 3"/>
                <a:sym typeface="Source Sans 3"/>
              </a:rPr>
              <a:t>interaction clues</a:t>
            </a:r>
          </a:p>
        </p:txBody>
      </p:sp>
      <p:sp>
        <p:nvSpPr>
          <p:cNvPr name="TextBox 27" id="27"/>
          <p:cNvSpPr txBox="true"/>
          <p:nvPr/>
        </p:nvSpPr>
        <p:spPr>
          <a:xfrm rot="0">
            <a:off x="2952750" y="7267575"/>
            <a:ext cx="12382500" cy="689991"/>
          </a:xfrm>
          <a:prstGeom prst="rect">
            <a:avLst/>
          </a:prstGeom>
        </p:spPr>
        <p:txBody>
          <a:bodyPr anchor="t" rtlCol="false" tIns="0" lIns="0" bIns="0" rIns="0">
            <a:spAutoFit/>
          </a:bodyPr>
          <a:lstStyle/>
          <a:p>
            <a:pPr algn="ctr">
              <a:lnSpc>
                <a:spcPts val="2652"/>
              </a:lnSpc>
            </a:pPr>
            <a:r>
              <a:rPr lang="en-US" sz="2550" b="true">
                <a:solidFill>
                  <a:srgbClr val="163047"/>
                </a:solidFill>
                <a:latin typeface="Brixton Bold"/>
                <a:ea typeface="Brixton Bold"/>
                <a:cs typeface="Brixton Bold"/>
                <a:sym typeface="Brixton Bold"/>
              </a:rPr>
              <a:t>Grouping is not a conclusion. It is the bridge between individual records and testable comparisons.</a:t>
            </a:r>
          </a:p>
        </p:txBody>
      </p:sp>
      <p:grpSp>
        <p:nvGrpSpPr>
          <p:cNvPr name="Group 28" id="28"/>
          <p:cNvGrpSpPr/>
          <p:nvPr/>
        </p:nvGrpSpPr>
        <p:grpSpPr>
          <a:xfrm rot="0">
            <a:off x="990600" y="9258300"/>
            <a:ext cx="16593782" cy="422910"/>
            <a:chOff x="0" y="0"/>
            <a:chExt cx="22125042" cy="563880"/>
          </a:xfrm>
        </p:grpSpPr>
        <p:sp>
          <p:nvSpPr>
            <p:cNvPr name="AutoShape 29" id="29"/>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30" id="30"/>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31" id="31"/>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16/22</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1F33"/>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2383772"/>
            <a:ext cx="7054100" cy="5643280"/>
          </a:xfrm>
          <a:custGeom>
            <a:avLst/>
            <a:gdLst/>
            <a:ahLst/>
            <a:cxnLst/>
            <a:rect r="r" b="b" t="t" l="l"/>
            <a:pathLst>
              <a:path h="5643280" w="7054100">
                <a:moveTo>
                  <a:pt x="0" y="0"/>
                </a:moveTo>
                <a:lnTo>
                  <a:pt x="7054100" y="0"/>
                </a:lnTo>
                <a:lnTo>
                  <a:pt x="7054100" y="5643281"/>
                </a:lnTo>
                <a:lnTo>
                  <a:pt x="0" y="5643281"/>
                </a:lnTo>
                <a:lnTo>
                  <a:pt x="0" y="0"/>
                </a:lnTo>
                <a:close/>
              </a:path>
            </a:pathLst>
          </a:custGeom>
          <a:blipFill>
            <a:blip r:embed="rId2"/>
            <a:stretch>
              <a:fillRect l="0" t="0" r="0" b="0"/>
            </a:stretch>
          </a:blipFill>
        </p:spPr>
      </p:sp>
      <p:sp>
        <p:nvSpPr>
          <p:cNvPr name="TextBox 3" id="3"/>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FFFFFF"/>
                </a:solidFill>
                <a:latin typeface="Brixton Bold"/>
                <a:ea typeface="Brixton Bold"/>
                <a:cs typeface="Brixton Bold"/>
                <a:sym typeface="Brixton Bold"/>
              </a:rPr>
              <a:t>Correlation is a map—not a verdict</a:t>
            </a:r>
          </a:p>
        </p:txBody>
      </p:sp>
      <p:sp>
        <p:nvSpPr>
          <p:cNvPr name="TextBox 4" id="4"/>
          <p:cNvSpPr txBox="true"/>
          <p:nvPr/>
        </p:nvSpPr>
        <p:spPr>
          <a:xfrm rot="0">
            <a:off x="1238250" y="8305800"/>
            <a:ext cx="5238750" cy="240030"/>
          </a:xfrm>
          <a:prstGeom prst="rect">
            <a:avLst/>
          </a:prstGeom>
        </p:spPr>
        <p:txBody>
          <a:bodyPr anchor="t" rtlCol="false" tIns="0" lIns="0" bIns="0" rIns="0">
            <a:spAutoFit/>
          </a:bodyPr>
          <a:lstStyle/>
          <a:p>
            <a:pPr algn="l">
              <a:lnSpc>
                <a:spcPts val="1995"/>
              </a:lnSpc>
            </a:pPr>
            <a:r>
              <a:rPr lang="en-US" sz="1425" spc="114" b="true">
                <a:solidFill>
                  <a:srgbClr val="8BD8CF"/>
                </a:solidFill>
                <a:latin typeface="IBM Plex Mono Bold"/>
                <a:ea typeface="IBM Plex Mono Bold"/>
                <a:cs typeface="IBM Plex Mono Bold"/>
                <a:sym typeface="IBM Plex Mono Bold"/>
              </a:rPr>
              <a:t>HEATMAP PLACEHOLDER</a:t>
            </a:r>
          </a:p>
        </p:txBody>
      </p:sp>
      <p:sp>
        <p:nvSpPr>
          <p:cNvPr name="TextBox 5" id="5"/>
          <p:cNvSpPr txBox="true"/>
          <p:nvPr/>
        </p:nvSpPr>
        <p:spPr>
          <a:xfrm rot="0">
            <a:off x="8572500" y="3076575"/>
            <a:ext cx="6858000" cy="422910"/>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What it can tell us</a:t>
            </a:r>
          </a:p>
        </p:txBody>
      </p:sp>
      <p:sp>
        <p:nvSpPr>
          <p:cNvPr name="TextBox 6" id="6"/>
          <p:cNvSpPr txBox="true"/>
          <p:nvPr/>
        </p:nvSpPr>
        <p:spPr>
          <a:xfrm rot="0">
            <a:off x="8572500" y="3686175"/>
            <a:ext cx="7239000" cy="693420"/>
          </a:xfrm>
          <a:prstGeom prst="rect">
            <a:avLst/>
          </a:prstGeom>
        </p:spPr>
        <p:txBody>
          <a:bodyPr anchor="t" rtlCol="false" tIns="0" lIns="0" bIns="0" rIns="0">
            <a:spAutoFit/>
          </a:bodyPr>
          <a:lstStyle/>
          <a:p>
            <a:pPr algn="l">
              <a:lnSpc>
                <a:spcPts val="2835"/>
              </a:lnSpc>
            </a:pPr>
            <a:r>
              <a:rPr lang="en-US" sz="2100">
                <a:solidFill>
                  <a:srgbClr val="FFFFFF"/>
                </a:solidFill>
                <a:latin typeface="Source Sans 3"/>
                <a:ea typeface="Source Sans 3"/>
                <a:cs typeface="Source Sans 3"/>
                <a:sym typeface="Source Sans 3"/>
              </a:rPr>
              <a:t>Direction and strength of pairwise linear relationships; possible redundancy among numeric features.</a:t>
            </a:r>
          </a:p>
        </p:txBody>
      </p:sp>
      <p:sp>
        <p:nvSpPr>
          <p:cNvPr name="TextBox 7" id="7"/>
          <p:cNvSpPr txBox="true"/>
          <p:nvPr/>
        </p:nvSpPr>
        <p:spPr>
          <a:xfrm rot="0">
            <a:off x="8572500" y="5648325"/>
            <a:ext cx="6858000" cy="422910"/>
          </a:xfrm>
          <a:prstGeom prst="rect">
            <a:avLst/>
          </a:prstGeom>
        </p:spPr>
        <p:txBody>
          <a:bodyPr anchor="t" rtlCol="false" tIns="0" lIns="0" bIns="0" rIns="0">
            <a:spAutoFit/>
          </a:bodyPr>
          <a:lstStyle/>
          <a:p>
            <a:pPr algn="l">
              <a:lnSpc>
                <a:spcPts val="3120"/>
              </a:lnSpc>
            </a:pPr>
            <a:r>
              <a:rPr lang="en-US" sz="3000" b="true">
                <a:solidFill>
                  <a:srgbClr val="FFFFFF"/>
                </a:solidFill>
                <a:latin typeface="Brixton Bold"/>
                <a:ea typeface="Brixton Bold"/>
                <a:cs typeface="Brixton Bold"/>
                <a:sym typeface="Brixton Bold"/>
              </a:rPr>
              <a:t>What it cannot tell us</a:t>
            </a:r>
          </a:p>
        </p:txBody>
      </p:sp>
      <p:sp>
        <p:nvSpPr>
          <p:cNvPr name="TextBox 8" id="8"/>
          <p:cNvSpPr txBox="true"/>
          <p:nvPr/>
        </p:nvSpPr>
        <p:spPr>
          <a:xfrm rot="0">
            <a:off x="8572500" y="6257925"/>
            <a:ext cx="7239000" cy="693420"/>
          </a:xfrm>
          <a:prstGeom prst="rect">
            <a:avLst/>
          </a:prstGeom>
        </p:spPr>
        <p:txBody>
          <a:bodyPr anchor="t" rtlCol="false" tIns="0" lIns="0" bIns="0" rIns="0">
            <a:spAutoFit/>
          </a:bodyPr>
          <a:lstStyle/>
          <a:p>
            <a:pPr algn="l">
              <a:lnSpc>
                <a:spcPts val="2835"/>
              </a:lnSpc>
            </a:pPr>
            <a:r>
              <a:rPr lang="en-US" sz="2100">
                <a:solidFill>
                  <a:srgbClr val="FFFFFF"/>
                </a:solidFill>
                <a:latin typeface="Source Sans 3"/>
                <a:ea typeface="Source Sans 3"/>
                <a:cs typeface="Source Sans 3"/>
                <a:sym typeface="Source Sans 3"/>
              </a:rPr>
              <a:t>Causality, nonlinear structure, confounding, or the behavior of categorical variables without appropriate encoding.</a:t>
            </a:r>
          </a:p>
        </p:txBody>
      </p:sp>
      <p:grpSp>
        <p:nvGrpSpPr>
          <p:cNvPr name="Group 9" id="9"/>
          <p:cNvGrpSpPr/>
          <p:nvPr/>
        </p:nvGrpSpPr>
        <p:grpSpPr>
          <a:xfrm rot="0">
            <a:off x="990600" y="9258300"/>
            <a:ext cx="16593782" cy="422910"/>
            <a:chOff x="0" y="0"/>
            <a:chExt cx="22125042" cy="563880"/>
          </a:xfrm>
        </p:grpSpPr>
        <p:sp>
          <p:nvSpPr>
            <p:cNvPr name="AutoShape 10" id="10"/>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1" id="11"/>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2" id="12"/>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17/22</a:t>
              </a:r>
            </a:p>
          </p:txBody>
        </p:sp>
      </p:grpSp>
    </p:spTree>
  </p:cSld>
  <p:clrMapOvr>
    <a:masterClrMapping/>
  </p:clrMapOvr>
</p:sld>
</file>

<file path=ppt/slides/slide18.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990600" y="1019175"/>
            <a:ext cx="14287500" cy="543877"/>
          </a:xfrm>
          <a:prstGeom prst="rect">
            <a:avLst/>
          </a:prstGeom>
        </p:spPr>
        <p:txBody>
          <a:bodyPr anchor="t" rtlCol="false" tIns="0" lIns="0" bIns="0" rIns="0">
            <a:spAutoFit/>
          </a:bodyPr>
          <a:lstStyle/>
          <a:p>
            <a:pPr algn="l">
              <a:lnSpc>
                <a:spcPts val="4252"/>
              </a:lnSpc>
            </a:pPr>
            <a:r>
              <a:rPr lang="en-US" sz="4050" b="true">
                <a:solidFill>
                  <a:srgbClr val="17313B"/>
                </a:solidFill>
                <a:latin typeface="Montserrat Bold"/>
                <a:ea typeface="Montserrat Bold"/>
                <a:cs typeface="Montserrat Bold"/>
                <a:sym typeface="Montserrat Bold"/>
              </a:rPr>
              <a:t>Why look beyond simple correlations?</a:t>
            </a:r>
          </a:p>
        </p:txBody>
      </p:sp>
      <p:sp>
        <p:nvSpPr>
          <p:cNvPr name="TextBox 3" id="3"/>
          <p:cNvSpPr txBox="true"/>
          <p:nvPr/>
        </p:nvSpPr>
        <p:spPr>
          <a:xfrm rot="0">
            <a:off x="990600" y="2124075"/>
            <a:ext cx="8858250" cy="386239"/>
          </a:xfrm>
          <a:prstGeom prst="rect">
            <a:avLst/>
          </a:prstGeom>
        </p:spPr>
        <p:txBody>
          <a:bodyPr anchor="t" rtlCol="false" tIns="0" lIns="0" bIns="0" rIns="0">
            <a:spAutoFit/>
          </a:bodyPr>
          <a:lstStyle/>
          <a:p>
            <a:pPr algn="l">
              <a:lnSpc>
                <a:spcPts val="2913"/>
              </a:lnSpc>
            </a:pPr>
            <a:r>
              <a:rPr lang="en-US" sz="2775" b="true">
                <a:solidFill>
                  <a:srgbClr val="17313B"/>
                </a:solidFill>
                <a:latin typeface="Montserrat Bold"/>
                <a:ea typeface="Montserrat Bold"/>
                <a:cs typeface="Montserrat Bold"/>
                <a:sym typeface="Montserrat Bold"/>
              </a:rPr>
              <a:t>Weight status is not a single-variable outcome.</a:t>
            </a:r>
          </a:p>
        </p:txBody>
      </p:sp>
      <p:sp>
        <p:nvSpPr>
          <p:cNvPr name="TextBox 4" id="4"/>
          <p:cNvSpPr txBox="true"/>
          <p:nvPr/>
        </p:nvSpPr>
        <p:spPr>
          <a:xfrm rot="0">
            <a:off x="990600" y="2876550"/>
            <a:ext cx="8572500" cy="693420"/>
          </a:xfrm>
          <a:prstGeom prst="rect">
            <a:avLst/>
          </a:prstGeom>
        </p:spPr>
        <p:txBody>
          <a:bodyPr anchor="t" rtlCol="false" tIns="0" lIns="0" bIns="0" rIns="0">
            <a:spAutoFit/>
          </a:bodyPr>
          <a:lstStyle/>
          <a:p>
            <a:pPr algn="l">
              <a:lnSpc>
                <a:spcPts val="2835"/>
              </a:lnSpc>
            </a:pPr>
            <a:r>
              <a:rPr lang="en-US" sz="2100">
                <a:solidFill>
                  <a:srgbClr val="17313B"/>
                </a:solidFill>
                <a:latin typeface="Source Sans 3"/>
                <a:ea typeface="Source Sans 3"/>
                <a:cs typeface="Source Sans 3"/>
                <a:sym typeface="Source Sans 3"/>
              </a:rPr>
              <a:t>The objective is to map how behavioral, genetic and environmental signals combine—then carry those interactions into modeling.</a:t>
            </a:r>
          </a:p>
        </p:txBody>
      </p:sp>
      <p:sp>
        <p:nvSpPr>
          <p:cNvPr name="TextBox 5" id="5"/>
          <p:cNvSpPr txBox="true"/>
          <p:nvPr/>
        </p:nvSpPr>
        <p:spPr>
          <a:xfrm rot="0">
            <a:off x="11430000" y="2305050"/>
            <a:ext cx="3810000" cy="257175"/>
          </a:xfrm>
          <a:prstGeom prst="rect">
            <a:avLst/>
          </a:prstGeom>
        </p:spPr>
        <p:txBody>
          <a:bodyPr anchor="t" rtlCol="false" tIns="0" lIns="0" bIns="0" rIns="0">
            <a:spAutoFit/>
          </a:bodyPr>
          <a:lstStyle/>
          <a:p>
            <a:pPr algn="l">
              <a:lnSpc>
                <a:spcPts val="2100"/>
              </a:lnSpc>
            </a:pPr>
            <a:r>
              <a:rPr lang="en-US" sz="1500" spc="179" b="true">
                <a:solidFill>
                  <a:srgbClr val="1D8A85"/>
                </a:solidFill>
                <a:latin typeface="IBM Plex Mono Bold"/>
                <a:ea typeface="IBM Plex Mono Bold"/>
                <a:cs typeface="IBM Plex Mono Bold"/>
                <a:sym typeface="IBM Plex Mono Bold"/>
              </a:rPr>
              <a:t>CENTRAL IDEA</a:t>
            </a:r>
          </a:p>
        </p:txBody>
      </p:sp>
      <p:grpSp>
        <p:nvGrpSpPr>
          <p:cNvPr name="Group 6" id="6"/>
          <p:cNvGrpSpPr/>
          <p:nvPr/>
        </p:nvGrpSpPr>
        <p:grpSpPr>
          <a:xfrm rot="0">
            <a:off x="1714500" y="5715000"/>
            <a:ext cx="3429000" cy="1143000"/>
            <a:chOff x="0" y="0"/>
            <a:chExt cx="4572000" cy="1524000"/>
          </a:xfrm>
        </p:grpSpPr>
        <p:sp>
          <p:nvSpPr>
            <p:cNvPr name="Freeform 7" id="7"/>
            <p:cNvSpPr/>
            <p:nvPr/>
          </p:nvSpPr>
          <p:spPr>
            <a:xfrm flipH="false" flipV="false" rot="0">
              <a:off x="0" y="0"/>
              <a:ext cx="4572000" cy="1524000"/>
            </a:xfrm>
            <a:custGeom>
              <a:avLst/>
              <a:gdLst/>
              <a:ahLst/>
              <a:cxnLst/>
              <a:rect r="r" b="b" t="t" l="l"/>
              <a:pathLst>
                <a:path h="1524000" w="4572000">
                  <a:moveTo>
                    <a:pt x="63500" y="0"/>
                  </a:moveTo>
                  <a:lnTo>
                    <a:pt x="4508500" y="0"/>
                  </a:lnTo>
                  <a:cubicBezTo>
                    <a:pt x="4543570" y="0"/>
                    <a:pt x="4572000" y="28430"/>
                    <a:pt x="4572000" y="63500"/>
                  </a:cubicBezTo>
                  <a:lnTo>
                    <a:pt x="4572000" y="1460500"/>
                  </a:lnTo>
                  <a:cubicBezTo>
                    <a:pt x="4572000" y="1495570"/>
                    <a:pt x="4543570" y="1524000"/>
                    <a:pt x="4508500" y="1524000"/>
                  </a:cubicBezTo>
                  <a:lnTo>
                    <a:pt x="63500" y="1524000"/>
                  </a:lnTo>
                  <a:cubicBezTo>
                    <a:pt x="28430" y="1524000"/>
                    <a:pt x="0" y="1495570"/>
                    <a:pt x="0" y="1460500"/>
                  </a:cubicBezTo>
                  <a:lnTo>
                    <a:pt x="0" y="63500"/>
                  </a:lnTo>
                  <a:cubicBezTo>
                    <a:pt x="0" y="28430"/>
                    <a:pt x="28430" y="0"/>
                    <a:pt x="63500" y="0"/>
                  </a:cubicBezTo>
                  <a:close/>
                </a:path>
              </a:pathLst>
            </a:custGeom>
            <a:solidFill>
              <a:srgbClr val="1D8A85"/>
            </a:solidFill>
            <a:ln cap="sq">
              <a:noFill/>
              <a:prstDash val="solid"/>
              <a:miter/>
            </a:ln>
          </p:spPr>
        </p:sp>
        <p:sp>
          <p:nvSpPr>
            <p:cNvPr name="TextBox 8" id="8"/>
            <p:cNvSpPr txBox="true"/>
            <p:nvPr/>
          </p:nvSpPr>
          <p:spPr>
            <a:xfrm>
              <a:off x="0" y="-38100"/>
              <a:ext cx="4572000" cy="1562100"/>
            </a:xfrm>
            <a:prstGeom prst="rect">
              <a:avLst/>
            </a:prstGeom>
          </p:spPr>
          <p:txBody>
            <a:bodyPr anchor="ctr" rtlCol="false" tIns="50800" lIns="50800" bIns="50800" rIns="50800"/>
            <a:lstStyle/>
            <a:p>
              <a:pPr algn="ctr">
                <a:lnSpc>
                  <a:spcPts val="2625"/>
                </a:lnSpc>
              </a:pPr>
              <a:r>
                <a:rPr lang="en-US" sz="1875" b="true">
                  <a:solidFill>
                    <a:srgbClr val="FFFFFF"/>
                  </a:solidFill>
                  <a:latin typeface="Source Sans 3 Bold"/>
                  <a:ea typeface="Source Sans 3 Bold"/>
                  <a:cs typeface="Source Sans 3 Bold"/>
                  <a:sym typeface="Source Sans 3 Bold"/>
                </a:rPr>
                <a:t>GENETIC</a:t>
              </a:r>
            </a:p>
            <a:p>
              <a:pPr algn="ctr">
                <a:lnSpc>
                  <a:spcPts val="2625"/>
                </a:lnSpc>
              </a:pPr>
              <a:r>
                <a:rPr lang="en-US" sz="1875" b="true">
                  <a:solidFill>
                    <a:srgbClr val="FFFFFF"/>
                  </a:solidFill>
                  <a:latin typeface="Source Sans 3 Bold"/>
                  <a:ea typeface="Source Sans 3 Bold"/>
                  <a:cs typeface="Source Sans 3 Bold"/>
                  <a:sym typeface="Source Sans 3 Bold"/>
                </a:rPr>
                <a:t>family history</a:t>
              </a:r>
            </a:p>
          </p:txBody>
        </p:sp>
      </p:grpSp>
      <p:grpSp>
        <p:nvGrpSpPr>
          <p:cNvPr name="Group 9" id="9"/>
          <p:cNvGrpSpPr/>
          <p:nvPr/>
        </p:nvGrpSpPr>
        <p:grpSpPr>
          <a:xfrm rot="0">
            <a:off x="5905500" y="5715000"/>
            <a:ext cx="3429000" cy="1143000"/>
            <a:chOff x="0" y="0"/>
            <a:chExt cx="4572000" cy="1524000"/>
          </a:xfrm>
        </p:grpSpPr>
        <p:sp>
          <p:nvSpPr>
            <p:cNvPr name="Freeform 10" id="10"/>
            <p:cNvSpPr/>
            <p:nvPr/>
          </p:nvSpPr>
          <p:spPr>
            <a:xfrm flipH="false" flipV="false" rot="0">
              <a:off x="0" y="0"/>
              <a:ext cx="4572000" cy="1524000"/>
            </a:xfrm>
            <a:custGeom>
              <a:avLst/>
              <a:gdLst/>
              <a:ahLst/>
              <a:cxnLst/>
              <a:rect r="r" b="b" t="t" l="l"/>
              <a:pathLst>
                <a:path h="1524000" w="4572000">
                  <a:moveTo>
                    <a:pt x="63500" y="0"/>
                  </a:moveTo>
                  <a:lnTo>
                    <a:pt x="4508500" y="0"/>
                  </a:lnTo>
                  <a:cubicBezTo>
                    <a:pt x="4543570" y="0"/>
                    <a:pt x="4572000" y="28430"/>
                    <a:pt x="4572000" y="63500"/>
                  </a:cubicBezTo>
                  <a:lnTo>
                    <a:pt x="4572000" y="1460500"/>
                  </a:lnTo>
                  <a:cubicBezTo>
                    <a:pt x="4572000" y="1495570"/>
                    <a:pt x="4543570" y="1524000"/>
                    <a:pt x="4508500" y="1524000"/>
                  </a:cubicBezTo>
                  <a:lnTo>
                    <a:pt x="63500" y="1524000"/>
                  </a:lnTo>
                  <a:cubicBezTo>
                    <a:pt x="28430" y="1524000"/>
                    <a:pt x="0" y="1495570"/>
                    <a:pt x="0" y="1460500"/>
                  </a:cubicBezTo>
                  <a:lnTo>
                    <a:pt x="0" y="63500"/>
                  </a:lnTo>
                  <a:cubicBezTo>
                    <a:pt x="0" y="28430"/>
                    <a:pt x="28430" y="0"/>
                    <a:pt x="63500" y="0"/>
                  </a:cubicBezTo>
                  <a:close/>
                </a:path>
              </a:pathLst>
            </a:custGeom>
            <a:solidFill>
              <a:srgbClr val="EF6B5B"/>
            </a:solidFill>
            <a:ln cap="sq">
              <a:noFill/>
              <a:prstDash val="solid"/>
              <a:miter/>
            </a:ln>
          </p:spPr>
        </p:sp>
        <p:sp>
          <p:nvSpPr>
            <p:cNvPr name="TextBox 11" id="11"/>
            <p:cNvSpPr txBox="true"/>
            <p:nvPr/>
          </p:nvSpPr>
          <p:spPr>
            <a:xfrm>
              <a:off x="0" y="-38100"/>
              <a:ext cx="4572000" cy="1562100"/>
            </a:xfrm>
            <a:prstGeom prst="rect">
              <a:avLst/>
            </a:prstGeom>
          </p:spPr>
          <p:txBody>
            <a:bodyPr anchor="ctr" rtlCol="false" tIns="50800" lIns="50800" bIns="50800" rIns="50800"/>
            <a:lstStyle/>
            <a:p>
              <a:pPr algn="ctr">
                <a:lnSpc>
                  <a:spcPts val="2625"/>
                </a:lnSpc>
              </a:pPr>
              <a:r>
                <a:rPr lang="en-US" sz="1875" b="true">
                  <a:solidFill>
                    <a:srgbClr val="FFFFFF"/>
                  </a:solidFill>
                  <a:latin typeface="Source Sans 3 Bold"/>
                  <a:ea typeface="Source Sans 3 Bold"/>
                  <a:cs typeface="Source Sans 3 Bold"/>
                  <a:sym typeface="Source Sans 3 Bold"/>
                </a:rPr>
                <a:t>BEHAVIOR</a:t>
              </a:r>
            </a:p>
            <a:p>
              <a:pPr algn="ctr">
                <a:lnSpc>
                  <a:spcPts val="2625"/>
                </a:lnSpc>
              </a:pPr>
              <a:r>
                <a:rPr lang="en-US" sz="1875" b="true">
                  <a:solidFill>
                    <a:srgbClr val="FFFFFF"/>
                  </a:solidFill>
                  <a:latin typeface="Source Sans 3 Bold"/>
                  <a:ea typeface="Source Sans 3 Bold"/>
                  <a:cs typeface="Source Sans 3 Bold"/>
                  <a:sym typeface="Source Sans 3 Bold"/>
                </a:rPr>
                <a:t>food + activity</a:t>
              </a:r>
            </a:p>
          </p:txBody>
        </p:sp>
      </p:grpSp>
      <p:grpSp>
        <p:nvGrpSpPr>
          <p:cNvPr name="Group 12" id="12"/>
          <p:cNvGrpSpPr/>
          <p:nvPr/>
        </p:nvGrpSpPr>
        <p:grpSpPr>
          <a:xfrm rot="0">
            <a:off x="10096500" y="5715000"/>
            <a:ext cx="3429000" cy="1143000"/>
            <a:chOff x="0" y="0"/>
            <a:chExt cx="4572000" cy="1524000"/>
          </a:xfrm>
        </p:grpSpPr>
        <p:sp>
          <p:nvSpPr>
            <p:cNvPr name="Freeform 13" id="13"/>
            <p:cNvSpPr/>
            <p:nvPr/>
          </p:nvSpPr>
          <p:spPr>
            <a:xfrm flipH="false" flipV="false" rot="0">
              <a:off x="0" y="0"/>
              <a:ext cx="4572000" cy="1524000"/>
            </a:xfrm>
            <a:custGeom>
              <a:avLst/>
              <a:gdLst/>
              <a:ahLst/>
              <a:cxnLst/>
              <a:rect r="r" b="b" t="t" l="l"/>
              <a:pathLst>
                <a:path h="1524000" w="4572000">
                  <a:moveTo>
                    <a:pt x="63500" y="0"/>
                  </a:moveTo>
                  <a:lnTo>
                    <a:pt x="4508500" y="0"/>
                  </a:lnTo>
                  <a:cubicBezTo>
                    <a:pt x="4543570" y="0"/>
                    <a:pt x="4572000" y="28430"/>
                    <a:pt x="4572000" y="63500"/>
                  </a:cubicBezTo>
                  <a:lnTo>
                    <a:pt x="4572000" y="1460500"/>
                  </a:lnTo>
                  <a:cubicBezTo>
                    <a:pt x="4572000" y="1495570"/>
                    <a:pt x="4543570" y="1524000"/>
                    <a:pt x="4508500" y="1524000"/>
                  </a:cubicBezTo>
                  <a:lnTo>
                    <a:pt x="63500" y="1524000"/>
                  </a:lnTo>
                  <a:cubicBezTo>
                    <a:pt x="28430" y="1524000"/>
                    <a:pt x="0" y="1495570"/>
                    <a:pt x="0" y="1460500"/>
                  </a:cubicBezTo>
                  <a:lnTo>
                    <a:pt x="0" y="63500"/>
                  </a:lnTo>
                  <a:cubicBezTo>
                    <a:pt x="0" y="28430"/>
                    <a:pt x="28430" y="0"/>
                    <a:pt x="63500" y="0"/>
                  </a:cubicBezTo>
                  <a:close/>
                </a:path>
              </a:pathLst>
            </a:custGeom>
            <a:solidFill>
              <a:srgbClr val="D9A441"/>
            </a:solidFill>
            <a:ln cap="sq">
              <a:noFill/>
              <a:prstDash val="solid"/>
              <a:miter/>
            </a:ln>
          </p:spPr>
        </p:sp>
        <p:sp>
          <p:nvSpPr>
            <p:cNvPr name="TextBox 14" id="14"/>
            <p:cNvSpPr txBox="true"/>
            <p:nvPr/>
          </p:nvSpPr>
          <p:spPr>
            <a:xfrm>
              <a:off x="0" y="-38100"/>
              <a:ext cx="4572000" cy="1562100"/>
            </a:xfrm>
            <a:prstGeom prst="rect">
              <a:avLst/>
            </a:prstGeom>
          </p:spPr>
          <p:txBody>
            <a:bodyPr anchor="ctr" rtlCol="false" tIns="50800" lIns="50800" bIns="50800" rIns="50800"/>
            <a:lstStyle/>
            <a:p>
              <a:pPr algn="ctr">
                <a:lnSpc>
                  <a:spcPts val="2625"/>
                </a:lnSpc>
              </a:pPr>
              <a:r>
                <a:rPr lang="en-US" sz="1875" b="true">
                  <a:solidFill>
                    <a:srgbClr val="FFFFFF"/>
                  </a:solidFill>
                  <a:latin typeface="Source Sans 3 Bold"/>
                  <a:ea typeface="Source Sans 3 Bold"/>
                  <a:cs typeface="Source Sans 3 Bold"/>
                  <a:sym typeface="Source Sans 3 Bold"/>
                </a:rPr>
                <a:t>ENVIRONMENT</a:t>
              </a:r>
            </a:p>
            <a:p>
              <a:pPr algn="ctr">
                <a:lnSpc>
                  <a:spcPts val="2625"/>
                </a:lnSpc>
              </a:pPr>
              <a:r>
                <a:rPr lang="en-US" sz="1875" b="true">
                  <a:solidFill>
                    <a:srgbClr val="FFFFFF"/>
                  </a:solidFill>
                  <a:latin typeface="Source Sans 3 Bold"/>
                  <a:ea typeface="Source Sans 3 Bold"/>
                  <a:cs typeface="Source Sans 3 Bold"/>
                  <a:sym typeface="Source Sans 3 Bold"/>
                </a:rPr>
                <a:t>commute + context</a:t>
              </a:r>
            </a:p>
          </p:txBody>
        </p:sp>
      </p:grpSp>
      <p:grpSp>
        <p:nvGrpSpPr>
          <p:cNvPr name="Group 15" id="15"/>
          <p:cNvGrpSpPr/>
          <p:nvPr/>
        </p:nvGrpSpPr>
        <p:grpSpPr>
          <a:xfrm rot="0">
            <a:off x="6858000" y="7810500"/>
            <a:ext cx="4191000" cy="1143000"/>
            <a:chOff x="0" y="0"/>
            <a:chExt cx="5588000" cy="1524000"/>
          </a:xfrm>
        </p:grpSpPr>
        <p:sp>
          <p:nvSpPr>
            <p:cNvPr name="Freeform 16" id="16"/>
            <p:cNvSpPr/>
            <p:nvPr/>
          </p:nvSpPr>
          <p:spPr>
            <a:xfrm flipH="false" flipV="false" rot="0">
              <a:off x="0" y="0"/>
              <a:ext cx="5588000" cy="1524000"/>
            </a:xfrm>
            <a:custGeom>
              <a:avLst/>
              <a:gdLst/>
              <a:ahLst/>
              <a:cxnLst/>
              <a:rect r="r" b="b" t="t" l="l"/>
              <a:pathLst>
                <a:path h="1524000" w="5588000">
                  <a:moveTo>
                    <a:pt x="51955" y="0"/>
                  </a:moveTo>
                  <a:lnTo>
                    <a:pt x="5536045" y="0"/>
                  </a:lnTo>
                  <a:cubicBezTo>
                    <a:pt x="5549825" y="0"/>
                    <a:pt x="5563040" y="5474"/>
                    <a:pt x="5572783" y="15217"/>
                  </a:cubicBezTo>
                  <a:cubicBezTo>
                    <a:pt x="5582526" y="24961"/>
                    <a:pt x="5588000" y="38175"/>
                    <a:pt x="5588000" y="51955"/>
                  </a:cubicBezTo>
                  <a:lnTo>
                    <a:pt x="5588000" y="1472045"/>
                  </a:lnTo>
                  <a:cubicBezTo>
                    <a:pt x="5588000" y="1485825"/>
                    <a:pt x="5582526" y="1499040"/>
                    <a:pt x="5572783" y="1508783"/>
                  </a:cubicBezTo>
                  <a:cubicBezTo>
                    <a:pt x="5563040" y="1518526"/>
                    <a:pt x="5549825" y="1524000"/>
                    <a:pt x="5536045" y="1524000"/>
                  </a:cubicBezTo>
                  <a:lnTo>
                    <a:pt x="51955" y="1524000"/>
                  </a:lnTo>
                  <a:cubicBezTo>
                    <a:pt x="38175" y="1524000"/>
                    <a:pt x="24961" y="1518526"/>
                    <a:pt x="15217" y="1508783"/>
                  </a:cubicBezTo>
                  <a:cubicBezTo>
                    <a:pt x="5474" y="1499040"/>
                    <a:pt x="0" y="1485825"/>
                    <a:pt x="0" y="1472045"/>
                  </a:cubicBezTo>
                  <a:lnTo>
                    <a:pt x="0" y="51955"/>
                  </a:lnTo>
                  <a:cubicBezTo>
                    <a:pt x="0" y="38175"/>
                    <a:pt x="5474" y="24961"/>
                    <a:pt x="15217" y="15217"/>
                  </a:cubicBezTo>
                  <a:cubicBezTo>
                    <a:pt x="24961" y="5474"/>
                    <a:pt x="38175" y="0"/>
                    <a:pt x="51955" y="0"/>
                  </a:cubicBezTo>
                  <a:close/>
                </a:path>
              </a:pathLst>
            </a:custGeom>
            <a:solidFill>
              <a:srgbClr val="0B1F2A"/>
            </a:solidFill>
            <a:ln cap="sq">
              <a:noFill/>
              <a:prstDash val="solid"/>
              <a:miter/>
            </a:ln>
          </p:spPr>
        </p:sp>
        <p:sp>
          <p:nvSpPr>
            <p:cNvPr name="TextBox 17" id="17"/>
            <p:cNvSpPr txBox="true"/>
            <p:nvPr/>
          </p:nvSpPr>
          <p:spPr>
            <a:xfrm>
              <a:off x="0" y="-38100"/>
              <a:ext cx="5588000" cy="1562100"/>
            </a:xfrm>
            <a:prstGeom prst="rect">
              <a:avLst/>
            </a:prstGeom>
          </p:spPr>
          <p:txBody>
            <a:bodyPr anchor="ctr" rtlCol="false" tIns="50800" lIns="50800" bIns="50800" rIns="50800"/>
            <a:lstStyle/>
            <a:p>
              <a:pPr algn="ctr">
                <a:lnSpc>
                  <a:spcPts val="2625"/>
                </a:lnSpc>
              </a:pPr>
              <a:r>
                <a:rPr lang="en-US" sz="1875" b="true">
                  <a:solidFill>
                    <a:srgbClr val="FFFFFF"/>
                  </a:solidFill>
                  <a:latin typeface="Source Sans 3 Bold"/>
                  <a:ea typeface="Source Sans 3 Bold"/>
                  <a:cs typeface="Source Sans 3 Bold"/>
                  <a:sym typeface="Source Sans 3 Bold"/>
                </a:rPr>
                <a:t>WEIGHT STATUS</a:t>
              </a:r>
            </a:p>
          </p:txBody>
        </p:sp>
      </p:grpSp>
      <p:sp>
        <p:nvSpPr>
          <p:cNvPr name="AutoShape 18" id="18"/>
          <p:cNvSpPr/>
          <p:nvPr/>
        </p:nvSpPr>
        <p:spPr>
          <a:xfrm>
            <a:off x="3429000" y="6858000"/>
            <a:ext cx="4381500" cy="952500"/>
          </a:xfrm>
          <a:prstGeom prst="line">
            <a:avLst/>
          </a:prstGeom>
          <a:ln cap="flat" w="38100">
            <a:solidFill>
              <a:srgbClr val="CAD4CF"/>
            </a:solidFill>
            <a:prstDash val="solid"/>
            <a:headEnd type="none" len="sm" w="sm"/>
            <a:tailEnd type="none" len="sm" w="sm"/>
          </a:ln>
        </p:spPr>
      </p:sp>
      <p:sp>
        <p:nvSpPr>
          <p:cNvPr name="AutoShape 19" id="19"/>
          <p:cNvSpPr/>
          <p:nvPr/>
        </p:nvSpPr>
        <p:spPr>
          <a:xfrm>
            <a:off x="7620000" y="6858000"/>
            <a:ext cx="952500" cy="952500"/>
          </a:xfrm>
          <a:prstGeom prst="line">
            <a:avLst/>
          </a:prstGeom>
          <a:ln cap="flat" w="38100">
            <a:solidFill>
              <a:srgbClr val="CAD4CF"/>
            </a:solidFill>
            <a:prstDash val="solid"/>
            <a:headEnd type="none" len="sm" w="sm"/>
            <a:tailEnd type="none" len="sm" w="sm"/>
          </a:ln>
        </p:spPr>
      </p:sp>
      <p:sp>
        <p:nvSpPr>
          <p:cNvPr name="AutoShape 20" id="20"/>
          <p:cNvSpPr/>
          <p:nvPr/>
        </p:nvSpPr>
        <p:spPr>
          <a:xfrm flipH="true">
            <a:off x="10096500" y="6858000"/>
            <a:ext cx="1714500" cy="952500"/>
          </a:xfrm>
          <a:prstGeom prst="line">
            <a:avLst/>
          </a:prstGeom>
          <a:ln cap="flat" w="38100">
            <a:solidFill>
              <a:srgbClr val="CAD4CF"/>
            </a:solidFill>
            <a:prstDash val="solid"/>
            <a:headEnd type="none" len="sm" w="sm"/>
            <a:tailEnd type="none" len="sm" w="sm"/>
          </a:ln>
        </p:spPr>
      </p:sp>
      <p:grpSp>
        <p:nvGrpSpPr>
          <p:cNvPr name="Group 21" id="21"/>
          <p:cNvGrpSpPr/>
          <p:nvPr/>
        </p:nvGrpSpPr>
        <p:grpSpPr>
          <a:xfrm rot="0">
            <a:off x="990600" y="9258300"/>
            <a:ext cx="16593782" cy="422910"/>
            <a:chOff x="0" y="0"/>
            <a:chExt cx="22125042" cy="563880"/>
          </a:xfrm>
        </p:grpSpPr>
        <p:sp>
          <p:nvSpPr>
            <p:cNvPr name="AutoShape 22" id="22"/>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23" id="23"/>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24" id="24"/>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18/22</a:t>
              </a:r>
            </a:p>
          </p:txBody>
        </p:sp>
      </p:grpSp>
    </p:spTree>
  </p:cSld>
  <p:clrMapOvr>
    <a:masterClrMapping/>
  </p:clrMapOvr>
</p:sld>
</file>

<file path=ppt/slides/slide19.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One question → one visual form</a:t>
            </a:r>
          </a:p>
        </p:txBody>
      </p:sp>
      <p:grpSp>
        <p:nvGrpSpPr>
          <p:cNvPr name="Group 3" id="3"/>
          <p:cNvGrpSpPr/>
          <p:nvPr/>
        </p:nvGrpSpPr>
        <p:grpSpPr>
          <a:xfrm rot="0">
            <a:off x="857250" y="2857500"/>
            <a:ext cx="5143500" cy="2000250"/>
            <a:chOff x="0" y="0"/>
            <a:chExt cx="6858000" cy="2667000"/>
          </a:xfrm>
        </p:grpSpPr>
        <p:grpSp>
          <p:nvGrpSpPr>
            <p:cNvPr name="Group 4" id="4"/>
            <p:cNvGrpSpPr/>
            <p:nvPr/>
          </p:nvGrpSpPr>
          <p:grpSpPr>
            <a:xfrm rot="0">
              <a:off x="0" y="0"/>
              <a:ext cx="6858000" cy="2667000"/>
              <a:chOff x="0" y="0"/>
              <a:chExt cx="6858000" cy="2667000"/>
            </a:xfrm>
          </p:grpSpPr>
          <p:sp>
            <p:nvSpPr>
              <p:cNvPr name="Freeform 5" id="5"/>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6" id="6"/>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7" id="7"/>
            <p:cNvGrpSpPr/>
            <p:nvPr/>
          </p:nvGrpSpPr>
          <p:grpSpPr>
            <a:xfrm rot="0">
              <a:off x="0" y="0"/>
              <a:ext cx="152400" cy="2667000"/>
              <a:chOff x="0" y="0"/>
              <a:chExt cx="152400" cy="2667000"/>
            </a:xfrm>
          </p:grpSpPr>
          <p:sp>
            <p:nvSpPr>
              <p:cNvPr name="Freeform 8" id="8"/>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18A999"/>
              </a:solidFill>
              <a:ln cap="sq">
                <a:noFill/>
                <a:prstDash val="solid"/>
                <a:miter/>
              </a:ln>
            </p:spPr>
          </p:sp>
          <p:sp>
            <p:nvSpPr>
              <p:cNvPr name="TextBox 9" id="9"/>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10" id="10"/>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18A999"/>
                  </a:solidFill>
                  <a:latin typeface="IBM Plex Mono Bold"/>
                  <a:ea typeface="IBM Plex Mono Bold"/>
                  <a:cs typeface="IBM Plex Mono Bold"/>
                  <a:sym typeface="IBM Plex Mono Bold"/>
                </a:rPr>
                <a:t>DISTRIBUTION</a:t>
              </a:r>
            </a:p>
          </p:txBody>
        </p:sp>
        <p:sp>
          <p:nvSpPr>
            <p:cNvPr name="TextBox 11" id="11"/>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histogram / density</a:t>
              </a:r>
            </a:p>
          </p:txBody>
        </p:sp>
      </p:grpSp>
      <p:grpSp>
        <p:nvGrpSpPr>
          <p:cNvPr name="Group 12" id="12"/>
          <p:cNvGrpSpPr/>
          <p:nvPr/>
        </p:nvGrpSpPr>
        <p:grpSpPr>
          <a:xfrm rot="0">
            <a:off x="6572250" y="2857500"/>
            <a:ext cx="5143500" cy="2000250"/>
            <a:chOff x="0" y="0"/>
            <a:chExt cx="6858000" cy="2667000"/>
          </a:xfrm>
        </p:grpSpPr>
        <p:grpSp>
          <p:nvGrpSpPr>
            <p:cNvPr name="Group 13" id="13"/>
            <p:cNvGrpSpPr/>
            <p:nvPr/>
          </p:nvGrpSpPr>
          <p:grpSpPr>
            <a:xfrm rot="0">
              <a:off x="0" y="0"/>
              <a:ext cx="6858000" cy="2667000"/>
              <a:chOff x="0" y="0"/>
              <a:chExt cx="6858000" cy="2667000"/>
            </a:xfrm>
          </p:grpSpPr>
          <p:sp>
            <p:nvSpPr>
              <p:cNvPr name="Freeform 14" id="14"/>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15" id="15"/>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16" id="16"/>
            <p:cNvGrpSpPr/>
            <p:nvPr/>
          </p:nvGrpSpPr>
          <p:grpSpPr>
            <a:xfrm rot="0">
              <a:off x="0" y="0"/>
              <a:ext cx="152400" cy="2667000"/>
              <a:chOff x="0" y="0"/>
              <a:chExt cx="152400" cy="2667000"/>
            </a:xfrm>
          </p:grpSpPr>
          <p:sp>
            <p:nvSpPr>
              <p:cNvPr name="Freeform 17" id="17"/>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EF6F61"/>
              </a:solidFill>
              <a:ln cap="sq">
                <a:noFill/>
                <a:prstDash val="solid"/>
                <a:miter/>
              </a:ln>
            </p:spPr>
          </p:sp>
          <p:sp>
            <p:nvSpPr>
              <p:cNvPr name="TextBox 18" id="18"/>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EF6F61"/>
                  </a:solidFill>
                  <a:latin typeface="IBM Plex Mono Bold"/>
                  <a:ea typeface="IBM Plex Mono Bold"/>
                  <a:cs typeface="IBM Plex Mono Bold"/>
                  <a:sym typeface="IBM Plex Mono Bold"/>
                </a:rPr>
                <a:t>CATEGORY</a:t>
              </a:r>
            </a:p>
          </p:txBody>
        </p:sp>
        <p:sp>
          <p:nvSpPr>
            <p:cNvPr name="TextBox 20" id="20"/>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count / proportion</a:t>
              </a:r>
            </a:p>
          </p:txBody>
        </p:sp>
      </p:grpSp>
      <p:grpSp>
        <p:nvGrpSpPr>
          <p:cNvPr name="Group 21" id="21"/>
          <p:cNvGrpSpPr/>
          <p:nvPr/>
        </p:nvGrpSpPr>
        <p:grpSpPr>
          <a:xfrm rot="0">
            <a:off x="12287250" y="2857500"/>
            <a:ext cx="5143500" cy="2000250"/>
            <a:chOff x="0" y="0"/>
            <a:chExt cx="6858000" cy="2667000"/>
          </a:xfrm>
        </p:grpSpPr>
        <p:grpSp>
          <p:nvGrpSpPr>
            <p:cNvPr name="Group 22" id="22"/>
            <p:cNvGrpSpPr/>
            <p:nvPr/>
          </p:nvGrpSpPr>
          <p:grpSpPr>
            <a:xfrm rot="0">
              <a:off x="0" y="0"/>
              <a:ext cx="6858000" cy="2667000"/>
              <a:chOff x="0" y="0"/>
              <a:chExt cx="6858000" cy="2667000"/>
            </a:xfrm>
          </p:grpSpPr>
          <p:sp>
            <p:nvSpPr>
              <p:cNvPr name="Freeform 23" id="23"/>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24" id="24"/>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25" id="25"/>
            <p:cNvGrpSpPr/>
            <p:nvPr/>
          </p:nvGrpSpPr>
          <p:grpSpPr>
            <a:xfrm rot="0">
              <a:off x="0" y="0"/>
              <a:ext cx="152400" cy="2667000"/>
              <a:chOff x="0" y="0"/>
              <a:chExt cx="152400" cy="2667000"/>
            </a:xfrm>
          </p:grpSpPr>
          <p:sp>
            <p:nvSpPr>
              <p:cNvPr name="Freeform 26" id="26"/>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0B1F33"/>
              </a:solidFill>
              <a:ln cap="sq">
                <a:noFill/>
                <a:prstDash val="solid"/>
                <a:miter/>
              </a:ln>
            </p:spPr>
          </p:sp>
          <p:sp>
            <p:nvSpPr>
              <p:cNvPr name="TextBox 27" id="27"/>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28" id="28"/>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0B1F33"/>
                  </a:solidFill>
                  <a:latin typeface="IBM Plex Mono Bold"/>
                  <a:ea typeface="IBM Plex Mono Bold"/>
                  <a:cs typeface="IBM Plex Mono Bold"/>
                  <a:sym typeface="IBM Plex Mono Bold"/>
                </a:rPr>
                <a:t>GROUP DIFFERENCE</a:t>
              </a:r>
            </a:p>
          </p:txBody>
        </p:sp>
        <p:sp>
          <p:nvSpPr>
            <p:cNvPr name="TextBox 29" id="29"/>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box / violin</a:t>
              </a:r>
            </a:p>
          </p:txBody>
        </p:sp>
      </p:grpSp>
      <p:grpSp>
        <p:nvGrpSpPr>
          <p:cNvPr name="Group 30" id="30"/>
          <p:cNvGrpSpPr/>
          <p:nvPr/>
        </p:nvGrpSpPr>
        <p:grpSpPr>
          <a:xfrm rot="0">
            <a:off x="857250" y="5429250"/>
            <a:ext cx="5143500" cy="2000250"/>
            <a:chOff x="0" y="0"/>
            <a:chExt cx="6858000" cy="2667000"/>
          </a:xfrm>
        </p:grpSpPr>
        <p:grpSp>
          <p:nvGrpSpPr>
            <p:cNvPr name="Group 31" id="31"/>
            <p:cNvGrpSpPr/>
            <p:nvPr/>
          </p:nvGrpSpPr>
          <p:grpSpPr>
            <a:xfrm rot="0">
              <a:off x="0" y="0"/>
              <a:ext cx="6858000" cy="2667000"/>
              <a:chOff x="0" y="0"/>
              <a:chExt cx="6858000" cy="2667000"/>
            </a:xfrm>
          </p:grpSpPr>
          <p:sp>
            <p:nvSpPr>
              <p:cNvPr name="Freeform 32" id="32"/>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33" id="33"/>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34" id="34"/>
            <p:cNvGrpSpPr/>
            <p:nvPr/>
          </p:nvGrpSpPr>
          <p:grpSpPr>
            <a:xfrm rot="0">
              <a:off x="0" y="0"/>
              <a:ext cx="152400" cy="2667000"/>
              <a:chOff x="0" y="0"/>
              <a:chExt cx="152400" cy="2667000"/>
            </a:xfrm>
          </p:grpSpPr>
          <p:sp>
            <p:nvSpPr>
              <p:cNvPr name="Freeform 35" id="35"/>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397A7B"/>
              </a:solidFill>
              <a:ln cap="sq">
                <a:noFill/>
                <a:prstDash val="solid"/>
                <a:miter/>
              </a:ln>
            </p:spPr>
          </p:sp>
          <p:sp>
            <p:nvSpPr>
              <p:cNvPr name="TextBox 36" id="36"/>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397A7B"/>
                  </a:solidFill>
                  <a:latin typeface="IBM Plex Mono Bold"/>
                  <a:ea typeface="IBM Plex Mono Bold"/>
                  <a:cs typeface="IBM Plex Mono Bold"/>
                  <a:sym typeface="IBM Plex Mono Bold"/>
                </a:rPr>
                <a:t>ASSOCIATION</a:t>
              </a:r>
            </a:p>
          </p:txBody>
        </p:sp>
        <p:sp>
          <p:nvSpPr>
            <p:cNvPr name="TextBox 38" id="38"/>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scatter / heatmap</a:t>
              </a:r>
            </a:p>
          </p:txBody>
        </p:sp>
      </p:grpSp>
      <p:grpSp>
        <p:nvGrpSpPr>
          <p:cNvPr name="Group 39" id="39"/>
          <p:cNvGrpSpPr/>
          <p:nvPr/>
        </p:nvGrpSpPr>
        <p:grpSpPr>
          <a:xfrm rot="0">
            <a:off x="6572250" y="5429250"/>
            <a:ext cx="5143500" cy="2000250"/>
            <a:chOff x="0" y="0"/>
            <a:chExt cx="6858000" cy="2667000"/>
          </a:xfrm>
        </p:grpSpPr>
        <p:grpSp>
          <p:nvGrpSpPr>
            <p:cNvPr name="Group 40" id="40"/>
            <p:cNvGrpSpPr/>
            <p:nvPr/>
          </p:nvGrpSpPr>
          <p:grpSpPr>
            <a:xfrm rot="0">
              <a:off x="0" y="0"/>
              <a:ext cx="6858000" cy="2667000"/>
              <a:chOff x="0" y="0"/>
              <a:chExt cx="6858000" cy="2667000"/>
            </a:xfrm>
          </p:grpSpPr>
          <p:sp>
            <p:nvSpPr>
              <p:cNvPr name="Freeform 41" id="41"/>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42" id="42"/>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43" id="43"/>
            <p:cNvGrpSpPr/>
            <p:nvPr/>
          </p:nvGrpSpPr>
          <p:grpSpPr>
            <a:xfrm rot="0">
              <a:off x="0" y="0"/>
              <a:ext cx="152400" cy="2667000"/>
              <a:chOff x="0" y="0"/>
              <a:chExt cx="152400" cy="2667000"/>
            </a:xfrm>
          </p:grpSpPr>
          <p:sp>
            <p:nvSpPr>
              <p:cNvPr name="Freeform 44" id="44"/>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315069"/>
              </a:solidFill>
              <a:ln cap="sq">
                <a:noFill/>
                <a:prstDash val="solid"/>
                <a:miter/>
              </a:ln>
            </p:spPr>
          </p:sp>
          <p:sp>
            <p:nvSpPr>
              <p:cNvPr name="TextBox 45" id="45"/>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46" id="46"/>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315069"/>
                  </a:solidFill>
                  <a:latin typeface="IBM Plex Mono Bold"/>
                  <a:ea typeface="IBM Plex Mono Bold"/>
                  <a:cs typeface="IBM Plex Mono Bold"/>
                  <a:sym typeface="IBM Plex Mono Bold"/>
                </a:rPr>
                <a:t>COMPOSITION</a:t>
              </a:r>
            </a:p>
          </p:txBody>
        </p:sp>
        <p:sp>
          <p:nvSpPr>
            <p:cNvPr name="TextBox 47" id="47"/>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100% stacked bar</a:t>
              </a:r>
            </a:p>
          </p:txBody>
        </p:sp>
      </p:grpSp>
      <p:grpSp>
        <p:nvGrpSpPr>
          <p:cNvPr name="Group 48" id="48"/>
          <p:cNvGrpSpPr/>
          <p:nvPr/>
        </p:nvGrpSpPr>
        <p:grpSpPr>
          <a:xfrm rot="0">
            <a:off x="12287250" y="5429250"/>
            <a:ext cx="5143500" cy="2000250"/>
            <a:chOff x="0" y="0"/>
            <a:chExt cx="6858000" cy="2667000"/>
          </a:xfrm>
        </p:grpSpPr>
        <p:grpSp>
          <p:nvGrpSpPr>
            <p:cNvPr name="Group 49" id="49"/>
            <p:cNvGrpSpPr/>
            <p:nvPr/>
          </p:nvGrpSpPr>
          <p:grpSpPr>
            <a:xfrm rot="0">
              <a:off x="0" y="0"/>
              <a:ext cx="6858000" cy="2667000"/>
              <a:chOff x="0" y="0"/>
              <a:chExt cx="6858000" cy="2667000"/>
            </a:xfrm>
          </p:grpSpPr>
          <p:sp>
            <p:nvSpPr>
              <p:cNvPr name="Freeform 50" id="50"/>
              <p:cNvSpPr/>
              <p:nvPr/>
            </p:nvSpPr>
            <p:spPr>
              <a:xfrm flipH="false" flipV="false" rot="0">
                <a:off x="0" y="0"/>
                <a:ext cx="6858000" cy="2667000"/>
              </a:xfrm>
              <a:custGeom>
                <a:avLst/>
                <a:gdLst/>
                <a:ahLst/>
                <a:cxnLst/>
                <a:rect r="r" b="b" t="t" l="l"/>
                <a:pathLst>
                  <a:path h="2667000" w="6858000">
                    <a:moveTo>
                      <a:pt x="0" y="0"/>
                    </a:moveTo>
                    <a:lnTo>
                      <a:pt x="6858000" y="0"/>
                    </a:lnTo>
                    <a:lnTo>
                      <a:pt x="6858000" y="2667000"/>
                    </a:lnTo>
                    <a:lnTo>
                      <a:pt x="0" y="2667000"/>
                    </a:lnTo>
                    <a:close/>
                  </a:path>
                </a:pathLst>
              </a:custGeom>
              <a:solidFill>
                <a:srgbClr val="FFFFFF"/>
              </a:solidFill>
              <a:ln w="19050" cap="sq">
                <a:solidFill>
                  <a:srgbClr val="DFE9E7"/>
                </a:solidFill>
                <a:prstDash val="solid"/>
                <a:miter/>
              </a:ln>
            </p:spPr>
          </p:sp>
          <p:sp>
            <p:nvSpPr>
              <p:cNvPr name="TextBox 51" id="51"/>
              <p:cNvSpPr txBox="true"/>
              <p:nvPr/>
            </p:nvSpPr>
            <p:spPr>
              <a:xfrm>
                <a:off x="0" y="-38100"/>
                <a:ext cx="6858000" cy="2705100"/>
              </a:xfrm>
              <a:prstGeom prst="rect">
                <a:avLst/>
              </a:prstGeom>
            </p:spPr>
            <p:txBody>
              <a:bodyPr anchor="ctr" rtlCol="false" tIns="50800" lIns="50800" bIns="50800" rIns="50800"/>
              <a:lstStyle/>
              <a:p>
                <a:pPr algn="l">
                  <a:lnSpc>
                    <a:spcPts val="1679"/>
                  </a:lnSpc>
                </a:pPr>
              </a:p>
            </p:txBody>
          </p:sp>
        </p:grpSp>
        <p:grpSp>
          <p:nvGrpSpPr>
            <p:cNvPr name="Group 52" id="52"/>
            <p:cNvGrpSpPr/>
            <p:nvPr/>
          </p:nvGrpSpPr>
          <p:grpSpPr>
            <a:xfrm rot="0">
              <a:off x="0" y="0"/>
              <a:ext cx="152400" cy="2667000"/>
              <a:chOff x="0" y="0"/>
              <a:chExt cx="152400" cy="2667000"/>
            </a:xfrm>
          </p:grpSpPr>
          <p:sp>
            <p:nvSpPr>
              <p:cNvPr name="Freeform 53" id="53"/>
              <p:cNvSpPr/>
              <p:nvPr/>
            </p:nvSpPr>
            <p:spPr>
              <a:xfrm flipH="false" flipV="false" rot="0">
                <a:off x="0" y="0"/>
                <a:ext cx="152400" cy="2667000"/>
              </a:xfrm>
              <a:custGeom>
                <a:avLst/>
                <a:gdLst/>
                <a:ahLst/>
                <a:cxnLst/>
                <a:rect r="r" b="b" t="t" l="l"/>
                <a:pathLst>
                  <a:path h="2667000" w="152400">
                    <a:moveTo>
                      <a:pt x="0" y="0"/>
                    </a:moveTo>
                    <a:lnTo>
                      <a:pt x="152400" y="0"/>
                    </a:lnTo>
                    <a:lnTo>
                      <a:pt x="152400" y="2667000"/>
                    </a:lnTo>
                    <a:lnTo>
                      <a:pt x="0" y="2667000"/>
                    </a:lnTo>
                    <a:close/>
                  </a:path>
                </a:pathLst>
              </a:custGeom>
              <a:solidFill>
                <a:srgbClr val="8BD8CF"/>
              </a:solidFill>
              <a:ln cap="sq">
                <a:noFill/>
                <a:prstDash val="solid"/>
                <a:miter/>
              </a:ln>
            </p:spPr>
          </p:sp>
          <p:sp>
            <p:nvSpPr>
              <p:cNvPr name="TextBox 54" id="54"/>
              <p:cNvSpPr txBox="true"/>
              <p:nvPr/>
            </p:nvSpPr>
            <p:spPr>
              <a:xfrm>
                <a:off x="0" y="-38100"/>
                <a:ext cx="152400" cy="2705100"/>
              </a:xfrm>
              <a:prstGeom prst="rect">
                <a:avLst/>
              </a:prstGeom>
            </p:spPr>
            <p:txBody>
              <a:bodyPr anchor="ctr" rtlCol="false" tIns="50800" lIns="50800" bIns="50800" rIns="50800"/>
              <a:lstStyle/>
              <a:p>
                <a:pPr algn="l">
                  <a:lnSpc>
                    <a:spcPts val="1679"/>
                  </a:lnSpc>
                </a:pPr>
              </a:p>
            </p:txBody>
          </p:sp>
        </p:grpSp>
        <p:sp>
          <p:nvSpPr>
            <p:cNvPr name="TextBox 55" id="55"/>
            <p:cNvSpPr txBox="true"/>
            <p:nvPr/>
          </p:nvSpPr>
          <p:spPr>
            <a:xfrm rot="0">
              <a:off x="533400" y="479425"/>
              <a:ext cx="5461000" cy="333375"/>
            </a:xfrm>
            <a:prstGeom prst="rect">
              <a:avLst/>
            </a:prstGeom>
          </p:spPr>
          <p:txBody>
            <a:bodyPr anchor="t" rtlCol="false" tIns="0" lIns="0" bIns="0" rIns="0">
              <a:spAutoFit/>
            </a:bodyPr>
            <a:lstStyle/>
            <a:p>
              <a:pPr algn="l">
                <a:lnSpc>
                  <a:spcPts val="2100"/>
                </a:lnSpc>
              </a:pPr>
              <a:r>
                <a:rPr lang="en-US" sz="1500" spc="120" b="true">
                  <a:solidFill>
                    <a:srgbClr val="8BD8CF"/>
                  </a:solidFill>
                  <a:latin typeface="IBM Plex Mono Bold"/>
                  <a:ea typeface="IBM Plex Mono Bold"/>
                  <a:cs typeface="IBM Plex Mono Bold"/>
                  <a:sym typeface="IBM Plex Mono Bold"/>
                </a:rPr>
                <a:t>AUDIT</a:t>
              </a:r>
            </a:p>
          </p:txBody>
        </p:sp>
        <p:sp>
          <p:nvSpPr>
            <p:cNvPr name="TextBox 56" id="56"/>
            <p:cNvSpPr txBox="true"/>
            <p:nvPr/>
          </p:nvSpPr>
          <p:spPr>
            <a:xfrm rot="0">
              <a:off x="533400" y="1146175"/>
              <a:ext cx="5588000" cy="573405"/>
            </a:xfrm>
            <a:prstGeom prst="rect">
              <a:avLst/>
            </a:prstGeom>
          </p:spPr>
          <p:txBody>
            <a:bodyPr anchor="t" rtlCol="false" tIns="0" lIns="0" bIns="0" rIns="0">
              <a:spAutoFit/>
            </a:bodyPr>
            <a:lstStyle/>
            <a:p>
              <a:pPr algn="l">
                <a:lnSpc>
                  <a:spcPts val="3120"/>
                </a:lnSpc>
              </a:pPr>
              <a:r>
                <a:rPr lang="en-US" sz="3000" b="true">
                  <a:solidFill>
                    <a:srgbClr val="163047"/>
                  </a:solidFill>
                  <a:latin typeface="Brixton Bold"/>
                  <a:ea typeface="Brixton Bold"/>
                  <a:cs typeface="Brixton Bold"/>
                  <a:sym typeface="Brixton Bold"/>
                </a:rPr>
                <a:t>missingness / ranges</a:t>
              </a:r>
            </a:p>
          </p:txBody>
        </p:sp>
      </p:grpSp>
      <p:grpSp>
        <p:nvGrpSpPr>
          <p:cNvPr name="Group 57" id="57"/>
          <p:cNvGrpSpPr/>
          <p:nvPr/>
        </p:nvGrpSpPr>
        <p:grpSpPr>
          <a:xfrm rot="0">
            <a:off x="990600" y="9258300"/>
            <a:ext cx="16593782" cy="422910"/>
            <a:chOff x="0" y="0"/>
            <a:chExt cx="22125042" cy="563880"/>
          </a:xfrm>
        </p:grpSpPr>
        <p:sp>
          <p:nvSpPr>
            <p:cNvPr name="AutoShape 58" id="58"/>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59" id="59"/>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60" id="60"/>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19/22</a:t>
              </a:r>
            </a:p>
          </p:txBody>
        </p:sp>
      </p:grpSp>
    </p:spTree>
  </p:cSld>
  <p:clrMapOvr>
    <a:masterClrMapping/>
  </p:clrMapOvr>
</p:sld>
</file>

<file path=ppt/slides/slide20.xml><?xml version="1.0" encoding="utf-8"?>
<p:sld xmlns:p="http://schemas.openxmlformats.org/presentationml/2006/main" xmlns:a="http://schemas.openxmlformats.org/drawingml/2006/main">
  <p:cSld>
    <p:bg>
      <p:bgPr>
        <a:solidFill>
          <a:srgbClr val="0B1F33"/>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FFFFFF"/>
                </a:solidFill>
                <a:latin typeface="Brixton Bold"/>
                <a:ea typeface="Brixton Bold"/>
                <a:cs typeface="Brixton Bold"/>
                <a:sym typeface="Brixton Bold"/>
              </a:rPr>
              <a:t>Six findings that move the analysis forward</a:t>
            </a:r>
          </a:p>
        </p:txBody>
      </p:sp>
      <p:grpSp>
        <p:nvGrpSpPr>
          <p:cNvPr name="Group 3" id="3"/>
          <p:cNvGrpSpPr/>
          <p:nvPr/>
        </p:nvGrpSpPr>
        <p:grpSpPr>
          <a:xfrm rot="0">
            <a:off x="762000" y="2571750"/>
            <a:ext cx="8096250" cy="1666875"/>
            <a:chOff x="0" y="0"/>
            <a:chExt cx="10795000" cy="2222500"/>
          </a:xfrm>
        </p:grpSpPr>
        <p:grpSp>
          <p:nvGrpSpPr>
            <p:cNvPr name="Group 4" id="4"/>
            <p:cNvGrpSpPr/>
            <p:nvPr/>
          </p:nvGrpSpPr>
          <p:grpSpPr>
            <a:xfrm rot="0">
              <a:off x="0" y="0"/>
              <a:ext cx="10795000" cy="2222500"/>
              <a:chOff x="0" y="0"/>
              <a:chExt cx="10795000" cy="2222500"/>
            </a:xfrm>
          </p:grpSpPr>
          <p:sp>
            <p:nvSpPr>
              <p:cNvPr name="Freeform 5" id="5"/>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6" id="6"/>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7" id="7"/>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01</a:t>
              </a:r>
            </a:p>
          </p:txBody>
        </p:sp>
        <p:sp>
          <p:nvSpPr>
            <p:cNvPr name="TextBox 8" id="8"/>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The outcome has seven distinct classes.</a:t>
              </a:r>
            </a:p>
          </p:txBody>
        </p:sp>
      </p:grpSp>
      <p:grpSp>
        <p:nvGrpSpPr>
          <p:cNvPr name="Group 9" id="9"/>
          <p:cNvGrpSpPr/>
          <p:nvPr/>
        </p:nvGrpSpPr>
        <p:grpSpPr>
          <a:xfrm rot="0">
            <a:off x="9334500" y="2571750"/>
            <a:ext cx="8096250" cy="1666875"/>
            <a:chOff x="0" y="0"/>
            <a:chExt cx="10795000" cy="2222500"/>
          </a:xfrm>
        </p:grpSpPr>
        <p:grpSp>
          <p:nvGrpSpPr>
            <p:cNvPr name="Group 10" id="10"/>
            <p:cNvGrpSpPr/>
            <p:nvPr/>
          </p:nvGrpSpPr>
          <p:grpSpPr>
            <a:xfrm rot="0">
              <a:off x="0" y="0"/>
              <a:ext cx="10795000" cy="2222500"/>
              <a:chOff x="0" y="0"/>
              <a:chExt cx="10795000" cy="2222500"/>
            </a:xfrm>
          </p:grpSpPr>
          <p:sp>
            <p:nvSpPr>
              <p:cNvPr name="Freeform 11" id="11"/>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12" id="12"/>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13" id="13"/>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02</a:t>
              </a:r>
            </a:p>
          </p:txBody>
        </p:sp>
        <p:sp>
          <p:nvSpPr>
            <p:cNvPr name="TextBox 14" id="14"/>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Age distributions vary across target groups.</a:t>
              </a:r>
            </a:p>
          </p:txBody>
        </p:sp>
      </p:grpSp>
      <p:grpSp>
        <p:nvGrpSpPr>
          <p:cNvPr name="Group 15" id="15"/>
          <p:cNvGrpSpPr/>
          <p:nvPr/>
        </p:nvGrpSpPr>
        <p:grpSpPr>
          <a:xfrm rot="0">
            <a:off x="762000" y="4667250"/>
            <a:ext cx="8096250" cy="1666875"/>
            <a:chOff x="0" y="0"/>
            <a:chExt cx="10795000" cy="2222500"/>
          </a:xfrm>
        </p:grpSpPr>
        <p:grpSp>
          <p:nvGrpSpPr>
            <p:cNvPr name="Group 16" id="16"/>
            <p:cNvGrpSpPr/>
            <p:nvPr/>
          </p:nvGrpSpPr>
          <p:grpSpPr>
            <a:xfrm rot="0">
              <a:off x="0" y="0"/>
              <a:ext cx="10795000" cy="2222500"/>
              <a:chOff x="0" y="0"/>
              <a:chExt cx="10795000" cy="2222500"/>
            </a:xfrm>
          </p:grpSpPr>
          <p:sp>
            <p:nvSpPr>
              <p:cNvPr name="Freeform 17" id="17"/>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18" id="18"/>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19" id="19"/>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03</a:t>
              </a:r>
            </a:p>
          </p:txBody>
        </p:sp>
        <p:sp>
          <p:nvSpPr>
            <p:cNvPr name="TextBox 20" id="20"/>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Family history is an important comparison factor.</a:t>
              </a:r>
            </a:p>
          </p:txBody>
        </p:sp>
      </p:grpSp>
      <p:grpSp>
        <p:nvGrpSpPr>
          <p:cNvPr name="Group 21" id="21"/>
          <p:cNvGrpSpPr/>
          <p:nvPr/>
        </p:nvGrpSpPr>
        <p:grpSpPr>
          <a:xfrm rot="0">
            <a:off x="9334500" y="4667250"/>
            <a:ext cx="8096250" cy="1666875"/>
            <a:chOff x="0" y="0"/>
            <a:chExt cx="10795000" cy="2222500"/>
          </a:xfrm>
        </p:grpSpPr>
        <p:grpSp>
          <p:nvGrpSpPr>
            <p:cNvPr name="Group 22" id="22"/>
            <p:cNvGrpSpPr/>
            <p:nvPr/>
          </p:nvGrpSpPr>
          <p:grpSpPr>
            <a:xfrm rot="0">
              <a:off x="0" y="0"/>
              <a:ext cx="10795000" cy="2222500"/>
              <a:chOff x="0" y="0"/>
              <a:chExt cx="10795000" cy="2222500"/>
            </a:xfrm>
          </p:grpSpPr>
          <p:sp>
            <p:nvSpPr>
              <p:cNvPr name="Freeform 23" id="23"/>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24" id="24"/>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25" id="25"/>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04</a:t>
              </a:r>
            </a:p>
          </p:txBody>
        </p:sp>
        <p:sp>
          <p:nvSpPr>
            <p:cNvPr name="TextBox 26" id="26"/>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Lifestyle variables add behavioral context.</a:t>
              </a:r>
            </a:p>
          </p:txBody>
        </p:sp>
      </p:grpSp>
      <p:grpSp>
        <p:nvGrpSpPr>
          <p:cNvPr name="Group 27" id="27"/>
          <p:cNvGrpSpPr/>
          <p:nvPr/>
        </p:nvGrpSpPr>
        <p:grpSpPr>
          <a:xfrm rot="0">
            <a:off x="762000" y="6762750"/>
            <a:ext cx="8096250" cy="1666875"/>
            <a:chOff x="0" y="0"/>
            <a:chExt cx="10795000" cy="2222500"/>
          </a:xfrm>
        </p:grpSpPr>
        <p:grpSp>
          <p:nvGrpSpPr>
            <p:cNvPr name="Group 28" id="28"/>
            <p:cNvGrpSpPr/>
            <p:nvPr/>
          </p:nvGrpSpPr>
          <p:grpSpPr>
            <a:xfrm rot="0">
              <a:off x="0" y="0"/>
              <a:ext cx="10795000" cy="2222500"/>
              <a:chOff x="0" y="0"/>
              <a:chExt cx="10795000" cy="2222500"/>
            </a:xfrm>
          </p:grpSpPr>
          <p:sp>
            <p:nvSpPr>
              <p:cNvPr name="Freeform 29" id="29"/>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30" id="30"/>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31" id="31"/>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05</a:t>
              </a:r>
            </a:p>
          </p:txBody>
        </p:sp>
        <p:sp>
          <p:nvSpPr>
            <p:cNvPr name="TextBox 32" id="32"/>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Class balance must shape evaluation choices.</a:t>
              </a:r>
            </a:p>
          </p:txBody>
        </p:sp>
      </p:grpSp>
      <p:grpSp>
        <p:nvGrpSpPr>
          <p:cNvPr name="Group 33" id="33"/>
          <p:cNvGrpSpPr/>
          <p:nvPr/>
        </p:nvGrpSpPr>
        <p:grpSpPr>
          <a:xfrm rot="0">
            <a:off x="9334500" y="6762750"/>
            <a:ext cx="8096250" cy="1666875"/>
            <a:chOff x="0" y="0"/>
            <a:chExt cx="10795000" cy="2222500"/>
          </a:xfrm>
        </p:grpSpPr>
        <p:grpSp>
          <p:nvGrpSpPr>
            <p:cNvPr name="Group 34" id="34"/>
            <p:cNvGrpSpPr/>
            <p:nvPr/>
          </p:nvGrpSpPr>
          <p:grpSpPr>
            <a:xfrm rot="0">
              <a:off x="0" y="0"/>
              <a:ext cx="10795000" cy="2222500"/>
              <a:chOff x="0" y="0"/>
              <a:chExt cx="10795000" cy="2222500"/>
            </a:xfrm>
          </p:grpSpPr>
          <p:sp>
            <p:nvSpPr>
              <p:cNvPr name="Freeform 35" id="35"/>
              <p:cNvSpPr/>
              <p:nvPr/>
            </p:nvSpPr>
            <p:spPr>
              <a:xfrm flipH="false" flipV="false" rot="0">
                <a:off x="0" y="0"/>
                <a:ext cx="10795000" cy="2222500"/>
              </a:xfrm>
              <a:custGeom>
                <a:avLst/>
                <a:gdLst/>
                <a:ahLst/>
                <a:cxnLst/>
                <a:rect r="r" b="b" t="t" l="l"/>
                <a:pathLst>
                  <a:path h="2222500" w="10795000">
                    <a:moveTo>
                      <a:pt x="0" y="0"/>
                    </a:moveTo>
                    <a:lnTo>
                      <a:pt x="10795000" y="0"/>
                    </a:lnTo>
                    <a:lnTo>
                      <a:pt x="10795000" y="2222500"/>
                    </a:lnTo>
                    <a:lnTo>
                      <a:pt x="0" y="2222500"/>
                    </a:lnTo>
                    <a:close/>
                  </a:path>
                </a:pathLst>
              </a:custGeom>
              <a:solidFill>
                <a:srgbClr val="132C43"/>
              </a:solidFill>
              <a:ln w="19050" cap="sq">
                <a:solidFill>
                  <a:srgbClr val="315069"/>
                </a:solidFill>
                <a:prstDash val="solid"/>
                <a:miter/>
              </a:ln>
            </p:spPr>
          </p:sp>
          <p:sp>
            <p:nvSpPr>
              <p:cNvPr name="TextBox 36" id="36"/>
              <p:cNvSpPr txBox="true"/>
              <p:nvPr/>
            </p:nvSpPr>
            <p:spPr>
              <a:xfrm>
                <a:off x="0" y="-38100"/>
                <a:ext cx="10795000" cy="2260600"/>
              </a:xfrm>
              <a:prstGeom prst="rect">
                <a:avLst/>
              </a:prstGeom>
            </p:spPr>
            <p:txBody>
              <a:bodyPr anchor="ctr" rtlCol="false" tIns="50800" lIns="50800" bIns="50800" rIns="50800"/>
              <a:lstStyle/>
              <a:p>
                <a:pPr algn="l">
                  <a:lnSpc>
                    <a:spcPts val="1679"/>
                  </a:lnSpc>
                </a:pPr>
              </a:p>
            </p:txBody>
          </p:sp>
        </p:grpSp>
        <p:sp>
          <p:nvSpPr>
            <p:cNvPr name="TextBox 37" id="37"/>
            <p:cNvSpPr txBox="true"/>
            <p:nvPr/>
          </p:nvSpPr>
          <p:spPr>
            <a:xfrm rot="0">
              <a:off x="355600" y="301625"/>
              <a:ext cx="1016000" cy="409575"/>
            </a:xfrm>
            <a:prstGeom prst="rect">
              <a:avLst/>
            </a:prstGeom>
          </p:spPr>
          <p:txBody>
            <a:bodyPr anchor="t" rtlCol="false" tIns="0" lIns="0" bIns="0" rIns="0">
              <a:spAutoFit/>
            </a:bodyPr>
            <a:lstStyle/>
            <a:p>
              <a:pPr algn="l">
                <a:lnSpc>
                  <a:spcPts val="2625"/>
                </a:lnSpc>
              </a:pPr>
              <a:r>
                <a:rPr lang="en-US" sz="1875" spc="150" b="true">
                  <a:solidFill>
                    <a:srgbClr val="8BD8CF"/>
                  </a:solidFill>
                  <a:latin typeface="IBM Plex Mono Bold"/>
                  <a:ea typeface="IBM Plex Mono Bold"/>
                  <a:cs typeface="IBM Plex Mono Bold"/>
                  <a:sym typeface="IBM Plex Mono Bold"/>
                </a:rPr>
                <a:t>06</a:t>
              </a:r>
            </a:p>
          </p:txBody>
        </p:sp>
        <p:sp>
          <p:nvSpPr>
            <p:cNvPr name="TextBox 38" id="38"/>
            <p:cNvSpPr txBox="true"/>
            <p:nvPr/>
          </p:nvSpPr>
          <p:spPr>
            <a:xfrm rot="0">
              <a:off x="355600" y="857250"/>
              <a:ext cx="10033000" cy="465074"/>
            </a:xfrm>
            <a:prstGeom prst="rect">
              <a:avLst/>
            </a:prstGeom>
          </p:spPr>
          <p:txBody>
            <a:bodyPr anchor="t" rtlCol="false" tIns="0" lIns="0" bIns="0" rIns="0">
              <a:spAutoFit/>
            </a:bodyPr>
            <a:lstStyle/>
            <a:p>
              <a:pPr algn="l">
                <a:lnSpc>
                  <a:spcPts val="2496"/>
                </a:lnSpc>
              </a:pPr>
              <a:r>
                <a:rPr lang="en-US" sz="2400" b="true">
                  <a:solidFill>
                    <a:srgbClr val="FFFFFF"/>
                  </a:solidFill>
                  <a:latin typeface="Brixton Bold"/>
                  <a:ea typeface="Brixton Bold"/>
                  <a:cs typeface="Brixton Bold"/>
                  <a:sym typeface="Brixton Bold"/>
                </a:rPr>
                <a:t>EDA supports—not replaces—predictive validation.</a:t>
              </a:r>
            </a:p>
          </p:txBody>
        </p:sp>
      </p:grpSp>
      <p:grpSp>
        <p:nvGrpSpPr>
          <p:cNvPr name="Group 39" id="39"/>
          <p:cNvGrpSpPr/>
          <p:nvPr/>
        </p:nvGrpSpPr>
        <p:grpSpPr>
          <a:xfrm rot="0">
            <a:off x="990600" y="9258300"/>
            <a:ext cx="16593782" cy="422910"/>
            <a:chOff x="0" y="0"/>
            <a:chExt cx="22125042" cy="563880"/>
          </a:xfrm>
        </p:grpSpPr>
        <p:sp>
          <p:nvSpPr>
            <p:cNvPr name="AutoShape 40" id="40"/>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41" id="41"/>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42" id="42"/>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20/22</a:t>
              </a:r>
            </a:p>
          </p:txBody>
        </p:sp>
      </p:grpSp>
    </p:spTree>
  </p:cSld>
  <p:clrMapOvr>
    <a:masterClrMapping/>
  </p:clrMapOvr>
</p:sld>
</file>

<file path=ppt/slides/slide21.xml><?xml version="1.0" encoding="utf-8"?>
<p:sld xmlns:p="http://schemas.openxmlformats.org/presentationml/2006/main" xmlns:a="http://schemas.openxmlformats.org/drawingml/2006/main">
  <p:cSld>
    <p:bg>
      <p:bgPr>
        <a:solidFill>
          <a:srgbClr val="F4F7F6"/>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163047"/>
                </a:solidFill>
                <a:latin typeface="Brixton Bold"/>
                <a:ea typeface="Brixton Bold"/>
                <a:cs typeface="Brixton Bold"/>
                <a:sym typeface="Brixton Bold"/>
              </a:rPr>
              <a:t>References</a:t>
            </a:r>
          </a:p>
        </p:txBody>
      </p:sp>
      <p:sp>
        <p:nvSpPr>
          <p:cNvPr name="TextBox 3" id="3"/>
          <p:cNvSpPr txBox="true"/>
          <p:nvPr/>
        </p:nvSpPr>
        <p:spPr>
          <a:xfrm rot="0">
            <a:off x="1524000" y="2828925"/>
            <a:ext cx="14287500" cy="366713"/>
          </a:xfrm>
          <a:prstGeom prst="rect">
            <a:avLst/>
          </a:prstGeom>
        </p:spPr>
        <p:txBody>
          <a:bodyPr anchor="t" rtlCol="false" tIns="0" lIns="0" bIns="0" rIns="0">
            <a:spAutoFit/>
          </a:bodyPr>
          <a:lstStyle/>
          <a:p>
            <a:pPr algn="l">
              <a:lnSpc>
                <a:spcPts val="3037"/>
              </a:lnSpc>
            </a:pPr>
            <a:r>
              <a:rPr lang="en-US" sz="2250">
                <a:solidFill>
                  <a:srgbClr val="163047"/>
                </a:solidFill>
                <a:latin typeface="Source Sans 3"/>
                <a:ea typeface="Source Sans 3"/>
                <a:cs typeface="Source Sans 3"/>
                <a:sym typeface="Source Sans 3"/>
              </a:rPr>
              <a:t>[1] UCI Machine Learning Repository - Estimation of obesity levels based on eating habits and physical condition</a:t>
            </a:r>
          </a:p>
        </p:txBody>
      </p:sp>
      <p:sp>
        <p:nvSpPr>
          <p:cNvPr name="TextBox 4" id="4"/>
          <p:cNvSpPr txBox="true"/>
          <p:nvPr/>
        </p:nvSpPr>
        <p:spPr>
          <a:xfrm rot="0">
            <a:off x="1524000" y="4067175"/>
            <a:ext cx="14287500" cy="366713"/>
          </a:xfrm>
          <a:prstGeom prst="rect">
            <a:avLst/>
          </a:prstGeom>
        </p:spPr>
        <p:txBody>
          <a:bodyPr anchor="t" rtlCol="false" tIns="0" lIns="0" bIns="0" rIns="0">
            <a:spAutoFit/>
          </a:bodyPr>
          <a:lstStyle/>
          <a:p>
            <a:pPr algn="l">
              <a:lnSpc>
                <a:spcPts val="3037"/>
              </a:lnSpc>
            </a:pPr>
            <a:r>
              <a:rPr lang="en-US" sz="2250">
                <a:solidFill>
                  <a:srgbClr val="163047"/>
                </a:solidFill>
                <a:latin typeface="Source Sans 3"/>
                <a:ea typeface="Source Sans 3"/>
                <a:cs typeface="Source Sans 3"/>
                <a:sym typeface="Source Sans 3"/>
              </a:rPr>
              <a:t>[2] Palechor, F. M. &amp; de la Hoz Manotas, A. (2019). Dataset for estimation of obesity levels.</a:t>
            </a:r>
          </a:p>
        </p:txBody>
      </p:sp>
      <p:sp>
        <p:nvSpPr>
          <p:cNvPr name="TextBox 5" id="5"/>
          <p:cNvSpPr txBox="true"/>
          <p:nvPr/>
        </p:nvSpPr>
        <p:spPr>
          <a:xfrm rot="0">
            <a:off x="1524000" y="5305425"/>
            <a:ext cx="14287500" cy="366713"/>
          </a:xfrm>
          <a:prstGeom prst="rect">
            <a:avLst/>
          </a:prstGeom>
        </p:spPr>
        <p:txBody>
          <a:bodyPr anchor="t" rtlCol="false" tIns="0" lIns="0" bIns="0" rIns="0">
            <a:spAutoFit/>
          </a:bodyPr>
          <a:lstStyle/>
          <a:p>
            <a:pPr algn="l">
              <a:lnSpc>
                <a:spcPts val="3037"/>
              </a:lnSpc>
            </a:pPr>
            <a:r>
              <a:rPr lang="en-US" sz="2250">
                <a:solidFill>
                  <a:srgbClr val="163047"/>
                </a:solidFill>
                <a:latin typeface="Source Sans 3"/>
                <a:ea typeface="Source Sans 3"/>
                <a:cs typeface="Source Sans 3"/>
                <a:sym typeface="Source Sans 3"/>
              </a:rPr>
              <a:t>[3] Python, Pandas, NumPy, Plotnine and SciPy documentation — versions used in the analysis environment.</a:t>
            </a:r>
          </a:p>
        </p:txBody>
      </p:sp>
      <p:sp>
        <p:nvSpPr>
          <p:cNvPr name="TextBox 6" id="6"/>
          <p:cNvSpPr txBox="true"/>
          <p:nvPr/>
        </p:nvSpPr>
        <p:spPr>
          <a:xfrm rot="0">
            <a:off x="1009650" y="6712363"/>
            <a:ext cx="4381500" cy="257175"/>
          </a:xfrm>
          <a:prstGeom prst="rect">
            <a:avLst/>
          </a:prstGeom>
        </p:spPr>
        <p:txBody>
          <a:bodyPr anchor="t" rtlCol="false" tIns="0" lIns="0" bIns="0" rIns="0">
            <a:spAutoFit/>
          </a:bodyPr>
          <a:lstStyle/>
          <a:p>
            <a:pPr algn="l">
              <a:lnSpc>
                <a:spcPts val="2100"/>
              </a:lnSpc>
            </a:pPr>
            <a:r>
              <a:rPr lang="en-US" b="true" sz="1500" spc="179">
                <a:solidFill>
                  <a:srgbClr val="17313B"/>
                </a:solidFill>
                <a:latin typeface="IBM Plex Mono Bold"/>
                <a:ea typeface="IBM Plex Mono Bold"/>
                <a:cs typeface="IBM Plex Mono Bold"/>
                <a:sym typeface="IBM Plex Mono Bold"/>
              </a:rPr>
              <a:t>DESCRIPTIVE</a:t>
            </a:r>
          </a:p>
        </p:txBody>
      </p:sp>
      <p:sp>
        <p:nvSpPr>
          <p:cNvPr name="TextBox 7" id="7"/>
          <p:cNvSpPr txBox="true"/>
          <p:nvPr/>
        </p:nvSpPr>
        <p:spPr>
          <a:xfrm rot="0">
            <a:off x="1009650" y="7264813"/>
            <a:ext cx="4381500" cy="1124712"/>
          </a:xfrm>
          <a:prstGeom prst="rect">
            <a:avLst/>
          </a:prstGeom>
        </p:spPr>
        <p:txBody>
          <a:bodyPr anchor="t" rtlCol="false" tIns="0" lIns="0" bIns="0" rIns="0">
            <a:spAutoFit/>
          </a:bodyPr>
          <a:lstStyle/>
          <a:p>
            <a:pPr algn="l">
              <a:lnSpc>
                <a:spcPts val="2964"/>
              </a:lnSpc>
            </a:pPr>
            <a:r>
              <a:rPr lang="en-US" sz="2850" b="true">
                <a:solidFill>
                  <a:srgbClr val="17313B"/>
                </a:solidFill>
                <a:latin typeface="Montserrat Bold"/>
                <a:ea typeface="Montserrat Bold"/>
                <a:cs typeface="Montserrat Bold"/>
                <a:sym typeface="Montserrat Bold"/>
              </a:rPr>
              <a:t>The cohort spans seven distinct weight tiers.</a:t>
            </a:r>
          </a:p>
        </p:txBody>
      </p:sp>
      <p:sp>
        <p:nvSpPr>
          <p:cNvPr name="TextBox 8" id="8"/>
          <p:cNvSpPr txBox="true"/>
          <p:nvPr/>
        </p:nvSpPr>
        <p:spPr>
          <a:xfrm rot="0">
            <a:off x="6972300" y="6712363"/>
            <a:ext cx="4381500" cy="257175"/>
          </a:xfrm>
          <a:prstGeom prst="rect">
            <a:avLst/>
          </a:prstGeom>
        </p:spPr>
        <p:txBody>
          <a:bodyPr anchor="t" rtlCol="false" tIns="0" lIns="0" bIns="0" rIns="0">
            <a:spAutoFit/>
          </a:bodyPr>
          <a:lstStyle/>
          <a:p>
            <a:pPr algn="l">
              <a:lnSpc>
                <a:spcPts val="2100"/>
              </a:lnSpc>
            </a:pPr>
            <a:r>
              <a:rPr lang="en-US" b="true" sz="1500" spc="179">
                <a:solidFill>
                  <a:srgbClr val="17313B"/>
                </a:solidFill>
                <a:latin typeface="IBM Plex Mono Bold"/>
                <a:ea typeface="IBM Plex Mono Bold"/>
                <a:cs typeface="IBM Plex Mono Bold"/>
                <a:sym typeface="IBM Plex Mono Bold"/>
              </a:rPr>
              <a:t>RELATIONAL</a:t>
            </a:r>
          </a:p>
        </p:txBody>
      </p:sp>
      <p:sp>
        <p:nvSpPr>
          <p:cNvPr name="TextBox 9" id="9"/>
          <p:cNvSpPr txBox="true"/>
          <p:nvPr/>
        </p:nvSpPr>
        <p:spPr>
          <a:xfrm rot="0">
            <a:off x="6972300" y="7264813"/>
            <a:ext cx="4381500" cy="1124712"/>
          </a:xfrm>
          <a:prstGeom prst="rect">
            <a:avLst/>
          </a:prstGeom>
        </p:spPr>
        <p:txBody>
          <a:bodyPr anchor="t" rtlCol="false" tIns="0" lIns="0" bIns="0" rIns="0">
            <a:spAutoFit/>
          </a:bodyPr>
          <a:lstStyle/>
          <a:p>
            <a:pPr algn="l">
              <a:lnSpc>
                <a:spcPts val="2964"/>
              </a:lnSpc>
            </a:pPr>
            <a:r>
              <a:rPr lang="en-US" sz="2850" b="true">
                <a:solidFill>
                  <a:srgbClr val="17313B"/>
                </a:solidFill>
                <a:latin typeface="Montserrat Bold"/>
                <a:ea typeface="Montserrat Bold"/>
                <a:cs typeface="Montserrat Bold"/>
                <a:sym typeface="Montserrat Bold"/>
              </a:rPr>
              <a:t>Age and family history reshape lifestyle signals.</a:t>
            </a:r>
          </a:p>
        </p:txBody>
      </p:sp>
      <p:sp>
        <p:nvSpPr>
          <p:cNvPr name="TextBox 10" id="10"/>
          <p:cNvSpPr txBox="true"/>
          <p:nvPr/>
        </p:nvSpPr>
        <p:spPr>
          <a:xfrm rot="0">
            <a:off x="12877800" y="6712363"/>
            <a:ext cx="4381500" cy="257175"/>
          </a:xfrm>
          <a:prstGeom prst="rect">
            <a:avLst/>
          </a:prstGeom>
        </p:spPr>
        <p:txBody>
          <a:bodyPr anchor="t" rtlCol="false" tIns="0" lIns="0" bIns="0" rIns="0">
            <a:spAutoFit/>
          </a:bodyPr>
          <a:lstStyle/>
          <a:p>
            <a:pPr algn="l">
              <a:lnSpc>
                <a:spcPts val="2100"/>
              </a:lnSpc>
            </a:pPr>
            <a:r>
              <a:rPr lang="en-US" b="true" sz="1500" spc="179">
                <a:solidFill>
                  <a:srgbClr val="17313B"/>
                </a:solidFill>
                <a:latin typeface="IBM Plex Mono Bold"/>
                <a:ea typeface="IBM Plex Mono Bold"/>
                <a:cs typeface="IBM Plex Mono Bold"/>
                <a:sym typeface="IBM Plex Mono Bold"/>
              </a:rPr>
              <a:t>PREDICTIVE</a:t>
            </a:r>
          </a:p>
        </p:txBody>
      </p:sp>
      <p:sp>
        <p:nvSpPr>
          <p:cNvPr name="TextBox 11" id="11"/>
          <p:cNvSpPr txBox="true"/>
          <p:nvPr/>
        </p:nvSpPr>
        <p:spPr>
          <a:xfrm rot="0">
            <a:off x="12877800" y="7264813"/>
            <a:ext cx="4381500" cy="1124712"/>
          </a:xfrm>
          <a:prstGeom prst="rect">
            <a:avLst/>
          </a:prstGeom>
        </p:spPr>
        <p:txBody>
          <a:bodyPr anchor="t" rtlCol="false" tIns="0" lIns="0" bIns="0" rIns="0">
            <a:spAutoFit/>
          </a:bodyPr>
          <a:lstStyle/>
          <a:p>
            <a:pPr algn="l">
              <a:lnSpc>
                <a:spcPts val="2964"/>
              </a:lnSpc>
            </a:pPr>
            <a:r>
              <a:rPr lang="en-US" sz="2850" b="true">
                <a:solidFill>
                  <a:srgbClr val="17313B"/>
                </a:solidFill>
                <a:latin typeface="Montserrat Bold"/>
                <a:ea typeface="Montserrat Bold"/>
                <a:cs typeface="Montserrat Bold"/>
                <a:sym typeface="Montserrat Bold"/>
              </a:rPr>
              <a:t>Models should encode interactions and respect order.</a:t>
            </a:r>
          </a:p>
        </p:txBody>
      </p:sp>
      <p:grpSp>
        <p:nvGrpSpPr>
          <p:cNvPr name="Group 12" id="12"/>
          <p:cNvGrpSpPr/>
          <p:nvPr/>
        </p:nvGrpSpPr>
        <p:grpSpPr>
          <a:xfrm rot="0">
            <a:off x="990600" y="9258300"/>
            <a:ext cx="16593782" cy="422910"/>
            <a:chOff x="0" y="0"/>
            <a:chExt cx="22125042" cy="563880"/>
          </a:xfrm>
        </p:grpSpPr>
        <p:sp>
          <p:nvSpPr>
            <p:cNvPr name="AutoShape 13" id="13"/>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14" id="14"/>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15" id="15"/>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21/22</a:t>
              </a:r>
            </a:p>
          </p:txBody>
        </p:sp>
      </p:gr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0B1F33"/>
        </a:solidFill>
      </p:bgPr>
    </p:bg>
    <p:spTree>
      <p:nvGrpSpPr>
        <p:cNvPr id="1" name=""/>
        <p:cNvGrpSpPr/>
        <p:nvPr/>
      </p:nvGrpSpPr>
      <p:grpSpPr>
        <a:xfrm>
          <a:off x="0" y="0"/>
          <a:ext cx="0" cy="0"/>
          <a:chOff x="0" y="0"/>
          <a:chExt cx="0" cy="0"/>
        </a:xfrm>
      </p:grpSpPr>
      <p:sp>
        <p:nvSpPr>
          <p:cNvPr name="TextBox 2" id="2"/>
          <p:cNvSpPr txBox="true"/>
          <p:nvPr/>
        </p:nvSpPr>
        <p:spPr>
          <a:xfrm rot="0">
            <a:off x="1066800" y="1114425"/>
            <a:ext cx="14287500" cy="700659"/>
          </a:xfrm>
          <a:prstGeom prst="rect">
            <a:avLst/>
          </a:prstGeom>
        </p:spPr>
        <p:txBody>
          <a:bodyPr anchor="t" rtlCol="false" tIns="0" lIns="0" bIns="0" rIns="0">
            <a:spAutoFit/>
          </a:bodyPr>
          <a:lstStyle/>
          <a:p>
            <a:pPr algn="l">
              <a:lnSpc>
                <a:spcPts val="5148"/>
              </a:lnSpc>
            </a:pPr>
            <a:r>
              <a:rPr lang="en-US" sz="4950" b="true">
                <a:solidFill>
                  <a:srgbClr val="FFFFFF"/>
                </a:solidFill>
                <a:latin typeface="Brixton Bold"/>
                <a:ea typeface="Brixton Bold"/>
                <a:cs typeface="Brixton Bold"/>
                <a:sym typeface="Brixton Bold"/>
              </a:rPr>
              <a:t>From notebook to evidence</a:t>
            </a:r>
          </a:p>
        </p:txBody>
      </p:sp>
      <p:sp>
        <p:nvSpPr>
          <p:cNvPr name="TextBox 3" id="3"/>
          <p:cNvSpPr txBox="true"/>
          <p:nvPr/>
        </p:nvSpPr>
        <p:spPr>
          <a:xfrm rot="0">
            <a:off x="1428750" y="2781300"/>
            <a:ext cx="15430500" cy="662940"/>
          </a:xfrm>
          <a:prstGeom prst="rect">
            <a:avLst/>
          </a:prstGeom>
        </p:spPr>
        <p:txBody>
          <a:bodyPr anchor="t" rtlCol="false" tIns="0" lIns="0" bIns="0" rIns="0">
            <a:spAutoFit/>
          </a:bodyPr>
          <a:lstStyle/>
          <a:p>
            <a:pPr algn="ctr">
              <a:lnSpc>
                <a:spcPts val="5459"/>
              </a:lnSpc>
            </a:pPr>
            <a:r>
              <a:rPr lang="en-US" b="true" sz="3900" u="sng">
                <a:solidFill>
                  <a:srgbClr val="8BD8CF"/>
                </a:solidFill>
                <a:latin typeface="IBM Plex Mono Bold"/>
                <a:ea typeface="IBM Plex Mono Bold"/>
                <a:cs typeface="IBM Plex Mono Bold"/>
                <a:sym typeface="IBM Plex Mono Bold"/>
                <a:hlinkClick r:id="rId2" tooltip="https://github.com/rishigig/project-eda-1.git"/>
              </a:rPr>
              <a:t>github.com/&lt;owner&gt;/&lt;obesity-lifestyle-eda&gt;</a:t>
            </a:r>
          </a:p>
        </p:txBody>
      </p:sp>
      <p:grpSp>
        <p:nvGrpSpPr>
          <p:cNvPr name="Group 4" id="4"/>
          <p:cNvGrpSpPr/>
          <p:nvPr/>
        </p:nvGrpSpPr>
        <p:grpSpPr>
          <a:xfrm rot="0">
            <a:off x="1333500" y="4381500"/>
            <a:ext cx="4095750" cy="1809750"/>
            <a:chOff x="0" y="0"/>
            <a:chExt cx="5461000" cy="2413000"/>
          </a:xfrm>
        </p:grpSpPr>
        <p:grpSp>
          <p:nvGrpSpPr>
            <p:cNvPr name="Group 5" id="5"/>
            <p:cNvGrpSpPr/>
            <p:nvPr/>
          </p:nvGrpSpPr>
          <p:grpSpPr>
            <a:xfrm rot="0">
              <a:off x="0" y="0"/>
              <a:ext cx="5461000" cy="2413000"/>
              <a:chOff x="0" y="0"/>
              <a:chExt cx="5461000" cy="2413000"/>
            </a:xfrm>
          </p:grpSpPr>
          <p:sp>
            <p:nvSpPr>
              <p:cNvPr name="Freeform 6" id="6"/>
              <p:cNvSpPr/>
              <p:nvPr/>
            </p:nvSpPr>
            <p:spPr>
              <a:xfrm flipH="false" flipV="false" rot="0">
                <a:off x="0" y="0"/>
                <a:ext cx="5461000" cy="2413000"/>
              </a:xfrm>
              <a:custGeom>
                <a:avLst/>
                <a:gdLst/>
                <a:ahLst/>
                <a:cxnLst/>
                <a:rect r="r" b="b" t="t" l="l"/>
                <a:pathLst>
                  <a:path h="2413000" w="5461000">
                    <a:moveTo>
                      <a:pt x="0" y="0"/>
                    </a:moveTo>
                    <a:lnTo>
                      <a:pt x="5461000" y="0"/>
                    </a:lnTo>
                    <a:lnTo>
                      <a:pt x="5461000" y="2413000"/>
                    </a:lnTo>
                    <a:lnTo>
                      <a:pt x="0" y="2413000"/>
                    </a:lnTo>
                    <a:close/>
                  </a:path>
                </a:pathLst>
              </a:custGeom>
              <a:solidFill>
                <a:srgbClr val="132C43"/>
              </a:solidFill>
              <a:ln w="19050" cap="sq">
                <a:solidFill>
                  <a:srgbClr val="315069"/>
                </a:solidFill>
                <a:prstDash val="solid"/>
                <a:miter/>
              </a:ln>
            </p:spPr>
          </p:sp>
          <p:sp>
            <p:nvSpPr>
              <p:cNvPr name="TextBox 7" id="7"/>
              <p:cNvSpPr txBox="true"/>
              <p:nvPr/>
            </p:nvSpPr>
            <p:spPr>
              <a:xfrm>
                <a:off x="0" y="-38100"/>
                <a:ext cx="5461000" cy="2451100"/>
              </a:xfrm>
              <a:prstGeom prst="rect">
                <a:avLst/>
              </a:prstGeom>
            </p:spPr>
            <p:txBody>
              <a:bodyPr anchor="ctr" rtlCol="false" tIns="50800" lIns="50800" bIns="50800" rIns="50800"/>
              <a:lstStyle/>
              <a:p>
                <a:pPr algn="l">
                  <a:lnSpc>
                    <a:spcPts val="1679"/>
                  </a:lnSpc>
                </a:pPr>
              </a:p>
            </p:txBody>
          </p:sp>
        </p:grpSp>
        <p:sp>
          <p:nvSpPr>
            <p:cNvPr name="TextBox 8" id="8"/>
            <p:cNvSpPr txBox="true"/>
            <p:nvPr/>
          </p:nvSpPr>
          <p:spPr>
            <a:xfrm rot="0">
              <a:off x="508000" y="536575"/>
              <a:ext cx="4572000" cy="543941"/>
            </a:xfrm>
            <a:prstGeom prst="rect">
              <a:avLst/>
            </a:prstGeom>
          </p:spPr>
          <p:txBody>
            <a:bodyPr anchor="t" rtlCol="false" tIns="0" lIns="0" bIns="0" rIns="0">
              <a:spAutoFit/>
            </a:bodyPr>
            <a:lstStyle/>
            <a:p>
              <a:pPr algn="l">
                <a:lnSpc>
                  <a:spcPts val="2964"/>
                </a:lnSpc>
              </a:pPr>
              <a:r>
                <a:rPr lang="en-US" sz="2850" b="true">
                  <a:solidFill>
                    <a:srgbClr val="FFFFFF"/>
                  </a:solidFill>
                  <a:latin typeface="Brixton Bold"/>
                  <a:ea typeface="Brixton Bold"/>
                  <a:cs typeface="Brixton Bold"/>
                  <a:sym typeface="Brixton Bold"/>
                </a:rPr>
                <a:t>/data</a:t>
              </a:r>
            </a:p>
          </p:txBody>
        </p:sp>
        <p:sp>
          <p:nvSpPr>
            <p:cNvPr name="TextBox 9" id="9"/>
            <p:cNvSpPr txBox="true"/>
            <p:nvPr/>
          </p:nvSpPr>
          <p:spPr>
            <a:xfrm rot="0">
              <a:off x="508000" y="1241425"/>
              <a:ext cx="4572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raw + cleaned inputs</a:t>
              </a:r>
            </a:p>
          </p:txBody>
        </p:sp>
      </p:grpSp>
      <p:grpSp>
        <p:nvGrpSpPr>
          <p:cNvPr name="Group 10" id="10"/>
          <p:cNvGrpSpPr/>
          <p:nvPr/>
        </p:nvGrpSpPr>
        <p:grpSpPr>
          <a:xfrm rot="0">
            <a:off x="6191250" y="4381500"/>
            <a:ext cx="4476750" cy="1809750"/>
            <a:chOff x="0" y="0"/>
            <a:chExt cx="5969000" cy="2413000"/>
          </a:xfrm>
        </p:grpSpPr>
        <p:grpSp>
          <p:nvGrpSpPr>
            <p:cNvPr name="Group 11" id="11"/>
            <p:cNvGrpSpPr/>
            <p:nvPr/>
          </p:nvGrpSpPr>
          <p:grpSpPr>
            <a:xfrm rot="0">
              <a:off x="0" y="0"/>
              <a:ext cx="5969000" cy="2413000"/>
              <a:chOff x="0" y="0"/>
              <a:chExt cx="5969000" cy="2413000"/>
            </a:xfrm>
          </p:grpSpPr>
          <p:sp>
            <p:nvSpPr>
              <p:cNvPr name="Freeform 12" id="12"/>
              <p:cNvSpPr/>
              <p:nvPr/>
            </p:nvSpPr>
            <p:spPr>
              <a:xfrm flipH="false" flipV="false" rot="0">
                <a:off x="0" y="0"/>
                <a:ext cx="5969000" cy="2413000"/>
              </a:xfrm>
              <a:custGeom>
                <a:avLst/>
                <a:gdLst/>
                <a:ahLst/>
                <a:cxnLst/>
                <a:rect r="r" b="b" t="t" l="l"/>
                <a:pathLst>
                  <a:path h="2413000" w="5969000">
                    <a:moveTo>
                      <a:pt x="0" y="0"/>
                    </a:moveTo>
                    <a:lnTo>
                      <a:pt x="5969000" y="0"/>
                    </a:lnTo>
                    <a:lnTo>
                      <a:pt x="5969000" y="2413000"/>
                    </a:lnTo>
                    <a:lnTo>
                      <a:pt x="0" y="2413000"/>
                    </a:lnTo>
                    <a:close/>
                  </a:path>
                </a:pathLst>
              </a:custGeom>
              <a:solidFill>
                <a:srgbClr val="132C43"/>
              </a:solidFill>
              <a:ln w="19050" cap="sq">
                <a:solidFill>
                  <a:srgbClr val="315069"/>
                </a:solidFill>
                <a:prstDash val="solid"/>
                <a:miter/>
              </a:ln>
            </p:spPr>
          </p:sp>
          <p:sp>
            <p:nvSpPr>
              <p:cNvPr name="TextBox 13" id="13"/>
              <p:cNvSpPr txBox="true"/>
              <p:nvPr/>
            </p:nvSpPr>
            <p:spPr>
              <a:xfrm>
                <a:off x="0" y="-38100"/>
                <a:ext cx="5969000" cy="2451100"/>
              </a:xfrm>
              <a:prstGeom prst="rect">
                <a:avLst/>
              </a:prstGeom>
            </p:spPr>
            <p:txBody>
              <a:bodyPr anchor="ctr" rtlCol="false" tIns="50800" lIns="50800" bIns="50800" rIns="50800"/>
              <a:lstStyle/>
              <a:p>
                <a:pPr algn="l">
                  <a:lnSpc>
                    <a:spcPts val="1679"/>
                  </a:lnSpc>
                </a:pPr>
              </a:p>
            </p:txBody>
          </p:sp>
        </p:grpSp>
        <p:sp>
          <p:nvSpPr>
            <p:cNvPr name="TextBox 14" id="14"/>
            <p:cNvSpPr txBox="true"/>
            <p:nvPr/>
          </p:nvSpPr>
          <p:spPr>
            <a:xfrm rot="0">
              <a:off x="508000" y="536575"/>
              <a:ext cx="5334000" cy="543941"/>
            </a:xfrm>
            <a:prstGeom prst="rect">
              <a:avLst/>
            </a:prstGeom>
          </p:spPr>
          <p:txBody>
            <a:bodyPr anchor="t" rtlCol="false" tIns="0" lIns="0" bIns="0" rIns="0">
              <a:spAutoFit/>
            </a:bodyPr>
            <a:lstStyle/>
            <a:p>
              <a:pPr algn="l">
                <a:lnSpc>
                  <a:spcPts val="2964"/>
                </a:lnSpc>
              </a:pPr>
              <a:r>
                <a:rPr lang="en-US" sz="2850" b="true">
                  <a:solidFill>
                    <a:srgbClr val="FFFFFF"/>
                  </a:solidFill>
                  <a:latin typeface="Brixton Bold"/>
                  <a:ea typeface="Brixton Bold"/>
                  <a:cs typeface="Brixton Bold"/>
                  <a:sym typeface="Brixton Bold"/>
                </a:rPr>
                <a:t>/notebooks</a:t>
              </a:r>
            </a:p>
          </p:txBody>
        </p:sp>
        <p:sp>
          <p:nvSpPr>
            <p:cNvPr name="TextBox 15" id="15"/>
            <p:cNvSpPr txBox="true"/>
            <p:nvPr/>
          </p:nvSpPr>
          <p:spPr>
            <a:xfrm rot="0">
              <a:off x="508000" y="1241425"/>
              <a:ext cx="5334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EDA + validation steps</a:t>
              </a:r>
            </a:p>
          </p:txBody>
        </p:sp>
      </p:grpSp>
      <p:grpSp>
        <p:nvGrpSpPr>
          <p:cNvPr name="Group 16" id="16"/>
          <p:cNvGrpSpPr/>
          <p:nvPr/>
        </p:nvGrpSpPr>
        <p:grpSpPr>
          <a:xfrm rot="0">
            <a:off x="11430000" y="4381500"/>
            <a:ext cx="4762500" cy="1809750"/>
            <a:chOff x="0" y="0"/>
            <a:chExt cx="6350000" cy="2413000"/>
          </a:xfrm>
        </p:grpSpPr>
        <p:grpSp>
          <p:nvGrpSpPr>
            <p:cNvPr name="Group 17" id="17"/>
            <p:cNvGrpSpPr/>
            <p:nvPr/>
          </p:nvGrpSpPr>
          <p:grpSpPr>
            <a:xfrm rot="0">
              <a:off x="0" y="0"/>
              <a:ext cx="6350000" cy="2413000"/>
              <a:chOff x="0" y="0"/>
              <a:chExt cx="6350000" cy="2413000"/>
            </a:xfrm>
          </p:grpSpPr>
          <p:sp>
            <p:nvSpPr>
              <p:cNvPr name="Freeform 18" id="18"/>
              <p:cNvSpPr/>
              <p:nvPr/>
            </p:nvSpPr>
            <p:spPr>
              <a:xfrm flipH="false" flipV="false" rot="0">
                <a:off x="0" y="0"/>
                <a:ext cx="6350000" cy="2413000"/>
              </a:xfrm>
              <a:custGeom>
                <a:avLst/>
                <a:gdLst/>
                <a:ahLst/>
                <a:cxnLst/>
                <a:rect r="r" b="b" t="t" l="l"/>
                <a:pathLst>
                  <a:path h="2413000" w="6350000">
                    <a:moveTo>
                      <a:pt x="0" y="0"/>
                    </a:moveTo>
                    <a:lnTo>
                      <a:pt x="6350000" y="0"/>
                    </a:lnTo>
                    <a:lnTo>
                      <a:pt x="6350000" y="2413000"/>
                    </a:lnTo>
                    <a:lnTo>
                      <a:pt x="0" y="2413000"/>
                    </a:lnTo>
                    <a:close/>
                  </a:path>
                </a:pathLst>
              </a:custGeom>
              <a:solidFill>
                <a:srgbClr val="132C43"/>
              </a:solidFill>
              <a:ln w="19050" cap="sq">
                <a:solidFill>
                  <a:srgbClr val="315069"/>
                </a:solidFill>
                <a:prstDash val="solid"/>
                <a:miter/>
              </a:ln>
            </p:spPr>
          </p:sp>
          <p:sp>
            <p:nvSpPr>
              <p:cNvPr name="TextBox 19" id="19"/>
              <p:cNvSpPr txBox="true"/>
              <p:nvPr/>
            </p:nvSpPr>
            <p:spPr>
              <a:xfrm>
                <a:off x="0" y="-38100"/>
                <a:ext cx="6350000" cy="2451100"/>
              </a:xfrm>
              <a:prstGeom prst="rect">
                <a:avLst/>
              </a:prstGeom>
            </p:spPr>
            <p:txBody>
              <a:bodyPr anchor="ctr" rtlCol="false" tIns="50800" lIns="50800" bIns="50800" rIns="50800"/>
              <a:lstStyle/>
              <a:p>
                <a:pPr algn="l">
                  <a:lnSpc>
                    <a:spcPts val="1679"/>
                  </a:lnSpc>
                </a:pPr>
              </a:p>
            </p:txBody>
          </p:sp>
        </p:grpSp>
        <p:sp>
          <p:nvSpPr>
            <p:cNvPr name="TextBox 20" id="20"/>
            <p:cNvSpPr txBox="true"/>
            <p:nvPr/>
          </p:nvSpPr>
          <p:spPr>
            <a:xfrm rot="0">
              <a:off x="508000" y="536575"/>
              <a:ext cx="4572000" cy="543941"/>
            </a:xfrm>
            <a:prstGeom prst="rect">
              <a:avLst/>
            </a:prstGeom>
          </p:spPr>
          <p:txBody>
            <a:bodyPr anchor="t" rtlCol="false" tIns="0" lIns="0" bIns="0" rIns="0">
              <a:spAutoFit/>
            </a:bodyPr>
            <a:lstStyle/>
            <a:p>
              <a:pPr algn="l">
                <a:lnSpc>
                  <a:spcPts val="2964"/>
                </a:lnSpc>
              </a:pPr>
              <a:r>
                <a:rPr lang="en-US" sz="2850" b="true">
                  <a:solidFill>
                    <a:srgbClr val="FFFFFF"/>
                  </a:solidFill>
                  <a:latin typeface="Brixton Bold"/>
                  <a:ea typeface="Brixton Bold"/>
                  <a:cs typeface="Brixton Bold"/>
                  <a:sym typeface="Brixton Bold"/>
                </a:rPr>
                <a:t>/figures</a:t>
              </a:r>
            </a:p>
          </p:txBody>
        </p:sp>
        <p:sp>
          <p:nvSpPr>
            <p:cNvPr name="TextBox 21" id="21"/>
            <p:cNvSpPr txBox="true"/>
            <p:nvPr/>
          </p:nvSpPr>
          <p:spPr>
            <a:xfrm rot="0">
              <a:off x="508000" y="1241425"/>
              <a:ext cx="5334000" cy="389255"/>
            </a:xfrm>
            <a:prstGeom prst="rect">
              <a:avLst/>
            </a:prstGeom>
          </p:spPr>
          <p:txBody>
            <a:bodyPr anchor="t" rtlCol="false" tIns="0" lIns="0" bIns="0" rIns="0">
              <a:spAutoFit/>
            </a:bodyPr>
            <a:lstStyle/>
            <a:p>
              <a:pPr algn="l">
                <a:lnSpc>
                  <a:spcPts val="2430"/>
                </a:lnSpc>
              </a:pPr>
              <a:r>
                <a:rPr lang="en-US" sz="1800">
                  <a:solidFill>
                    <a:srgbClr val="FFFFFF"/>
                  </a:solidFill>
                  <a:latin typeface="Source Sans 3"/>
                  <a:ea typeface="Source Sans 3"/>
                  <a:cs typeface="Source Sans 3"/>
                  <a:sym typeface="Source Sans 3"/>
                </a:rPr>
                <a:t>exported Plotnine charts</a:t>
              </a:r>
            </a:p>
          </p:txBody>
        </p:sp>
      </p:grpSp>
      <p:sp>
        <p:nvSpPr>
          <p:cNvPr name="TextBox 22" id="22"/>
          <p:cNvSpPr txBox="true"/>
          <p:nvPr/>
        </p:nvSpPr>
        <p:spPr>
          <a:xfrm rot="0">
            <a:off x="2286000" y="7400925"/>
            <a:ext cx="13716000" cy="747713"/>
          </a:xfrm>
          <a:prstGeom prst="rect">
            <a:avLst/>
          </a:prstGeom>
        </p:spPr>
        <p:txBody>
          <a:bodyPr anchor="t" rtlCol="false" tIns="0" lIns="0" bIns="0" rIns="0">
            <a:spAutoFit/>
          </a:bodyPr>
          <a:lstStyle/>
          <a:p>
            <a:pPr algn="ctr">
              <a:lnSpc>
                <a:spcPts val="3037"/>
              </a:lnSpc>
            </a:pPr>
            <a:r>
              <a:rPr lang="en-US" sz="2250">
                <a:solidFill>
                  <a:srgbClr val="FFFFFF"/>
                </a:solidFill>
                <a:latin typeface="Source Sans 3"/>
                <a:ea typeface="Source Sans 3"/>
                <a:cs typeface="Source Sans 3"/>
                <a:sym typeface="Source Sans 3"/>
              </a:rPr>
              <a:t>All Python code, Jupyter notebooks, and data cleaning scripts utilized for this analysis and the associated visualizations are version-controlled and hosted online.</a:t>
            </a:r>
          </a:p>
        </p:txBody>
      </p:sp>
      <p:grpSp>
        <p:nvGrpSpPr>
          <p:cNvPr name="Group 23" id="23"/>
          <p:cNvGrpSpPr/>
          <p:nvPr/>
        </p:nvGrpSpPr>
        <p:grpSpPr>
          <a:xfrm rot="0">
            <a:off x="990600" y="9258300"/>
            <a:ext cx="16593782" cy="422910"/>
            <a:chOff x="0" y="0"/>
            <a:chExt cx="22125042" cy="563880"/>
          </a:xfrm>
        </p:grpSpPr>
        <p:sp>
          <p:nvSpPr>
            <p:cNvPr name="AutoShape 24" id="24"/>
            <p:cNvSpPr/>
            <p:nvPr/>
          </p:nvSpPr>
          <p:spPr>
            <a:xfrm>
              <a:off x="0" y="12700"/>
              <a:ext cx="21539200" cy="0"/>
            </a:xfrm>
            <a:prstGeom prst="line">
              <a:avLst/>
            </a:prstGeom>
            <a:ln cap="flat" w="25400">
              <a:solidFill>
                <a:srgbClr val="DFE9E7"/>
              </a:solidFill>
              <a:prstDash val="solid"/>
              <a:headEnd type="none" len="sm" w="sm"/>
              <a:tailEnd type="none" len="sm" w="sm"/>
            </a:ln>
          </p:spPr>
        </p:sp>
        <p:sp>
          <p:nvSpPr>
            <p:cNvPr name="TextBox 25" id="25"/>
            <p:cNvSpPr txBox="true"/>
            <p:nvPr/>
          </p:nvSpPr>
          <p:spPr>
            <a:xfrm rot="0">
              <a:off x="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OBESITY &amp; LIFESTYLE EDA  | FY.BCA.SEM1 (DIV-A) | MSU Vadodara</a:t>
              </a:r>
            </a:p>
          </p:txBody>
        </p:sp>
        <p:sp>
          <p:nvSpPr>
            <p:cNvPr name="TextBox 26" id="26"/>
            <p:cNvSpPr txBox="true"/>
            <p:nvPr/>
          </p:nvSpPr>
          <p:spPr>
            <a:xfrm rot="0">
              <a:off x="10769600" y="263525"/>
              <a:ext cx="11355442" cy="300355"/>
            </a:xfrm>
            <a:prstGeom prst="rect">
              <a:avLst/>
            </a:prstGeom>
          </p:spPr>
          <p:txBody>
            <a:bodyPr anchor="t" rtlCol="false" tIns="0" lIns="0" bIns="0" rIns="0">
              <a:spAutoFit/>
            </a:bodyPr>
            <a:lstStyle/>
            <a:p>
              <a:pPr algn="l">
                <a:lnSpc>
                  <a:spcPts val="1889"/>
                </a:lnSpc>
              </a:pPr>
              <a:r>
                <a:rPr lang="en-US" sz="1350" spc="108" b="true">
                  <a:solidFill>
                    <a:srgbClr val="18A999"/>
                  </a:solidFill>
                  <a:latin typeface="IBM Plex Mono Bold"/>
                  <a:ea typeface="IBM Plex Mono Bold"/>
                  <a:cs typeface="IBM Plex Mono Bold"/>
                  <a:sym typeface="IBM Plex Mono Bold"/>
                </a:rPr>
                <a:t>22/22</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DAHXCS2fmRc</dc:identifier>
  <dcterms:modified xsi:type="dcterms:W3CDTF">2011-08-01T06:04:30Z</dcterms:modified>
  <cp:revision>1</cp:revision>
  <dc:title>Obesity Lifestyle EDA</dc:title>
</cp:coreProperties>
</file>